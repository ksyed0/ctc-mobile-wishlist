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t>CTC Mobile Wishlist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</a:defRPr>
            </a:pPr>
            <a:r>
              <a:t>Scan. Save. Share. — Turning In-Store Browsing Into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</a:defRPr>
            </a:pPr>
            <a:r>
              <a:t>Hackathon POC  |  Business Case &amp; Implementation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</a:defRPr>
            </a:pPr>
            <a:r>
              <a:t>Prepared by EPAM Systems for Canadian Tire Corporation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April 2026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666666"/>
                </a:solidFill>
              </a:defRPr>
            </a:pPr>
          </a:p>
          <a:p>
            <a:pPr algn="l">
              <a:spcBef>
                <a:spcPts val="600"/>
              </a:spcBef>
              <a:defRPr sz="1400" b="1">
                <a:solidFill>
                  <a:srgbClr val="D52B1E"/>
                </a:solidFill>
              </a:defRPr>
            </a:pPr>
            <a:r>
              <a:t>Agentic AI SDLC powered by EPAM EliteA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2B1E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2801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The Opportunity — What's missing in CTC's mobile 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2B1E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830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The Concept — Scan, Save, Share wishlist feature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860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2B1E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2860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CTC Revenue Landscape — Current state by banner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2B1E"/>
                </a:solidFill>
              </a:defRPr>
            </a:pPr>
            <a: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7889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Revenue Uplift Model — $50M–$548M incremental opportunity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91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2B1E"/>
                </a:solidFill>
              </a:defRPr>
            </a:pPr>
            <a: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918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Strategic Benefits — Beyond revenue: data, loyalty, differentiation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947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2B1E"/>
                </a:solidFill>
              </a:defRPr>
            </a:pPr>
            <a:r>
              <a:t>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7947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Competitive Landscape — First-mover advantage in Canada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2B1E"/>
                </a:solidFill>
              </a:defRPr>
            </a:pPr>
            <a:r>
              <a:t>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2976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Implementation Plan — Agentic AI SDLC with EPAM EliteA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2B1E"/>
                </a:solidFill>
              </a:defRPr>
            </a:pPr>
            <a:r>
              <a:t>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8006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Investment &amp; ROI — Cost, timeline, and payback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0352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2B1E"/>
                </a:solidFill>
              </a:defRPr>
            </a:pPr>
            <a:r>
              <a:t>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3035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POC Demo — What we built at the hackathon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806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2B1E"/>
                </a:solidFill>
              </a:defRPr>
            </a:pPr>
            <a: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8064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33333"/>
                </a:solidFill>
              </a:defRPr>
            </a:pPr>
            <a:r>
              <a:t>Recommendation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CCCC"/>
                </a:solidFill>
              </a:defRPr>
            </a:pPr>
            <a:r>
              <a:t>What's missing in CTC's mobile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52B1E"/>
                </a:solidFill>
              </a:defRPr>
            </a:pPr>
            <a: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</a:p>
          <a:p>
            <a:pPr algn="l">
              <a:spcBef>
                <a:spcPts val="1000"/>
              </a:spcBef>
              <a:defRPr sz="1600" b="0">
                <a:solidFill>
                  <a:srgbClr val="333333"/>
                </a:solidFill>
              </a:defRPr>
            </a:pPr>
            <a:r>
              <a:t>    No wishlist feature in the Canadian Tire mobile app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333333"/>
                </a:solidFill>
              </a:defRPr>
            </a:pPr>
            <a:r>
              <a:t>    No way to bridge in-store product discovery to digital intent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333333"/>
                </a:solidFill>
              </a:defRPr>
            </a:pPr>
            <a:r>
              <a:t>    No gift sharing / collaborative shopping functionality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333333"/>
                </a:solidFill>
              </a:defRPr>
            </a:pPr>
            <a:r>
              <a:t>    16M Triangle members generate purchase data — but not intent data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333333"/>
                </a:solidFill>
              </a:defRPr>
            </a:pPr>
            <a:r>
              <a:t>    Cross-banner potential (CT + SportChek + Mark's) completely untapped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7D32"/>
                </a:solidFill>
              </a:defRPr>
            </a:pPr>
            <a:r>
              <a:t>The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</a:p>
          <a:p>
            <a:pPr algn="l">
              <a:spcBef>
                <a:spcPts val="1000"/>
              </a:spcBef>
              <a:defRPr sz="1600" b="0">
                <a:solidFill>
                  <a:srgbClr val="333333"/>
                </a:solidFill>
              </a:defRPr>
            </a:pPr>
            <a:r>
              <a:t>    Wishlist users convert 25-40% better than non-users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333333"/>
                </a:solidFill>
              </a:defRPr>
            </a:pPr>
            <a:r>
              <a:t>    Wishlist users spend 15-25% more per transaction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333333"/>
                </a:solidFill>
              </a:defRPr>
            </a:pPr>
            <a:r>
              <a:t>    Price-drop alerts on wishlisted items get 5-8x higher CTR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333333"/>
                </a:solidFill>
              </a:defRPr>
            </a:pPr>
            <a:r>
              <a:t>    Gift wishlists see 60-70% fulfilment rates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333333"/>
                </a:solidFill>
              </a:defRPr>
            </a:pPr>
            <a:r>
              <a:t>    Wishlists recover 10-15% of would-be cart abandonments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486400"/>
            <a:ext cx="105156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</a:defRPr>
            </a:pPr>
            <a:r>
              <a:t>Canadian Tire has the infrastructure (16M loyalty members, 500+ stores, 10M+ app installs) — it just needs the feature.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The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CCCC"/>
                </a:solidFill>
              </a:defRPr>
            </a:pPr>
            <a:r>
              <a:t>Scan. Save. Share.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651760" cy="4389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08760" y="1554480"/>
            <a:ext cx="731520" cy="73152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08760" y="1600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52B1E"/>
                </a:solidFill>
              </a:defRPr>
            </a:pPr>
            <a:r>
              <a:t>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Scan any barcode on</a:t>
            </a:r>
            <a:br/>
            <a:r>
              <a:t>a store shelf with your</a:t>
            </a:r>
            <a:br/>
            <a:r>
              <a:t>phone camera to instantly</a:t>
            </a:r>
            <a:br/>
            <a:r>
              <a:t>identify the product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54880"/>
            <a:ext cx="1920240" cy="73152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In-Store</a:t>
            </a:r>
            <a:br/>
            <a:r>
              <a:t>Discovery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29000" y="1371600"/>
            <a:ext cx="2651760" cy="4389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554480"/>
            <a:ext cx="731520" cy="73152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600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52B1E"/>
                </a:solidFill>
              </a:defRPr>
            </a:pPr>
            <a:r>
              <a:t>SAVE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0175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Add products to named</a:t>
            </a:r>
            <a:br/>
            <a:r>
              <a:t>wishlists from browsing</a:t>
            </a:r>
            <a:br/>
            <a:r>
              <a:t>the catalog or scanning</a:t>
            </a:r>
            <a:br/>
            <a:r>
              <a:t>barcodes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94760" y="4754880"/>
            <a:ext cx="1920240" cy="73152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48006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Wishlist</a:t>
            </a:r>
            <a:br/>
            <a:r>
              <a:t>Management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1371600"/>
            <a:ext cx="2651760" cy="4389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554480"/>
            <a:ext cx="731520" cy="73152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600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39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52B1E"/>
                </a:solidFill>
              </a:defRPr>
            </a:pPr>
            <a:r>
              <a:t>SHARE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39" y="30175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Share your wishlist with</a:t>
            </a:r>
            <a:br/>
            <a:r>
              <a:t>family &amp; friends from</a:t>
            </a:r>
            <a:br/>
            <a:r>
              <a:t>your phone contacts for</a:t>
            </a:r>
            <a:br/>
            <a:r>
              <a:t>gift coordination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19" y="4754880"/>
            <a:ext cx="1920240" cy="73152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8006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Social</a:t>
            </a:r>
            <a:br/>
            <a:r>
              <a:t>Commerce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89719" y="1371600"/>
            <a:ext cx="2651760" cy="4389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149839" y="1554480"/>
            <a:ext cx="731520" cy="73152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39" y="1600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599" y="2468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52B1E"/>
                </a:solidFill>
              </a:defRPr>
            </a:pPr>
            <a:r>
              <a:t>FULFILL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599" y="30175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Recipients browse your</a:t>
            </a:r>
            <a:br/>
            <a:r>
              <a:t>list, claim items they'll</a:t>
            </a:r>
            <a:br/>
            <a:r>
              <a:t>buy — no duplicate</a:t>
            </a:r>
            <a:br/>
            <a:r>
              <a:t>gifts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55479" y="4754880"/>
            <a:ext cx="1920240" cy="73152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5479" y="480060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Gift</a:t>
            </a:r>
            <a:br/>
            <a:r>
              <a:t>Fulfillment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CTC Revenue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CCCC"/>
                </a:solidFill>
              </a:defRPr>
            </a:pPr>
            <a:r>
              <a:t>FY 2024 Estimated — $17.3B consolidated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</a:defRPr>
            </a:pPr>
            <a:r>
              <a:t>Revenue by Banner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7498079" cy="41148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Banner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66420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66420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Stores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6642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Avg. Transaction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103120"/>
            <a:ext cx="7498079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Canadian Tire Retail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103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$9.8B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103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500+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$45-65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487168"/>
            <a:ext cx="749807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87168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SportChek / Sports Experts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$2.2B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248716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185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4871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$70-90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2871215"/>
            <a:ext cx="7498079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871215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Mark's / L'Equipeur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871215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$1.4B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2871215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385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871215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$55-75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255263"/>
            <a:ext cx="7498079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255263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Helly Hansen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3255263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$1.0B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3255263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65+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255263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N/A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3639311"/>
            <a:ext cx="7498079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3639311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CT Financial Services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3639311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$1.9B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3639311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63931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1188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</a:defRPr>
            </a:pPr>
            <a:r>
              <a:t>Digital &amp; Loyalty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0" y="17373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52B1E"/>
                </a:solidFill>
              </a:defRPr>
            </a:pPr>
            <a:r>
              <a:t>16M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17373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Triangle Rewards</a:t>
            </a:r>
            <a:br/>
            <a:r>
              <a:t>members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26517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52B1E"/>
                </a:solidFill>
              </a:defRPr>
            </a:pPr>
            <a:r>
              <a:t>65-70%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26517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Transaction</a:t>
            </a:r>
            <a:br/>
            <a:r>
              <a:t>penetration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35661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52B1E"/>
                </a:solidFill>
              </a:defRPr>
            </a:pPr>
            <a:r>
              <a:t>10M+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35661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App downloads</a:t>
            </a:r>
            <a:br/>
            <a:r>
              <a:t>(cumulative)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44805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52B1E"/>
                </a:solidFill>
              </a:defRPr>
            </a:pPr>
            <a:r>
              <a:t>$2.2B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E-commerce</a:t>
            </a:r>
            <a:br/>
            <a:r>
              <a:t>revenue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53949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52B1E"/>
                </a:solidFill>
              </a:defRPr>
            </a:pPr>
            <a:r>
              <a:t>14-16%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Digital share</a:t>
            </a:r>
            <a:br/>
            <a:r>
              <a:t>of retail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Revenue Uplift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CCCC"/>
                </a:solidFill>
              </a:defRPr>
            </a:pPr>
            <a:r>
              <a:t>Four independent revenue channels — $50M to $548M annually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0700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Revenue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20700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Driver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0700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Conservative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20700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Moderate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20700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Aggressive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737360"/>
            <a:ext cx="1097280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8288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Direct Wishlist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288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Higher conversion + AOV</a:t>
            </a:r>
            <a:br/>
            <a:r>
              <a:t>from wishlist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920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33333"/>
                </a:solidFill>
              </a:defRPr>
            </a:pPr>
            <a:r>
              <a:t>$21.6M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920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52B1E"/>
                </a:solidFill>
              </a:defRPr>
            </a:pPr>
            <a:r>
              <a:t>$96.0M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19202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33333"/>
                </a:solidFill>
              </a:defRPr>
            </a:pPr>
            <a:r>
              <a:t>$315.0M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9748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788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Gift Sharing / Fulfillment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2788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Shared wishlists drive</a:t>
            </a:r>
            <a:br/>
            <a:r>
              <a:t>full-price gift purchases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33333"/>
                </a:solidFill>
              </a:defRPr>
            </a:pPr>
            <a:r>
              <a:t>$10.8M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52B1E"/>
                </a:solidFill>
              </a:defRPr>
            </a:pPr>
            <a:r>
              <a:t>$45.0M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880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33333"/>
                </a:solidFill>
              </a:defRPr>
            </a:pPr>
            <a:r>
              <a:t>$140.0M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097280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74904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Abandonment Recovery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7490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Wishlists catch items that</a:t>
            </a:r>
            <a:br/>
            <a:r>
              <a:t>would otherwise be lost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8404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33333"/>
                </a:solidFill>
              </a:defRPr>
            </a:pPr>
            <a:r>
              <a:t>$8.3M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8404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52B1E"/>
                </a:solidFill>
              </a:defRPr>
            </a:pPr>
            <a:r>
              <a:t>$21.0M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8404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33333"/>
                </a:solidFill>
              </a:defRPr>
            </a:pPr>
            <a:r>
              <a:t>$39.0M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617720"/>
            <a:ext cx="1097280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70916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Re-engagement Alerts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7091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Price-drop / back-in-stock</a:t>
            </a:r>
            <a:br/>
            <a:r>
              <a:t>on wishlisted items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800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33333"/>
                </a:solidFill>
              </a:defRPr>
            </a:pPr>
            <a:r>
              <a:t>$10.0M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800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52B1E"/>
                </a:solidFill>
              </a:defRPr>
            </a:pPr>
            <a:r>
              <a:t>$27.5M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4800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333333"/>
                </a:solidFill>
              </a:defRPr>
            </a:pPr>
            <a:r>
              <a:t>$54.0M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6692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TOTAL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669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$50.7M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5669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CCCC"/>
                </a:solidFill>
              </a:defRPr>
            </a:pPr>
            <a:r>
              <a:t>$189.5M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5669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$548.0M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Moderate scenario = ~1.3% lift on $14.5B retail revenue. Conservative assumptions: 25% adoption, $12 AOV lift, 8 transactions/year.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Revenue Uplift by Banner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CCCC"/>
                </a:solidFill>
              </a:defRPr>
            </a:pPr>
            <a:r>
              <a:t>Moderate scenario — $189.5M distributed across CTC banners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Canadian Tire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Revenue: $9.8B  |  E-comm: ~15%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463040"/>
            <a:ext cx="5829300" cy="45720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6686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52B1E"/>
                </a:solidFill>
              </a:defRPr>
            </a:pPr>
            <a:r>
              <a:t>$115M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659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Largest user base, broadest catalog,</a:t>
            </a:r>
            <a:br/>
            <a:r>
              <a:t>strongest barcode scan use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60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SportChek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26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Revenue: $2.2B  |  E-comm: ~18%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2651760"/>
            <a:ext cx="3264408" cy="45720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2651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52B1E"/>
                </a:solidFill>
              </a:defRPr>
            </a:pPr>
            <a:r>
              <a:t>$38M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1546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Higher AOV, strong gift-giving</a:t>
            </a:r>
            <a:br/>
            <a:r>
              <a:t>category (sports equipment)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490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Mark's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1479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Revenue: $1.4B  |  E-comm: ~12%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3840479"/>
            <a:ext cx="1943100" cy="45720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80660" y="384047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52B1E"/>
                </a:solidFill>
              </a:defRPr>
            </a:pPr>
            <a:r>
              <a:t>$22M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343399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Workwear wishlists, seasonal</a:t>
            </a:r>
            <a:br/>
            <a:r>
              <a:t>apparel gifting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937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Helly Hansen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035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Revenue: $1.0B  |  E-comm: ~25%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5029200"/>
            <a:ext cx="1399032" cy="45720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36592" y="50292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52B1E"/>
                </a:solidFill>
              </a:defRPr>
            </a:pPr>
            <a:r>
              <a:t>$14.5M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5321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Premium outdoor gear, high wishlist</a:t>
            </a:r>
            <a:br/>
            <a:r>
              <a:t>affinity, global DTC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87044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Total Moderate Uplift: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87044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52B1E"/>
                </a:solidFill>
              </a:defRPr>
            </a:pPr>
            <a:r>
              <a:t>$189.5M / year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Strategic Benefits Beyond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2B1E"/>
                </a:solidFill>
              </a:defRPr>
            </a:pPr>
            <a:r>
              <a:t>Consumer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Save for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Bookmark items without cart commitment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In-Store to Digital 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Scan shelf products, buy later anywhere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08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Gift Coordination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Share lists, eliminate duplicate gifts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94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Price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Alerts when wishlisted items go on sale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Cross-Device Continuity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Start on phone in-store, buy on desktop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7D32"/>
                </a:solidFill>
              </a:defRPr>
            </a:pPr>
            <a:r>
              <a:t>CTC Business Benefits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First-Party Intent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011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What customers WANT — not just what they buy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23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Triangle Enrichment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97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Richest customer intent dataset in Canadian retail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08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Seasonal Revenue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832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Convert holiday browsing into purchase pipelines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794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Dealer Inventory Signals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069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Aggregated wishlist data improves local stocking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Cross-Banner Discovery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54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Unified wishlists across CT + SportChek + Mark's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66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Competitive Moat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440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Only Canadian retailer with scan-to-wishlist + sharing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CCCC"/>
                </a:solidFill>
              </a:defRPr>
            </a:pPr>
            <a:r>
              <a:t>CTC would be the only Canadian retailer with all four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898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Retailer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38988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Wishlist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38988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Barcode 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38988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Gift Sharing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3898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Cross-Banner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920240"/>
            <a:ext cx="10789920" cy="50292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9659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52B1E"/>
                </a:solidFill>
              </a:defRPr>
            </a:pPr>
            <a:r>
              <a:t>Canadian Tire (proposed)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9659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7D32"/>
                </a:solidFill>
              </a:defRPr>
            </a:pPr>
            <a: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19659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7D32"/>
                </a:solidFill>
              </a:defRPr>
            </a:pPr>
            <a:r>
              <a:t>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9659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7D32"/>
                </a:solidFill>
              </a:defRPr>
            </a:pPr>
            <a:r>
              <a:t>Yes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19659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7D32"/>
                </a:solidFill>
              </a:defRPr>
            </a:pPr>
            <a:r>
              <a:t>Yes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68880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5146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Amazon.ca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5146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7D32"/>
                </a:solidFill>
              </a:defRPr>
            </a:pPr>
            <a:r>
              <a:t>Yes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25146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52B1E"/>
                </a:solidFill>
              </a:defRPr>
            </a:pPr>
            <a:r>
              <a:t>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5146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7D32"/>
                </a:solidFill>
              </a:defRPr>
            </a:pPr>
            <a:r>
              <a:t>Yes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14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N/A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17520"/>
            <a:ext cx="1078992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0632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Walmart Canada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3063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Basic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3063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52B1E"/>
                </a:solidFill>
              </a:defRPr>
            </a:pPr>
            <a:r>
              <a:t>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0632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52B1E"/>
                </a:solidFill>
              </a:defRPr>
            </a:pPr>
            <a:r>
              <a:t>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063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52B1E"/>
                </a:solidFill>
              </a:defRPr>
            </a:pPr>
            <a:r>
              <a:t>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66160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361188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Costco Canada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36118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52B1E"/>
                </a:solidFill>
              </a:defRPr>
            </a:pPr>
            <a: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36118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52B1E"/>
                </a:solidFill>
              </a:defRPr>
            </a:pPr>
            <a:r>
              <a:t>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361188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52B1E"/>
                </a:solidFill>
              </a:defRPr>
            </a:pPr>
            <a:r>
              <a:t>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6118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N/A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078992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16052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Home Depot Canada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41605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Basic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41605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52B1E"/>
                </a:solidFill>
              </a:defRPr>
            </a:pPr>
            <a: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416052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52B1E"/>
                </a:solidFill>
              </a:defRPr>
            </a:pPr>
            <a:r>
              <a:t>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160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N/A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663440"/>
            <a:ext cx="107899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7091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Best Buy Canada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0" y="47091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E7D32"/>
                </a:solidFill>
              </a:defRPr>
            </a:pPr>
            <a:r>
              <a:t>Yes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0720" y="47091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52B1E"/>
                </a:solidFill>
              </a:defRPr>
            </a:pPr>
            <a:r>
              <a:t>No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470916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Limited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47091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</a:defRPr>
            </a:pPr>
            <a:r>
              <a:t>N/A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1520" y="5394960"/>
            <a:ext cx="100584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486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333333"/>
                </a:solidFill>
              </a:defRPr>
            </a:pPr>
            <a:r>
              <a:t>No Canadian competitor combines all four capabilities. CTC has a clear first-mover advantage.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Implementation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CCCC"/>
                </a:solidFill>
              </a:defRPr>
            </a:pPr>
            <a:r>
              <a:t>Fully Agentic AI SDLC powered by EPAM EliteA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</a:defRPr>
            </a:pPr>
            <a:r>
              <a:t>EPAM EliteA: AI-Augmented Software Development at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EliteA is EPAM's proprietary agentic AI platform that orchestrates the full SDLC — from requirements to deployment — using specialized AI agents supervised by senior engineers. This approach delivers 3-5x velocity improvement over traditional development while maintaining enterprise-grade quality.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743200"/>
            <a:ext cx="2103120" cy="3200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97280" y="2834640"/>
            <a:ext cx="640080" cy="64008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8803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Requirements</a:t>
            </a:r>
            <a:br/>
            <a:r>
              <a:t>&amp;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20624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</a:defRPr>
            </a:pPr>
            <a:r>
              <a:t>AI agents analyze</a:t>
            </a:r>
            <a:br/>
            <a:r>
              <a:t>business requirements,</a:t>
            </a:r>
            <a:br/>
            <a:r>
              <a:t>generate architecture</a:t>
            </a:r>
            <a:br/>
            <a:r>
              <a:t>docs, data schemas,</a:t>
            </a:r>
            <a:br/>
            <a:r>
              <a:t>and API contracts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577840"/>
            <a:ext cx="1188720" cy="3200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5778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1-2 weeks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743200"/>
            <a:ext cx="2103120" cy="3200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0" y="2834640"/>
            <a:ext cx="640080" cy="64008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28803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5661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Agentic</a:t>
            </a:r>
            <a:br/>
            <a:r>
              <a:t>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20624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</a:defRPr>
            </a:pPr>
            <a:r>
              <a:t>Coding agents generate</a:t>
            </a:r>
            <a:br/>
            <a:r>
              <a:t>features in parallel.</a:t>
            </a:r>
            <a:br/>
            <a:r>
              <a:t>Human engineers review,</a:t>
            </a:r>
            <a:br/>
            <a:r>
              <a:t>guide, and approve</a:t>
            </a:r>
            <a:br/>
            <a:r>
              <a:t>all output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5577840"/>
            <a:ext cx="1188720" cy="3200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55778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3-4 weeks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0" y="2743200"/>
            <a:ext cx="2103120" cy="3200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0" y="2834640"/>
            <a:ext cx="640080" cy="64008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0" y="28803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35661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AI-Assisted</a:t>
            </a:r>
            <a:br/>
            <a:r>
              <a:t>QA &amp; Testing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20624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</a:defRPr>
            </a:pPr>
            <a:r>
              <a:t>Test agents generate</a:t>
            </a:r>
            <a:br/>
            <a:r>
              <a:t>unit/integration/E2E</a:t>
            </a:r>
            <a:br/>
            <a:r>
              <a:t>tests. Coverage agents</a:t>
            </a:r>
            <a:br/>
            <a:r>
              <a:t>enforce 80%+ coverage</a:t>
            </a:r>
            <a:br/>
            <a:r>
              <a:t>thresholds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94960" y="5577840"/>
            <a:ext cx="1188720" cy="3200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55778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1-2 weeks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0" y="2743200"/>
            <a:ext cx="2103120" cy="3200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2834640"/>
            <a:ext cx="640080" cy="64008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0" y="28803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35661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Integration</a:t>
            </a:r>
            <a:br/>
            <a:r>
              <a:t>&amp; Hardening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420624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</a:defRPr>
            </a:pPr>
            <a:r>
              <a:t>Integration with CTC</a:t>
            </a:r>
            <a:br/>
            <a:r>
              <a:t>backend APIs, Triangle</a:t>
            </a:r>
            <a:br/>
            <a:r>
              <a:t>Rewards, product catalog.</a:t>
            </a:r>
            <a:br/>
            <a:r>
              <a:t>Security &amp; perf testing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60" y="5577840"/>
            <a:ext cx="1188720" cy="3200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0" y="55778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2-3 weeks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760" y="2743200"/>
            <a:ext cx="2103120" cy="3200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241280" y="2834640"/>
            <a:ext cx="640080" cy="64008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28803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356616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333333"/>
                </a:solidFill>
              </a:defRPr>
            </a:pPr>
            <a:r>
              <a:t>Deployment</a:t>
            </a:r>
            <a:br/>
            <a:r>
              <a:t>&amp; Launch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420624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</a:defRPr>
            </a:pPr>
            <a:r>
              <a:t>CI/CD pipeline, staged</a:t>
            </a:r>
            <a:br/>
            <a:r>
              <a:t>rollout to 50 pilot</a:t>
            </a:r>
            <a:br/>
            <a:r>
              <a:t>stores, monitoring,</a:t>
            </a:r>
            <a:br/>
            <a:r>
              <a:t>A/B testing framework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66960" y="5577840"/>
            <a:ext cx="1188720" cy="3200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66960" y="55778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1-2 weeks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Investment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CCCC"/>
                </a:solidFill>
              </a:defRPr>
            </a:pPr>
            <a:r>
              <a:t>Agentic AI SDLC reduces cost by ~60% and timeline by ~50% vs. traditional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Implementation Cost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6666"/>
                </a:solidFill>
              </a:defRPr>
            </a:pPr>
            <a:r>
              <a:t>Traditional SDLC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Design &amp;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103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$200K-300K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103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4-6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50591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Backend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450591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$500K-800K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450591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8-12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9806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Mobile Development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798063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$400K-600K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798063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8-12 weeks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14553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QA &amp;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14553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$200K-300K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14553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4-6 weeks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4930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Launch &amp;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34930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$100K-150K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4930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2-4 weeks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931920"/>
            <a:ext cx="45720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9502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</a:defRPr>
            </a:pPr>
            <a:r>
              <a:t>Traditional Total: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9502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333333"/>
                </a:solidFill>
              </a:defRPr>
            </a:pPr>
            <a:r>
              <a:t>$1.4M-2.2M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9502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</a:defRPr>
            </a:pPr>
            <a:r>
              <a:t>6-9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52B1E"/>
                </a:solidFill>
              </a:defRPr>
            </a:pPr>
            <a:r>
              <a:t>EPAM EliteA Agentic AI SDLC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937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AI Requirements + Architecture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4937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2E7D32"/>
                </a:solidFill>
              </a:defRPr>
            </a:pPr>
            <a:r>
              <a:t>$60K-90K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49377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7D32"/>
                </a:solidFill>
              </a:defRPr>
            </a:pPr>
            <a:r>
              <a:t>1-2 weeks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2303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Agentic Backend Dev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5230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2E7D32"/>
                </a:solidFill>
              </a:defRPr>
            </a:pPr>
            <a:r>
              <a:t>$150K-250K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5230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7D32"/>
                </a:solidFill>
              </a:defRPr>
            </a:pPr>
            <a:r>
              <a:t>3-4 weeks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5229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Agentic Mobile Dev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55229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2E7D32"/>
                </a:solidFill>
              </a:defRPr>
            </a:pPr>
            <a:r>
              <a:t>$120K-200K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55229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7D32"/>
                </a:solidFill>
              </a:defRPr>
            </a:pPr>
            <a:r>
              <a:t>3-4 weeks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81558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AI-Assisted QA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581558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2E7D32"/>
                </a:solidFill>
              </a:defRPr>
            </a:pPr>
            <a:r>
              <a:t>$60K-100K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581558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7D32"/>
                </a:solidFill>
              </a:defRPr>
            </a:pPr>
            <a:r>
              <a:t>1-2 weeks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610819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Launch &amp; Monitoring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61081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2E7D32"/>
                </a:solidFill>
              </a:defRPr>
            </a:pPr>
            <a:r>
              <a:t>$80K-120K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610819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7D32"/>
                </a:solidFill>
              </a:defRPr>
            </a:pPr>
            <a:r>
              <a:t>1-2 weeks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6035040"/>
            <a:ext cx="4572000" cy="36576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60533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EliteA Total: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60533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$470K-760K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60533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8-13 weeks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ROI Analysis (Moderate Scenario)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Year 1 Incremental Revenue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0" y="18288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333333"/>
                </a:solidFill>
              </a:defRPr>
            </a:pPr>
            <a:r>
              <a:t>$189.5M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2468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Blended Gross Margin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24688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333333"/>
                </a:solidFill>
              </a:defRPr>
            </a:pPr>
            <a:r>
              <a:t>~35%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3108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Year 1 Gross Profit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1089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333333"/>
                </a:solidFill>
              </a:defRPr>
            </a:pPr>
            <a:r>
              <a:t>$66.3M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374903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EliteA Build Investment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374903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0">
                <a:solidFill>
                  <a:srgbClr val="333333"/>
                </a:solidFill>
              </a:defRPr>
            </a:pPr>
            <a:r>
              <a:t>$615K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4389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Payback Period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0" y="43891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D52B1E"/>
                </a:solidFill>
              </a:defRPr>
            </a:pPr>
            <a:r>
              <a:t>&lt; 1 week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50292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Year 1 ROI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01200" y="5029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D52B1E"/>
                </a:solidFill>
              </a:defRPr>
            </a:pPr>
            <a:r>
              <a:t>10,680%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5669280"/>
            <a:ext cx="50292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0" y="571500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52B1E"/>
                </a:solidFill>
              </a:defRPr>
            </a:pPr>
            <a:r>
              <a:t>EliteA saves ~$1M and 4+ months vs. traditional development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Key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CCCC"/>
                </a:solidFill>
              </a:defRPr>
            </a:pPr>
            <a:r>
              <a:t>EliteA agentic AI SDLC cost and timeline estimates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52B1E"/>
                </a:solidFill>
              </a:defRPr>
            </a:pPr>
            <a:r>
              <a:t>EliteA Delivery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3-5x developer velocity via AI pair programming and code generation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Senior EPAM engineers supervise all AI-generated output (human-in-the-loop)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AI agents handle ~70% of boilerplate code, tests, and documentation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Human engineers focus on architecture, integration, edge cases, and review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Blended rate: $85-120/hr for EliteA teams (AI + human combined)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Team composition: 2 senior engineers + AI agent cluster per workstream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Parallel workstreams: backend + mobile + QA run concurrently, not sequentially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CTC provides API access, design assets, and Triangle sandbox within 2 weeks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52B1E"/>
                </a:solidFill>
              </a:defRPr>
            </a:pPr>
            <a:r>
              <a:t>Revenue Model Assumptions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Mobile MAU baseline: 4M across all CTC banners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Wishlist adoption: 25% of MAU (1M users) within Year 1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Incremental AOV lift: +$12 per transaction for wishlist users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Average 8 transactions/year for engaged wishlist users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Gift sharing: 30% of wishlist users share at least one list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Average fulfilled gift value: $150 per shared wishlist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Abandonment recovery: 350K transactions saved at $60 avg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Re-engagement CTR: 5-8x higher than generic promotional pushes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Blended gross margin: 35% (mix of owned brands + national brands)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333333"/>
                </a:solidFill>
              </a:defRPr>
            </a:pPr>
            <a:r>
              <a:t>  No cannibalization assumed — wishlist drives net-new purchases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POC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CCCC"/>
                </a:solidFill>
              </a:defRPr>
            </a:pPr>
            <a:r>
              <a:t>Built in &lt;48 hours at the EPAM-CTC Hackathon using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</a:defRPr>
            </a:pPr>
            <a:r>
              <a:t>What We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A fully functional React Native + Expo mobile app demonstrating the complete wishlist journey — built entirely with EPAM EliteA's agentic AI workflow.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201168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1828800" cy="36576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871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17520"/>
            <a:ext cx="1737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Personalized landing</a:t>
            </a:r>
            <a:br/>
            <a:r>
              <a:t>with quick access to</a:t>
            </a:r>
            <a:br/>
            <a:r>
              <a:t>wishlists and recent</a:t>
            </a:r>
            <a:br/>
            <a:r>
              <a:t>scanned items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2377440"/>
            <a:ext cx="201168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4640" y="2468880"/>
            <a:ext cx="1828800" cy="36576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34640" y="24871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017520"/>
            <a:ext cx="1737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Browsable product grid</a:t>
            </a:r>
            <a:br/>
            <a:r>
              <a:t>with category filters</a:t>
            </a:r>
            <a:br/>
            <a:r>
              <a:t>and real-time 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0" y="2377440"/>
            <a:ext cx="201168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0" y="2468880"/>
            <a:ext cx="1828800" cy="36576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4871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Barcode</a:t>
            </a:r>
            <a:br/>
            <a:r>
              <a:t>Scanner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3017520"/>
            <a:ext cx="1737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Camera-based barcode</a:t>
            </a:r>
            <a:br/>
            <a:r>
              <a:t>scanning with instant</a:t>
            </a:r>
            <a:br/>
            <a:r>
              <a:t>product identification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2377440"/>
            <a:ext cx="201168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2468880"/>
            <a:ext cx="1828800" cy="36576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0" y="24871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Wishlist</a:t>
            </a:r>
            <a:br/>
            <a:r>
              <a:t>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3017520"/>
            <a:ext cx="1737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Create, name, and</a:t>
            </a:r>
            <a:br/>
            <a:r>
              <a:t>manage multiple</a:t>
            </a:r>
            <a:br/>
            <a:r>
              <a:t>wishlists with items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2377440"/>
            <a:ext cx="2011680" cy="3474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92640" y="2468880"/>
            <a:ext cx="1828800" cy="36576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24871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Share &amp;</a:t>
            </a:r>
            <a:br/>
            <a:r>
              <a:t>Fulfill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360" y="3017520"/>
            <a:ext cx="1737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Share with contacts,</a:t>
            </a:r>
            <a:br/>
            <a:r>
              <a:t>recipients claim items</a:t>
            </a:r>
            <a:br/>
            <a:r>
              <a:t>they'll purchase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</a:defRPr>
            </a:pPr>
            <a:r>
              <a:t>Tech: React Native + Expo  |  TypeScript  |  Local mock data  |  iOS + Android  |  Built with EPAM EliteA agentic 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Success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CCCC"/>
                </a:solidFill>
              </a:defRPr>
            </a:pPr>
            <a:r>
              <a:t>Year 1 KPIs for the fully realized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53035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Wishlist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417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D52B1E"/>
                </a:solidFill>
              </a:defRPr>
            </a:pPr>
            <a:r>
              <a:t>&gt;=20%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74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of mobile MAU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8745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Core adoption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06040"/>
            <a:ext cx="53035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97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Avg Items/Wishlist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D52B1E"/>
                </a:solidFill>
              </a:defRPr>
            </a:pPr>
            <a:r>
              <a:t>&gt;=5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items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089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Engagement depth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840480"/>
            <a:ext cx="53035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Wishlist-to-Purchase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886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D52B1E"/>
                </a:solidFill>
              </a:defRPr>
            </a:pPr>
            <a:r>
              <a:t>&gt;=15%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conversion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3434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Revenue validation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074920"/>
            <a:ext cx="53035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Gift Sharing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D52B1E"/>
                </a:solidFill>
              </a:defRPr>
            </a:pPr>
            <a:r>
              <a:t>&gt;=25%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577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of wishlist users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77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Social commerce uptake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371600"/>
            <a:ext cx="53035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Gift Fulfilment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1417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D52B1E"/>
                </a:solidFill>
              </a:defRPr>
            </a:pPr>
            <a:r>
              <a:t>&gt;=50%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874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of shared items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8745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Collaborative shopping proof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606040"/>
            <a:ext cx="53035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2697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Re-engagement CTR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D52B1E"/>
                </a:solidFill>
              </a:defRPr>
            </a:pPr>
            <a:r>
              <a:t>&gt;=12%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108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open rate on alerts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1089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Price-drop notification effectiveness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840480"/>
            <a:ext cx="53035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3931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AOV Lift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3886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D52B1E"/>
                </a:solidFill>
              </a:defRPr>
            </a:pPr>
            <a:r>
              <a:t>+$10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4343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vs. non-wishlist users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3434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Incremental spend proof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5074920"/>
            <a:ext cx="53035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5166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</a:defRPr>
            </a:pPr>
            <a:r>
              <a:t>NPS Impact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D52B1E"/>
                </a:solidFill>
              </a:defRPr>
            </a:pPr>
            <a:r>
              <a:t>+5 pts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5577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66666"/>
                </a:solidFill>
              </a:defRPr>
            </a:pPr>
            <a:r>
              <a:t>vs. non-wishlist users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5577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</a:defRPr>
            </a:pPr>
            <a:r>
              <a:t>Customer satisfaction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Recommendation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</a:defRPr>
            </a:pPr>
            <a:r>
              <a:t>EPAM Systems |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</a:defRPr>
            </a:pPr>
            <a:r>
              <a:t>CTC Mobile Wishlist — Business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105156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</a:defRPr>
            </a:pPr>
            <a:r>
              <a:t>We recommend proceeding from POC to production build using EPAM EliteA, targeting pilot launch at 50 Canadian Tire locations within 13 weeks, with full rollout across all banners within 6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52B1E"/>
                </a:solidFill>
              </a:defRPr>
            </a:pPr>
            <a:r>
              <a:t>Next Steps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2186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186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Approve POC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186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Stakeholder alignment on business case and revenue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2186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D52B1E"/>
                </a:solidFill>
              </a:defRPr>
            </a:pPr>
            <a:r>
              <a:t>Week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749039"/>
            <a:ext cx="457200" cy="45720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767327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767327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Stand up EliteA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767327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2 senior engineers + AI agent cluster, CTC API sandbox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376732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D52B1E"/>
                </a:solidFill>
              </a:defRPr>
            </a:pPr>
            <a:r>
              <a:t>Week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297680"/>
            <a:ext cx="457200" cy="45720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159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159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Architecture &amp; integration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31596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API contracts with CTC backend, Triangle Rewards, product catalog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43159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D52B1E"/>
                </a:solidFill>
              </a:defRPr>
            </a:pPr>
            <a:r>
              <a:t>Weeks 2-3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846320"/>
            <a:ext cx="457200" cy="45720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8646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86460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Agentic development sprint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6460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Parallel build: backend APIs + mobile app + test suites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86460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D52B1E"/>
                </a:solidFill>
              </a:defRPr>
            </a:pPr>
            <a:r>
              <a:t>Weeks 3-8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394960"/>
            <a:ext cx="457200" cy="45720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132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4132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Integration &amp; hardening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41324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CTC backend integration, security audit, performance testing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541324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D52B1E"/>
                </a:solidFill>
              </a:defRPr>
            </a:pPr>
            <a:r>
              <a:t>Weeks 8-11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943600"/>
            <a:ext cx="457200" cy="45720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618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9618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</a:defRPr>
            </a:pPr>
            <a:r>
              <a:t>Pilot launch (50 stores)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5961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</a:defRPr>
            </a:pPr>
            <a:r>
              <a:t>Staged rollout with A/B testing, real-time monitoring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59618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D52B1E"/>
                </a:solidFill>
              </a:defRPr>
            </a:pPr>
            <a:r>
              <a:t>Weeks 11-13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943600"/>
            <a:ext cx="10515600" cy="7315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5989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$189.5M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6309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</a:defRPr>
            </a:pPr>
            <a:r>
              <a:t>revenue uplift/yr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9039" y="5989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$615K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49039" y="6309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</a:defRPr>
            </a:pPr>
            <a:r>
              <a:t>EliteA investment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989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13 weeks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6309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</a:defRPr>
            </a:pPr>
            <a:r>
              <a:t>to pilot launch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59" y="5989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10,680%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59" y="6309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CCCCC"/>
                </a:solidFill>
              </a:defRPr>
            </a:pPr>
            <a:r>
              <a:t>Year 1 ROI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0"/>
          </a:xfrm>
          <a:prstGeom prst="rect">
            <a:avLst/>
          </a:prstGeom>
          <a:solidFill>
            <a:srgbClr val="D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CCCC"/>
                </a:solidFill>
              </a:defRPr>
            </a:pPr>
            <a:r>
              <a:t>Scan. Save. Share. — Let's build the future of Canadian Tire shopping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</a:defRPr>
            </a:pPr>
            <a:r>
              <a:t>EPAM Systems  |  Hackathon POC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52B1E"/>
                </a:solidFill>
              </a:defRPr>
            </a:pPr>
            <a:r>
              <a:t>Powered by EPAM EliteA — Agentic AI Software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66666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