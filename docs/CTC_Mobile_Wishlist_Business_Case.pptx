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292608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10058400" cy="1097280"/>
          </a:xfrm>
          <a:prstGeom prst="rect">
            <a:avLst/>
          </a:prstGeom>
          <a:noFill/>
        </p:spPr>
        <p:txBody>
          <a:bodyPr wrap="square">
            <a:spAutoFit/>
          </a:bodyPr>
          <a:lstStyle/>
          <a:p>
            <a:pPr algn="l">
              <a:defRPr sz="4800" b="1">
                <a:solidFill>
                  <a:srgbClr val="FFFFFF"/>
                </a:solidFill>
              </a:defRPr>
            </a:pPr>
            <a:r>
              <a:t>CTC Mobile Wishlist</a:t>
            </a:r>
          </a:p>
        </p:txBody>
      </p:sp>
      <p:sp>
        <p:nvSpPr>
          <p:cNvPr id="4" name="TextBox 3"/>
          <p:cNvSpPr txBox="1"/>
          <p:nvPr/>
        </p:nvSpPr>
        <p:spPr>
          <a:xfrm>
            <a:off x="731520" y="1828800"/>
            <a:ext cx="10058400" cy="731520"/>
          </a:xfrm>
          <a:prstGeom prst="rect">
            <a:avLst/>
          </a:prstGeom>
          <a:noFill/>
        </p:spPr>
        <p:txBody>
          <a:bodyPr wrap="square">
            <a:spAutoFit/>
          </a:bodyPr>
          <a:lstStyle/>
          <a:p>
            <a:pPr algn="l">
              <a:defRPr sz="2400" b="0">
                <a:solidFill>
                  <a:srgbClr val="FFCCCC"/>
                </a:solidFill>
              </a:defRPr>
            </a:pPr>
            <a:r>
              <a:t>Scan. Save. Share. — Turning In-Store Browsing Into Revenue</a:t>
            </a:r>
          </a:p>
        </p:txBody>
      </p:sp>
      <p:sp>
        <p:nvSpPr>
          <p:cNvPr id="5" name="TextBox 4"/>
          <p:cNvSpPr txBox="1"/>
          <p:nvPr/>
        </p:nvSpPr>
        <p:spPr>
          <a:xfrm>
            <a:off x="731520" y="3474720"/>
            <a:ext cx="10058400" cy="457200"/>
          </a:xfrm>
          <a:prstGeom prst="rect">
            <a:avLst/>
          </a:prstGeom>
          <a:noFill/>
        </p:spPr>
        <p:txBody>
          <a:bodyPr wrap="square">
            <a:spAutoFit/>
          </a:bodyPr>
          <a:lstStyle/>
          <a:p>
            <a:pPr algn="l">
              <a:defRPr sz="2000" b="1">
                <a:solidFill>
                  <a:srgbClr val="333333"/>
                </a:solidFill>
              </a:defRPr>
            </a:pPr>
            <a:r>
              <a:t>Hackathon POC  |  Business Case &amp; Implementation Plan</a:t>
            </a:r>
          </a:p>
        </p:txBody>
      </p:sp>
      <p:sp>
        <p:nvSpPr>
          <p:cNvPr id="6" name="TextBox 5"/>
          <p:cNvSpPr txBox="1"/>
          <p:nvPr/>
        </p:nvSpPr>
        <p:spPr>
          <a:xfrm>
            <a:off x="731520" y="4023360"/>
            <a:ext cx="10058400" cy="2286000"/>
          </a:xfrm>
          <a:prstGeom prst="rect">
            <a:avLst/>
          </a:prstGeom>
          <a:noFill/>
        </p:spPr>
        <p:txBody>
          <a:bodyPr wrap="square">
            <a:spAutoFit/>
          </a:bodyPr>
          <a:lstStyle/>
          <a:p>
            <a:pPr algn="l">
              <a:defRPr sz="2000" b="1">
                <a:solidFill>
                  <a:srgbClr val="333333"/>
                </a:solidFill>
              </a:defRPr>
            </a:pPr>
            <a:r>
              <a:t>Kamal Syed</a:t>
            </a:r>
          </a:p>
          <a:p>
            <a:pPr algn="l">
              <a:spcBef>
                <a:spcPts val="600"/>
              </a:spcBef>
              <a:defRPr sz="1400" b="0">
                <a:solidFill>
                  <a:srgbClr val="666666"/>
                </a:solidFill>
              </a:defRPr>
            </a:pPr>
            <a:r>
              <a:t>Director of Program Management and Delivery, EPAM Systems</a:t>
            </a:r>
          </a:p>
          <a:p>
            <a:pPr algn="l">
              <a:spcBef>
                <a:spcPts val="600"/>
              </a:spcBef>
              <a:defRPr sz="800" b="0">
                <a:solidFill>
                  <a:srgbClr val="666666"/>
                </a:solidFill>
              </a:defRPr>
            </a:pPr>
          </a:p>
          <a:p>
            <a:pPr algn="l">
              <a:spcBef>
                <a:spcPts val="600"/>
              </a:spcBef>
              <a:defRPr sz="1400" b="0">
                <a:solidFill>
                  <a:srgbClr val="666666"/>
                </a:solidFill>
              </a:defRPr>
            </a:pPr>
            <a:r>
              <a:t>Prepared for Canadian Tire Corporation  |  April 2026</a:t>
            </a:r>
          </a:p>
          <a:p>
            <a:pPr algn="l">
              <a:spcBef>
                <a:spcPts val="600"/>
              </a:spcBef>
              <a:defRPr sz="1400" b="1">
                <a:solidFill>
                  <a:srgbClr val="D52B1E"/>
                </a:solidFill>
              </a:defRPr>
            </a:pPr>
            <a:r>
              <a:t>Agentic AI SDLC powered by EPAM EliteA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640080"/>
          </a:xfrm>
          <a:prstGeom prst="rect">
            <a:avLst/>
          </a:prstGeom>
          <a:noFill/>
        </p:spPr>
        <p:txBody>
          <a:bodyPr wrap="square">
            <a:spAutoFit/>
          </a:bodyPr>
          <a:lstStyle/>
          <a:p>
            <a:pPr algn="l">
              <a:defRPr sz="3200" b="1">
                <a:solidFill>
                  <a:srgbClr val="FFFFFF"/>
                </a:solidFill>
              </a:defRPr>
            </a:pPr>
            <a:r>
              <a:t>Agenda</a:t>
            </a:r>
          </a:p>
        </p:txBody>
      </p:sp>
      <p:sp>
        <p:nvSpPr>
          <p:cNvPr id="4" name="TextBox 3"/>
          <p:cNvSpPr txBox="1"/>
          <p:nvPr/>
        </p:nvSpPr>
        <p:spPr>
          <a:xfrm>
            <a:off x="548640" y="6400800"/>
            <a:ext cx="4572000" cy="365760"/>
          </a:xfrm>
          <a:prstGeom prst="rect">
            <a:avLst/>
          </a:prstGeom>
          <a:noFill/>
        </p:spPr>
        <p:txBody>
          <a:bodyPr wrap="square">
            <a:spAutoFit/>
          </a:bodyPr>
          <a:lstStyle/>
          <a:p>
            <a:pPr algn="l">
              <a:defRPr sz="1000" b="0">
                <a:solidFill>
                  <a:srgbClr val="666666"/>
                </a:solidFill>
              </a:defRPr>
            </a:pPr>
            <a:r>
              <a:t>EPAM Systems | Confidential</a:t>
            </a:r>
          </a:p>
        </p:txBody>
      </p:sp>
      <p:sp>
        <p:nvSpPr>
          <p:cNvPr id="5" name="TextBox 4"/>
          <p:cNvSpPr txBox="1"/>
          <p:nvPr/>
        </p:nvSpPr>
        <p:spPr>
          <a:xfrm>
            <a:off x="8229600" y="6400800"/>
            <a:ext cx="3657600" cy="365760"/>
          </a:xfrm>
          <a:prstGeom prst="rect">
            <a:avLst/>
          </a:prstGeom>
          <a:noFill/>
        </p:spPr>
        <p:txBody>
          <a:bodyPr wrap="square">
            <a:spAutoFit/>
          </a:bodyPr>
          <a:lstStyle/>
          <a:p>
            <a:pPr algn="r">
              <a:defRPr sz="1000" b="0">
                <a:solidFill>
                  <a:srgbClr val="666666"/>
                </a:solidFill>
              </a:defRPr>
            </a:pPr>
            <a:r>
              <a:t>CTC Mobile Wishlist — Business Case</a:t>
            </a:r>
          </a:p>
        </p:txBody>
      </p:sp>
      <p:sp>
        <p:nvSpPr>
          <p:cNvPr id="6" name="TextBox 5"/>
          <p:cNvSpPr txBox="1"/>
          <p:nvPr/>
        </p:nvSpPr>
        <p:spPr>
          <a:xfrm>
            <a:off x="914400" y="1280160"/>
            <a:ext cx="548640" cy="411480"/>
          </a:xfrm>
          <a:prstGeom prst="rect">
            <a:avLst/>
          </a:prstGeom>
          <a:noFill/>
        </p:spPr>
        <p:txBody>
          <a:bodyPr wrap="square">
            <a:spAutoFit/>
          </a:bodyPr>
          <a:lstStyle/>
          <a:p>
            <a:pPr algn="l">
              <a:defRPr sz="2000" b="1">
                <a:solidFill>
                  <a:srgbClr val="D52B1E"/>
                </a:solidFill>
              </a:defRPr>
            </a:pPr>
            <a:r>
              <a:t>01</a:t>
            </a:r>
          </a:p>
        </p:txBody>
      </p:sp>
      <p:sp>
        <p:nvSpPr>
          <p:cNvPr id="7" name="TextBox 6"/>
          <p:cNvSpPr txBox="1"/>
          <p:nvPr/>
        </p:nvSpPr>
        <p:spPr>
          <a:xfrm>
            <a:off x="1554480" y="1280160"/>
            <a:ext cx="8229600" cy="411480"/>
          </a:xfrm>
          <a:prstGeom prst="rect">
            <a:avLst/>
          </a:prstGeom>
          <a:noFill/>
        </p:spPr>
        <p:txBody>
          <a:bodyPr wrap="square">
            <a:spAutoFit/>
          </a:bodyPr>
          <a:lstStyle/>
          <a:p>
            <a:pPr algn="l">
              <a:defRPr sz="1800" b="0">
                <a:solidFill>
                  <a:srgbClr val="333333"/>
                </a:solidFill>
              </a:defRPr>
            </a:pPr>
            <a:r>
              <a:t>The Opportunity — What's missing in CTC's mobile experience</a:t>
            </a:r>
          </a:p>
        </p:txBody>
      </p:sp>
      <p:sp>
        <p:nvSpPr>
          <p:cNvPr id="8" name="TextBox 7"/>
          <p:cNvSpPr txBox="1"/>
          <p:nvPr/>
        </p:nvSpPr>
        <p:spPr>
          <a:xfrm>
            <a:off x="914400" y="1783080"/>
            <a:ext cx="548640" cy="411480"/>
          </a:xfrm>
          <a:prstGeom prst="rect">
            <a:avLst/>
          </a:prstGeom>
          <a:noFill/>
        </p:spPr>
        <p:txBody>
          <a:bodyPr wrap="square">
            <a:spAutoFit/>
          </a:bodyPr>
          <a:lstStyle/>
          <a:p>
            <a:pPr algn="l">
              <a:defRPr sz="2000" b="1">
                <a:solidFill>
                  <a:srgbClr val="D52B1E"/>
                </a:solidFill>
              </a:defRPr>
            </a:pPr>
            <a:r>
              <a:t>02</a:t>
            </a:r>
          </a:p>
        </p:txBody>
      </p:sp>
      <p:sp>
        <p:nvSpPr>
          <p:cNvPr id="9" name="TextBox 8"/>
          <p:cNvSpPr txBox="1"/>
          <p:nvPr/>
        </p:nvSpPr>
        <p:spPr>
          <a:xfrm>
            <a:off x="1554480" y="1783080"/>
            <a:ext cx="8229600" cy="411480"/>
          </a:xfrm>
          <a:prstGeom prst="rect">
            <a:avLst/>
          </a:prstGeom>
          <a:noFill/>
        </p:spPr>
        <p:txBody>
          <a:bodyPr wrap="square">
            <a:spAutoFit/>
          </a:bodyPr>
          <a:lstStyle/>
          <a:p>
            <a:pPr algn="l">
              <a:defRPr sz="1800" b="0">
                <a:solidFill>
                  <a:srgbClr val="333333"/>
                </a:solidFill>
              </a:defRPr>
            </a:pPr>
            <a:r>
              <a:t>The Concept — Scan, Save, Share wishlist feature</a:t>
            </a:r>
          </a:p>
        </p:txBody>
      </p:sp>
      <p:sp>
        <p:nvSpPr>
          <p:cNvPr id="10" name="TextBox 9"/>
          <p:cNvSpPr txBox="1"/>
          <p:nvPr/>
        </p:nvSpPr>
        <p:spPr>
          <a:xfrm>
            <a:off x="914400" y="2286000"/>
            <a:ext cx="548640" cy="411480"/>
          </a:xfrm>
          <a:prstGeom prst="rect">
            <a:avLst/>
          </a:prstGeom>
          <a:noFill/>
        </p:spPr>
        <p:txBody>
          <a:bodyPr wrap="square">
            <a:spAutoFit/>
          </a:bodyPr>
          <a:lstStyle/>
          <a:p>
            <a:pPr algn="l">
              <a:defRPr sz="2000" b="1">
                <a:solidFill>
                  <a:srgbClr val="D52B1E"/>
                </a:solidFill>
              </a:defRPr>
            </a:pPr>
            <a:r>
              <a:t>03</a:t>
            </a:r>
          </a:p>
        </p:txBody>
      </p:sp>
      <p:sp>
        <p:nvSpPr>
          <p:cNvPr id="11" name="TextBox 10"/>
          <p:cNvSpPr txBox="1"/>
          <p:nvPr/>
        </p:nvSpPr>
        <p:spPr>
          <a:xfrm>
            <a:off x="1554480" y="2286000"/>
            <a:ext cx="8229600" cy="411480"/>
          </a:xfrm>
          <a:prstGeom prst="rect">
            <a:avLst/>
          </a:prstGeom>
          <a:noFill/>
        </p:spPr>
        <p:txBody>
          <a:bodyPr wrap="square">
            <a:spAutoFit/>
          </a:bodyPr>
          <a:lstStyle/>
          <a:p>
            <a:pPr algn="l">
              <a:defRPr sz="1800" b="0">
                <a:solidFill>
                  <a:srgbClr val="333333"/>
                </a:solidFill>
              </a:defRPr>
            </a:pPr>
            <a:r>
              <a:t>CTC Revenue Landscape — Current state by banner</a:t>
            </a:r>
          </a:p>
        </p:txBody>
      </p:sp>
      <p:sp>
        <p:nvSpPr>
          <p:cNvPr id="12" name="TextBox 11"/>
          <p:cNvSpPr txBox="1"/>
          <p:nvPr/>
        </p:nvSpPr>
        <p:spPr>
          <a:xfrm>
            <a:off x="914400" y="2788920"/>
            <a:ext cx="548640" cy="411480"/>
          </a:xfrm>
          <a:prstGeom prst="rect">
            <a:avLst/>
          </a:prstGeom>
          <a:noFill/>
        </p:spPr>
        <p:txBody>
          <a:bodyPr wrap="square">
            <a:spAutoFit/>
          </a:bodyPr>
          <a:lstStyle/>
          <a:p>
            <a:pPr algn="l">
              <a:defRPr sz="2000" b="1">
                <a:solidFill>
                  <a:srgbClr val="D52B1E"/>
                </a:solidFill>
              </a:defRPr>
            </a:pPr>
            <a:r>
              <a:t>04</a:t>
            </a:r>
          </a:p>
        </p:txBody>
      </p:sp>
      <p:sp>
        <p:nvSpPr>
          <p:cNvPr id="13" name="TextBox 12"/>
          <p:cNvSpPr txBox="1"/>
          <p:nvPr/>
        </p:nvSpPr>
        <p:spPr>
          <a:xfrm>
            <a:off x="1554480" y="2788920"/>
            <a:ext cx="8229600" cy="411480"/>
          </a:xfrm>
          <a:prstGeom prst="rect">
            <a:avLst/>
          </a:prstGeom>
          <a:noFill/>
        </p:spPr>
        <p:txBody>
          <a:bodyPr wrap="square">
            <a:spAutoFit/>
          </a:bodyPr>
          <a:lstStyle/>
          <a:p>
            <a:pPr algn="l">
              <a:defRPr sz="1800" b="0">
                <a:solidFill>
                  <a:srgbClr val="333333"/>
                </a:solidFill>
              </a:defRPr>
            </a:pPr>
            <a:r>
              <a:t>Revenue Uplift Model — $50M–$548M incremental opportunity</a:t>
            </a:r>
          </a:p>
        </p:txBody>
      </p:sp>
      <p:sp>
        <p:nvSpPr>
          <p:cNvPr id="14" name="TextBox 13"/>
          <p:cNvSpPr txBox="1"/>
          <p:nvPr/>
        </p:nvSpPr>
        <p:spPr>
          <a:xfrm>
            <a:off x="914400" y="3291840"/>
            <a:ext cx="548640" cy="411480"/>
          </a:xfrm>
          <a:prstGeom prst="rect">
            <a:avLst/>
          </a:prstGeom>
          <a:noFill/>
        </p:spPr>
        <p:txBody>
          <a:bodyPr wrap="square">
            <a:spAutoFit/>
          </a:bodyPr>
          <a:lstStyle/>
          <a:p>
            <a:pPr algn="l">
              <a:defRPr sz="2000" b="1">
                <a:solidFill>
                  <a:srgbClr val="D52B1E"/>
                </a:solidFill>
              </a:defRPr>
            </a:pPr>
            <a:r>
              <a:t>05</a:t>
            </a:r>
          </a:p>
        </p:txBody>
      </p:sp>
      <p:sp>
        <p:nvSpPr>
          <p:cNvPr id="15" name="TextBox 14"/>
          <p:cNvSpPr txBox="1"/>
          <p:nvPr/>
        </p:nvSpPr>
        <p:spPr>
          <a:xfrm>
            <a:off x="1554480" y="3291840"/>
            <a:ext cx="8229600" cy="411480"/>
          </a:xfrm>
          <a:prstGeom prst="rect">
            <a:avLst/>
          </a:prstGeom>
          <a:noFill/>
        </p:spPr>
        <p:txBody>
          <a:bodyPr wrap="square">
            <a:spAutoFit/>
          </a:bodyPr>
          <a:lstStyle/>
          <a:p>
            <a:pPr algn="l">
              <a:defRPr sz="1800" b="0">
                <a:solidFill>
                  <a:srgbClr val="333333"/>
                </a:solidFill>
              </a:defRPr>
            </a:pPr>
            <a:r>
              <a:t>Strategic Benefits — Beyond revenue: data, loyalty, differentiation</a:t>
            </a:r>
          </a:p>
        </p:txBody>
      </p:sp>
      <p:sp>
        <p:nvSpPr>
          <p:cNvPr id="16" name="TextBox 15"/>
          <p:cNvSpPr txBox="1"/>
          <p:nvPr/>
        </p:nvSpPr>
        <p:spPr>
          <a:xfrm>
            <a:off x="914400" y="3794760"/>
            <a:ext cx="548640" cy="411480"/>
          </a:xfrm>
          <a:prstGeom prst="rect">
            <a:avLst/>
          </a:prstGeom>
          <a:noFill/>
        </p:spPr>
        <p:txBody>
          <a:bodyPr wrap="square">
            <a:spAutoFit/>
          </a:bodyPr>
          <a:lstStyle/>
          <a:p>
            <a:pPr algn="l">
              <a:defRPr sz="2000" b="1">
                <a:solidFill>
                  <a:srgbClr val="D52B1E"/>
                </a:solidFill>
              </a:defRPr>
            </a:pPr>
            <a:r>
              <a:t>06</a:t>
            </a:r>
          </a:p>
        </p:txBody>
      </p:sp>
      <p:sp>
        <p:nvSpPr>
          <p:cNvPr id="17" name="TextBox 16"/>
          <p:cNvSpPr txBox="1"/>
          <p:nvPr/>
        </p:nvSpPr>
        <p:spPr>
          <a:xfrm>
            <a:off x="1554480" y="3794760"/>
            <a:ext cx="8229600" cy="411480"/>
          </a:xfrm>
          <a:prstGeom prst="rect">
            <a:avLst/>
          </a:prstGeom>
          <a:noFill/>
        </p:spPr>
        <p:txBody>
          <a:bodyPr wrap="square">
            <a:spAutoFit/>
          </a:bodyPr>
          <a:lstStyle/>
          <a:p>
            <a:pPr algn="l">
              <a:defRPr sz="1800" b="0">
                <a:solidFill>
                  <a:srgbClr val="333333"/>
                </a:solidFill>
              </a:defRPr>
            </a:pPr>
            <a:r>
              <a:t>Competitive Landscape — First-mover advantage in Canada</a:t>
            </a:r>
          </a:p>
        </p:txBody>
      </p:sp>
      <p:sp>
        <p:nvSpPr>
          <p:cNvPr id="18" name="TextBox 17"/>
          <p:cNvSpPr txBox="1"/>
          <p:nvPr/>
        </p:nvSpPr>
        <p:spPr>
          <a:xfrm>
            <a:off x="914400" y="4297680"/>
            <a:ext cx="548640" cy="411480"/>
          </a:xfrm>
          <a:prstGeom prst="rect">
            <a:avLst/>
          </a:prstGeom>
          <a:noFill/>
        </p:spPr>
        <p:txBody>
          <a:bodyPr wrap="square">
            <a:spAutoFit/>
          </a:bodyPr>
          <a:lstStyle/>
          <a:p>
            <a:pPr algn="l">
              <a:defRPr sz="2000" b="1">
                <a:solidFill>
                  <a:srgbClr val="D52B1E"/>
                </a:solidFill>
              </a:defRPr>
            </a:pPr>
            <a:r>
              <a:t>07</a:t>
            </a:r>
          </a:p>
        </p:txBody>
      </p:sp>
      <p:sp>
        <p:nvSpPr>
          <p:cNvPr id="19" name="TextBox 18"/>
          <p:cNvSpPr txBox="1"/>
          <p:nvPr/>
        </p:nvSpPr>
        <p:spPr>
          <a:xfrm>
            <a:off x="1554480" y="4297680"/>
            <a:ext cx="8229600" cy="411480"/>
          </a:xfrm>
          <a:prstGeom prst="rect">
            <a:avLst/>
          </a:prstGeom>
          <a:noFill/>
        </p:spPr>
        <p:txBody>
          <a:bodyPr wrap="square">
            <a:spAutoFit/>
          </a:bodyPr>
          <a:lstStyle/>
          <a:p>
            <a:pPr algn="l">
              <a:defRPr sz="1800" b="0">
                <a:solidFill>
                  <a:srgbClr val="333333"/>
                </a:solidFill>
              </a:defRPr>
            </a:pPr>
            <a:r>
              <a:t>Implementation Plan — Agentic AI SDLC with EPAM EliteA</a:t>
            </a:r>
          </a:p>
        </p:txBody>
      </p:sp>
      <p:sp>
        <p:nvSpPr>
          <p:cNvPr id="20" name="TextBox 19"/>
          <p:cNvSpPr txBox="1"/>
          <p:nvPr/>
        </p:nvSpPr>
        <p:spPr>
          <a:xfrm>
            <a:off x="914400" y="4800600"/>
            <a:ext cx="548640" cy="411480"/>
          </a:xfrm>
          <a:prstGeom prst="rect">
            <a:avLst/>
          </a:prstGeom>
          <a:noFill/>
        </p:spPr>
        <p:txBody>
          <a:bodyPr wrap="square">
            <a:spAutoFit/>
          </a:bodyPr>
          <a:lstStyle/>
          <a:p>
            <a:pPr algn="l">
              <a:defRPr sz="2000" b="1">
                <a:solidFill>
                  <a:srgbClr val="D52B1E"/>
                </a:solidFill>
              </a:defRPr>
            </a:pPr>
            <a:r>
              <a:t>08</a:t>
            </a:r>
          </a:p>
        </p:txBody>
      </p:sp>
      <p:sp>
        <p:nvSpPr>
          <p:cNvPr id="21" name="TextBox 20"/>
          <p:cNvSpPr txBox="1"/>
          <p:nvPr/>
        </p:nvSpPr>
        <p:spPr>
          <a:xfrm>
            <a:off x="1554480" y="4800600"/>
            <a:ext cx="8229600" cy="411480"/>
          </a:xfrm>
          <a:prstGeom prst="rect">
            <a:avLst/>
          </a:prstGeom>
          <a:noFill/>
        </p:spPr>
        <p:txBody>
          <a:bodyPr wrap="square">
            <a:spAutoFit/>
          </a:bodyPr>
          <a:lstStyle/>
          <a:p>
            <a:pPr algn="l">
              <a:defRPr sz="1800" b="0">
                <a:solidFill>
                  <a:srgbClr val="333333"/>
                </a:solidFill>
              </a:defRPr>
            </a:pPr>
            <a:r>
              <a:t>Investment &amp; ROI — Cost, timeline, and payback</a:t>
            </a:r>
          </a:p>
        </p:txBody>
      </p:sp>
      <p:sp>
        <p:nvSpPr>
          <p:cNvPr id="22" name="TextBox 21"/>
          <p:cNvSpPr txBox="1"/>
          <p:nvPr/>
        </p:nvSpPr>
        <p:spPr>
          <a:xfrm>
            <a:off x="914400" y="5303520"/>
            <a:ext cx="548640" cy="411480"/>
          </a:xfrm>
          <a:prstGeom prst="rect">
            <a:avLst/>
          </a:prstGeom>
          <a:noFill/>
        </p:spPr>
        <p:txBody>
          <a:bodyPr wrap="square">
            <a:spAutoFit/>
          </a:bodyPr>
          <a:lstStyle/>
          <a:p>
            <a:pPr algn="l">
              <a:defRPr sz="2000" b="1">
                <a:solidFill>
                  <a:srgbClr val="D52B1E"/>
                </a:solidFill>
              </a:defRPr>
            </a:pPr>
            <a:r>
              <a:t>09</a:t>
            </a:r>
          </a:p>
        </p:txBody>
      </p:sp>
      <p:sp>
        <p:nvSpPr>
          <p:cNvPr id="23" name="TextBox 22"/>
          <p:cNvSpPr txBox="1"/>
          <p:nvPr/>
        </p:nvSpPr>
        <p:spPr>
          <a:xfrm>
            <a:off x="1554480" y="5303520"/>
            <a:ext cx="8229600" cy="411480"/>
          </a:xfrm>
          <a:prstGeom prst="rect">
            <a:avLst/>
          </a:prstGeom>
          <a:noFill/>
        </p:spPr>
        <p:txBody>
          <a:bodyPr wrap="square">
            <a:spAutoFit/>
          </a:bodyPr>
          <a:lstStyle/>
          <a:p>
            <a:pPr algn="l">
              <a:defRPr sz="1800" b="0">
                <a:solidFill>
                  <a:srgbClr val="333333"/>
                </a:solidFill>
              </a:defRPr>
            </a:pPr>
            <a:r>
              <a:t>POC Demo — What we built at the hackathon</a:t>
            </a:r>
          </a:p>
        </p:txBody>
      </p:sp>
      <p:sp>
        <p:nvSpPr>
          <p:cNvPr id="24" name="TextBox 23"/>
          <p:cNvSpPr txBox="1"/>
          <p:nvPr/>
        </p:nvSpPr>
        <p:spPr>
          <a:xfrm>
            <a:off x="914400" y="5806440"/>
            <a:ext cx="548640" cy="411480"/>
          </a:xfrm>
          <a:prstGeom prst="rect">
            <a:avLst/>
          </a:prstGeom>
          <a:noFill/>
        </p:spPr>
        <p:txBody>
          <a:bodyPr wrap="square">
            <a:spAutoFit/>
          </a:bodyPr>
          <a:lstStyle/>
          <a:p>
            <a:pPr algn="l">
              <a:defRPr sz="2000" b="1">
                <a:solidFill>
                  <a:srgbClr val="D52B1E"/>
                </a:solidFill>
              </a:defRPr>
            </a:pPr>
            <a:r>
              <a:t>10</a:t>
            </a:r>
          </a:p>
        </p:txBody>
      </p:sp>
      <p:sp>
        <p:nvSpPr>
          <p:cNvPr id="25" name="TextBox 24"/>
          <p:cNvSpPr txBox="1"/>
          <p:nvPr/>
        </p:nvSpPr>
        <p:spPr>
          <a:xfrm>
            <a:off x="1554480" y="5806440"/>
            <a:ext cx="8229600" cy="411480"/>
          </a:xfrm>
          <a:prstGeom prst="rect">
            <a:avLst/>
          </a:prstGeom>
          <a:noFill/>
        </p:spPr>
        <p:txBody>
          <a:bodyPr wrap="square">
            <a:spAutoFit/>
          </a:bodyPr>
          <a:lstStyle/>
          <a:p>
            <a:pPr algn="l">
              <a:defRPr sz="1800" b="0">
                <a:solidFill>
                  <a:srgbClr val="333333"/>
                </a:solidFill>
              </a:defRPr>
            </a:pPr>
            <a:r>
              <a:t>Recommendation &amp; Next Steps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640080"/>
          </a:xfrm>
          <a:prstGeom prst="rect">
            <a:avLst/>
          </a:prstGeom>
          <a:noFill/>
        </p:spPr>
        <p:txBody>
          <a:bodyPr wrap="square">
            <a:spAutoFit/>
          </a:bodyPr>
          <a:lstStyle/>
          <a:p>
            <a:pPr algn="l">
              <a:defRPr sz="3200" b="1">
                <a:solidFill>
                  <a:srgbClr val="FFFFFF"/>
                </a:solidFill>
              </a:defRPr>
            </a:pPr>
            <a:r>
              <a:t>The Opportunity</a:t>
            </a:r>
          </a:p>
        </p:txBody>
      </p:sp>
      <p:sp>
        <p:nvSpPr>
          <p:cNvPr id="4" name="TextBox 3"/>
          <p:cNvSpPr txBox="1"/>
          <p:nvPr/>
        </p:nvSpPr>
        <p:spPr>
          <a:xfrm>
            <a:off x="548640" y="594360"/>
            <a:ext cx="9144000" cy="365760"/>
          </a:xfrm>
          <a:prstGeom prst="rect">
            <a:avLst/>
          </a:prstGeom>
          <a:noFill/>
        </p:spPr>
        <p:txBody>
          <a:bodyPr wrap="square">
            <a:spAutoFit/>
          </a:bodyPr>
          <a:lstStyle/>
          <a:p>
            <a:pPr algn="l">
              <a:defRPr sz="1600" b="0">
                <a:solidFill>
                  <a:srgbClr val="FFCCCC"/>
                </a:solidFill>
              </a:defRPr>
            </a:pPr>
            <a:r>
              <a:t>What's missing in CTC's mobile experience</a:t>
            </a:r>
          </a:p>
        </p:txBody>
      </p:sp>
      <p:sp>
        <p:nvSpPr>
          <p:cNvPr id="5" name="TextBox 4"/>
          <p:cNvSpPr txBox="1"/>
          <p:nvPr/>
        </p:nvSpPr>
        <p:spPr>
          <a:xfrm>
            <a:off x="548640" y="6400800"/>
            <a:ext cx="4572000" cy="365760"/>
          </a:xfrm>
          <a:prstGeom prst="rect">
            <a:avLst/>
          </a:prstGeom>
          <a:noFill/>
        </p:spPr>
        <p:txBody>
          <a:bodyPr wrap="square">
            <a:spAutoFit/>
          </a:bodyPr>
          <a:lstStyle/>
          <a:p>
            <a:pPr algn="l">
              <a:defRPr sz="1000" b="0">
                <a:solidFill>
                  <a:srgbClr val="666666"/>
                </a:solidFill>
              </a:defRPr>
            </a:pPr>
            <a:r>
              <a:t>EPAM Systems | Confidential</a:t>
            </a:r>
          </a:p>
        </p:txBody>
      </p:sp>
      <p:sp>
        <p:nvSpPr>
          <p:cNvPr id="6" name="TextBox 5"/>
          <p:cNvSpPr txBox="1"/>
          <p:nvPr/>
        </p:nvSpPr>
        <p:spPr>
          <a:xfrm>
            <a:off x="8229600" y="6400800"/>
            <a:ext cx="3657600" cy="365760"/>
          </a:xfrm>
          <a:prstGeom prst="rect">
            <a:avLst/>
          </a:prstGeom>
          <a:noFill/>
        </p:spPr>
        <p:txBody>
          <a:bodyPr wrap="square">
            <a:spAutoFit/>
          </a:bodyPr>
          <a:lstStyle/>
          <a:p>
            <a:pPr algn="r">
              <a:defRPr sz="1000" b="0">
                <a:solidFill>
                  <a:srgbClr val="666666"/>
                </a:solidFill>
              </a:defRPr>
            </a:pPr>
            <a:r>
              <a:t>CTC Mobile Wishlist — Business Case</a:t>
            </a:r>
          </a:p>
        </p:txBody>
      </p:sp>
      <p:sp>
        <p:nvSpPr>
          <p:cNvPr id="7" name="TextBox 6"/>
          <p:cNvSpPr txBox="1"/>
          <p:nvPr/>
        </p:nvSpPr>
        <p:spPr>
          <a:xfrm>
            <a:off x="731520" y="1280160"/>
            <a:ext cx="5029200" cy="457200"/>
          </a:xfrm>
          <a:prstGeom prst="rect">
            <a:avLst/>
          </a:prstGeom>
          <a:noFill/>
        </p:spPr>
        <p:txBody>
          <a:bodyPr wrap="square">
            <a:spAutoFit/>
          </a:bodyPr>
          <a:lstStyle/>
          <a:p>
            <a:pPr algn="l">
              <a:defRPr sz="2400" b="1">
                <a:solidFill>
                  <a:srgbClr val="D52B1E"/>
                </a:solidFill>
              </a:defRPr>
            </a:pPr>
            <a:r>
              <a:t>The Problem</a:t>
            </a:r>
          </a:p>
        </p:txBody>
      </p:sp>
      <p:sp>
        <p:nvSpPr>
          <p:cNvPr id="8" name="TextBox 7"/>
          <p:cNvSpPr txBox="1"/>
          <p:nvPr/>
        </p:nvSpPr>
        <p:spPr>
          <a:xfrm>
            <a:off x="731520" y="1828800"/>
            <a:ext cx="5029200" cy="3657600"/>
          </a:xfrm>
          <a:prstGeom prst="rect">
            <a:avLst/>
          </a:prstGeom>
          <a:noFill/>
        </p:spPr>
        <p:txBody>
          <a:bodyPr wrap="square">
            <a:spAutoFit/>
          </a:bodyPr>
          <a:lstStyle/>
          <a:p>
            <a:pPr algn="l">
              <a:defRPr sz="1600" b="0">
                <a:solidFill>
                  <a:srgbClr val="333333"/>
                </a:solidFill>
              </a:defRPr>
            </a:pPr>
          </a:p>
          <a:p>
            <a:pPr algn="l">
              <a:spcBef>
                <a:spcPts val="1000"/>
              </a:spcBef>
              <a:defRPr sz="1600" b="0">
                <a:solidFill>
                  <a:srgbClr val="333333"/>
                </a:solidFill>
              </a:defRPr>
            </a:pPr>
            <a:r>
              <a:t>    No wishlist feature in the Canadian Tire mobile app</a:t>
            </a:r>
          </a:p>
          <a:p>
            <a:pPr algn="l">
              <a:spcBef>
                <a:spcPts val="1000"/>
              </a:spcBef>
              <a:defRPr sz="1600" b="0">
                <a:solidFill>
                  <a:srgbClr val="333333"/>
                </a:solidFill>
              </a:defRPr>
            </a:pPr>
            <a:r>
              <a:t>    No way to bridge in-store product discovery to digital intent</a:t>
            </a:r>
          </a:p>
          <a:p>
            <a:pPr algn="l">
              <a:spcBef>
                <a:spcPts val="1000"/>
              </a:spcBef>
              <a:defRPr sz="1600" b="0">
                <a:solidFill>
                  <a:srgbClr val="333333"/>
                </a:solidFill>
              </a:defRPr>
            </a:pPr>
            <a:r>
              <a:t>    No gift sharing / collaborative shopping functionality</a:t>
            </a:r>
          </a:p>
          <a:p>
            <a:pPr algn="l">
              <a:spcBef>
                <a:spcPts val="1000"/>
              </a:spcBef>
              <a:defRPr sz="1600" b="0">
                <a:solidFill>
                  <a:srgbClr val="333333"/>
                </a:solidFill>
              </a:defRPr>
            </a:pPr>
            <a:r>
              <a:t>    16M Triangle members generate purchase data — but not intent data</a:t>
            </a:r>
          </a:p>
          <a:p>
            <a:pPr algn="l">
              <a:spcBef>
                <a:spcPts val="1000"/>
              </a:spcBef>
              <a:defRPr sz="1600" b="0">
                <a:solidFill>
                  <a:srgbClr val="333333"/>
                </a:solidFill>
              </a:defRPr>
            </a:pPr>
            <a:r>
              <a:t>    Cross-banner potential (CT + SportChek + Mark's) completely untapped</a:t>
            </a:r>
          </a:p>
        </p:txBody>
      </p:sp>
      <p:sp>
        <p:nvSpPr>
          <p:cNvPr id="9" name="TextBox 8"/>
          <p:cNvSpPr txBox="1"/>
          <p:nvPr/>
        </p:nvSpPr>
        <p:spPr>
          <a:xfrm>
            <a:off x="6400800" y="1280160"/>
            <a:ext cx="5029200" cy="457200"/>
          </a:xfrm>
          <a:prstGeom prst="rect">
            <a:avLst/>
          </a:prstGeom>
          <a:noFill/>
        </p:spPr>
        <p:txBody>
          <a:bodyPr wrap="square">
            <a:spAutoFit/>
          </a:bodyPr>
          <a:lstStyle/>
          <a:p>
            <a:pPr algn="l">
              <a:defRPr sz="2400" b="1">
                <a:solidFill>
                  <a:srgbClr val="2E7D32"/>
                </a:solidFill>
              </a:defRPr>
            </a:pPr>
            <a:r>
              <a:t>The Insight</a:t>
            </a:r>
          </a:p>
        </p:txBody>
      </p:sp>
      <p:sp>
        <p:nvSpPr>
          <p:cNvPr id="10" name="TextBox 9"/>
          <p:cNvSpPr txBox="1"/>
          <p:nvPr/>
        </p:nvSpPr>
        <p:spPr>
          <a:xfrm>
            <a:off x="6400800" y="1828800"/>
            <a:ext cx="5029200" cy="3657600"/>
          </a:xfrm>
          <a:prstGeom prst="rect">
            <a:avLst/>
          </a:prstGeom>
          <a:noFill/>
        </p:spPr>
        <p:txBody>
          <a:bodyPr wrap="square">
            <a:spAutoFit/>
          </a:bodyPr>
          <a:lstStyle/>
          <a:p>
            <a:pPr algn="l">
              <a:defRPr sz="1600" b="0">
                <a:solidFill>
                  <a:srgbClr val="333333"/>
                </a:solidFill>
              </a:defRPr>
            </a:pPr>
          </a:p>
          <a:p>
            <a:pPr algn="l">
              <a:spcBef>
                <a:spcPts val="1000"/>
              </a:spcBef>
              <a:defRPr sz="1600" b="0">
                <a:solidFill>
                  <a:srgbClr val="333333"/>
                </a:solidFill>
              </a:defRPr>
            </a:pPr>
            <a:r>
              <a:t>    Wishlist users convert 25-40% better than non-users</a:t>
            </a:r>
          </a:p>
          <a:p>
            <a:pPr algn="l">
              <a:spcBef>
                <a:spcPts val="1000"/>
              </a:spcBef>
              <a:defRPr sz="1600" b="0">
                <a:solidFill>
                  <a:srgbClr val="333333"/>
                </a:solidFill>
              </a:defRPr>
            </a:pPr>
            <a:r>
              <a:t>    Wishlist users spend 15-25% more per transaction</a:t>
            </a:r>
          </a:p>
          <a:p>
            <a:pPr algn="l">
              <a:spcBef>
                <a:spcPts val="1000"/>
              </a:spcBef>
              <a:defRPr sz="1600" b="0">
                <a:solidFill>
                  <a:srgbClr val="333333"/>
                </a:solidFill>
              </a:defRPr>
            </a:pPr>
            <a:r>
              <a:t>    Price-drop alerts on wishlisted items get 5-8x higher CTR</a:t>
            </a:r>
          </a:p>
          <a:p>
            <a:pPr algn="l">
              <a:spcBef>
                <a:spcPts val="1000"/>
              </a:spcBef>
              <a:defRPr sz="1600" b="0">
                <a:solidFill>
                  <a:srgbClr val="333333"/>
                </a:solidFill>
              </a:defRPr>
            </a:pPr>
            <a:r>
              <a:t>    Gift wishlists see 60-70% fulfilment rates</a:t>
            </a:r>
          </a:p>
          <a:p>
            <a:pPr algn="l">
              <a:spcBef>
                <a:spcPts val="1000"/>
              </a:spcBef>
              <a:defRPr sz="1600" b="0">
                <a:solidFill>
                  <a:srgbClr val="333333"/>
                </a:solidFill>
              </a:defRPr>
            </a:pPr>
            <a:r>
              <a:t>    Wishlists recover 10-15% of would-be cart abandonments</a:t>
            </a:r>
          </a:p>
        </p:txBody>
      </p:sp>
      <p:sp>
        <p:nvSpPr>
          <p:cNvPr id="11" name="Rectangle 10"/>
          <p:cNvSpPr/>
          <p:nvPr/>
        </p:nvSpPr>
        <p:spPr>
          <a:xfrm>
            <a:off x="731520" y="5486400"/>
            <a:ext cx="10515600" cy="6400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577840"/>
            <a:ext cx="10058400" cy="457200"/>
          </a:xfrm>
          <a:prstGeom prst="rect">
            <a:avLst/>
          </a:prstGeom>
          <a:noFill/>
        </p:spPr>
        <p:txBody>
          <a:bodyPr wrap="square">
            <a:spAutoFit/>
          </a:bodyPr>
          <a:lstStyle/>
          <a:p>
            <a:pPr algn="ctr">
              <a:defRPr sz="1400" b="1">
                <a:solidFill>
                  <a:srgbClr val="333333"/>
                </a:solidFill>
              </a:defRPr>
            </a:pPr>
            <a:r>
              <a:t>Canadian Tire has the infrastructure (16M loyalty members, 500+ stores, 10M+ app installs) — it just needs the feature.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640080"/>
          </a:xfrm>
          <a:prstGeom prst="rect">
            <a:avLst/>
          </a:prstGeom>
          <a:noFill/>
        </p:spPr>
        <p:txBody>
          <a:bodyPr wrap="square">
            <a:spAutoFit/>
          </a:bodyPr>
          <a:lstStyle/>
          <a:p>
            <a:pPr algn="l">
              <a:defRPr sz="3200" b="1">
                <a:solidFill>
                  <a:srgbClr val="FFFFFF"/>
                </a:solidFill>
              </a:defRPr>
            </a:pPr>
            <a:r>
              <a:t>The Concept</a:t>
            </a:r>
          </a:p>
        </p:txBody>
      </p:sp>
      <p:sp>
        <p:nvSpPr>
          <p:cNvPr id="4" name="TextBox 3"/>
          <p:cNvSpPr txBox="1"/>
          <p:nvPr/>
        </p:nvSpPr>
        <p:spPr>
          <a:xfrm>
            <a:off x="548640" y="594360"/>
            <a:ext cx="9144000" cy="365760"/>
          </a:xfrm>
          <a:prstGeom prst="rect">
            <a:avLst/>
          </a:prstGeom>
          <a:noFill/>
        </p:spPr>
        <p:txBody>
          <a:bodyPr wrap="square">
            <a:spAutoFit/>
          </a:bodyPr>
          <a:lstStyle/>
          <a:p>
            <a:pPr algn="l">
              <a:defRPr sz="1600" b="0">
                <a:solidFill>
                  <a:srgbClr val="FFCCCC"/>
                </a:solidFill>
              </a:defRPr>
            </a:pPr>
            <a:r>
              <a:t>Scan. Save. Share.</a:t>
            </a:r>
          </a:p>
        </p:txBody>
      </p:sp>
      <p:sp>
        <p:nvSpPr>
          <p:cNvPr id="5" name="TextBox 4"/>
          <p:cNvSpPr txBox="1"/>
          <p:nvPr/>
        </p:nvSpPr>
        <p:spPr>
          <a:xfrm>
            <a:off x="548640" y="6400800"/>
            <a:ext cx="4572000" cy="365760"/>
          </a:xfrm>
          <a:prstGeom prst="rect">
            <a:avLst/>
          </a:prstGeom>
          <a:noFill/>
        </p:spPr>
        <p:txBody>
          <a:bodyPr wrap="square">
            <a:spAutoFit/>
          </a:bodyPr>
          <a:lstStyle/>
          <a:p>
            <a:pPr algn="l">
              <a:defRPr sz="1000" b="0">
                <a:solidFill>
                  <a:srgbClr val="666666"/>
                </a:solidFill>
              </a:defRPr>
            </a:pPr>
            <a:r>
              <a:t>EPAM Systems | Confidential</a:t>
            </a:r>
          </a:p>
        </p:txBody>
      </p:sp>
      <p:sp>
        <p:nvSpPr>
          <p:cNvPr id="6" name="TextBox 5"/>
          <p:cNvSpPr txBox="1"/>
          <p:nvPr/>
        </p:nvSpPr>
        <p:spPr>
          <a:xfrm>
            <a:off x="8229600" y="6400800"/>
            <a:ext cx="3657600" cy="365760"/>
          </a:xfrm>
          <a:prstGeom prst="rect">
            <a:avLst/>
          </a:prstGeom>
          <a:noFill/>
        </p:spPr>
        <p:txBody>
          <a:bodyPr wrap="square">
            <a:spAutoFit/>
          </a:bodyPr>
          <a:lstStyle/>
          <a:p>
            <a:pPr algn="r">
              <a:defRPr sz="1000" b="0">
                <a:solidFill>
                  <a:srgbClr val="666666"/>
                </a:solidFill>
              </a:defRPr>
            </a:pPr>
            <a:r>
              <a:t>CTC Mobile Wishlist — Business Case</a:t>
            </a:r>
          </a:p>
        </p:txBody>
      </p:sp>
      <p:sp>
        <p:nvSpPr>
          <p:cNvPr id="7" name="Rectangle 6"/>
          <p:cNvSpPr/>
          <p:nvPr/>
        </p:nvSpPr>
        <p:spPr>
          <a:xfrm>
            <a:off x="548640" y="1371600"/>
            <a:ext cx="2651760" cy="4389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08760" y="1554480"/>
            <a:ext cx="731520" cy="73152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08760" y="1600200"/>
            <a:ext cx="731520" cy="731520"/>
          </a:xfrm>
          <a:prstGeom prst="rect">
            <a:avLst/>
          </a:prstGeom>
          <a:noFill/>
        </p:spPr>
        <p:txBody>
          <a:bodyPr wrap="square">
            <a:spAutoFit/>
          </a:bodyPr>
          <a:lstStyle/>
          <a:p>
            <a:pPr algn="ctr">
              <a:defRPr sz="2800" b="1">
                <a:solidFill>
                  <a:srgbClr val="FFFFFF"/>
                </a:solidFill>
              </a:defRPr>
            </a:pPr>
            <a:r>
              <a:t>1</a:t>
            </a:r>
          </a:p>
        </p:txBody>
      </p:sp>
      <p:sp>
        <p:nvSpPr>
          <p:cNvPr id="10" name="TextBox 9"/>
          <p:cNvSpPr txBox="1"/>
          <p:nvPr/>
        </p:nvSpPr>
        <p:spPr>
          <a:xfrm>
            <a:off x="731520" y="2468880"/>
            <a:ext cx="2286000" cy="457200"/>
          </a:xfrm>
          <a:prstGeom prst="rect">
            <a:avLst/>
          </a:prstGeom>
          <a:noFill/>
        </p:spPr>
        <p:txBody>
          <a:bodyPr wrap="square">
            <a:spAutoFit/>
          </a:bodyPr>
          <a:lstStyle/>
          <a:p>
            <a:pPr algn="ctr">
              <a:defRPr sz="2200" b="1">
                <a:solidFill>
                  <a:srgbClr val="D52B1E"/>
                </a:solidFill>
              </a:defRPr>
            </a:pPr>
            <a:r>
              <a:t>SCAN</a:t>
            </a:r>
          </a:p>
        </p:txBody>
      </p:sp>
      <p:sp>
        <p:nvSpPr>
          <p:cNvPr id="11" name="TextBox 10"/>
          <p:cNvSpPr txBox="1"/>
          <p:nvPr/>
        </p:nvSpPr>
        <p:spPr>
          <a:xfrm>
            <a:off x="731520" y="3017520"/>
            <a:ext cx="2286000" cy="1371600"/>
          </a:xfrm>
          <a:prstGeom prst="rect">
            <a:avLst/>
          </a:prstGeom>
          <a:noFill/>
        </p:spPr>
        <p:txBody>
          <a:bodyPr wrap="square">
            <a:spAutoFit/>
          </a:bodyPr>
          <a:lstStyle/>
          <a:p>
            <a:pPr algn="ctr">
              <a:defRPr sz="1400" b="0">
                <a:solidFill>
                  <a:srgbClr val="666666"/>
                </a:solidFill>
              </a:defRPr>
            </a:pPr>
            <a:r>
              <a:t>Scan any barcode on</a:t>
            </a:r>
            <a:br/>
            <a:r>
              <a:t>a store shelf with your</a:t>
            </a:r>
            <a:br/>
            <a:r>
              <a:t>phone camera to instantly</a:t>
            </a:r>
            <a:br/>
            <a:r>
              <a:t>identify the product</a:t>
            </a:r>
          </a:p>
        </p:txBody>
      </p:sp>
      <p:sp>
        <p:nvSpPr>
          <p:cNvPr id="12" name="Rectangle 11"/>
          <p:cNvSpPr/>
          <p:nvPr/>
        </p:nvSpPr>
        <p:spPr>
          <a:xfrm>
            <a:off x="914400" y="4754880"/>
            <a:ext cx="1920240" cy="73152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800600"/>
            <a:ext cx="1920240" cy="731520"/>
          </a:xfrm>
          <a:prstGeom prst="rect">
            <a:avLst/>
          </a:prstGeom>
          <a:noFill/>
        </p:spPr>
        <p:txBody>
          <a:bodyPr wrap="square">
            <a:spAutoFit/>
          </a:bodyPr>
          <a:lstStyle/>
          <a:p>
            <a:pPr algn="ctr">
              <a:defRPr sz="1300" b="1">
                <a:solidFill>
                  <a:srgbClr val="FFFFFF"/>
                </a:solidFill>
              </a:defRPr>
            </a:pPr>
            <a:r>
              <a:t>In-Store</a:t>
            </a:r>
            <a:br/>
            <a:r>
              <a:t>Discovery</a:t>
            </a:r>
          </a:p>
        </p:txBody>
      </p:sp>
      <p:sp>
        <p:nvSpPr>
          <p:cNvPr id="14" name="Rectangle 13"/>
          <p:cNvSpPr/>
          <p:nvPr/>
        </p:nvSpPr>
        <p:spPr>
          <a:xfrm>
            <a:off x="3429000" y="1371600"/>
            <a:ext cx="2651760" cy="4389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0" y="1554480"/>
            <a:ext cx="731520" cy="73152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89120" y="1600200"/>
            <a:ext cx="731520" cy="731520"/>
          </a:xfrm>
          <a:prstGeom prst="rect">
            <a:avLst/>
          </a:prstGeom>
          <a:noFill/>
        </p:spPr>
        <p:txBody>
          <a:bodyPr wrap="square">
            <a:spAutoFit/>
          </a:bodyPr>
          <a:lstStyle/>
          <a:p>
            <a:pPr algn="ctr">
              <a:defRPr sz="2800" b="1">
                <a:solidFill>
                  <a:srgbClr val="FFFFFF"/>
                </a:solidFill>
              </a:defRPr>
            </a:pPr>
            <a:r>
              <a:t>2</a:t>
            </a:r>
          </a:p>
        </p:txBody>
      </p:sp>
      <p:sp>
        <p:nvSpPr>
          <p:cNvPr id="17" name="TextBox 16"/>
          <p:cNvSpPr txBox="1"/>
          <p:nvPr/>
        </p:nvSpPr>
        <p:spPr>
          <a:xfrm>
            <a:off x="3611880" y="2468880"/>
            <a:ext cx="2286000" cy="457200"/>
          </a:xfrm>
          <a:prstGeom prst="rect">
            <a:avLst/>
          </a:prstGeom>
          <a:noFill/>
        </p:spPr>
        <p:txBody>
          <a:bodyPr wrap="square">
            <a:spAutoFit/>
          </a:bodyPr>
          <a:lstStyle/>
          <a:p>
            <a:pPr algn="ctr">
              <a:defRPr sz="2200" b="1">
                <a:solidFill>
                  <a:srgbClr val="D52B1E"/>
                </a:solidFill>
              </a:defRPr>
            </a:pPr>
            <a:r>
              <a:t>SAVE</a:t>
            </a:r>
          </a:p>
        </p:txBody>
      </p:sp>
      <p:sp>
        <p:nvSpPr>
          <p:cNvPr id="18" name="TextBox 17"/>
          <p:cNvSpPr txBox="1"/>
          <p:nvPr/>
        </p:nvSpPr>
        <p:spPr>
          <a:xfrm>
            <a:off x="3611880" y="3017520"/>
            <a:ext cx="2286000" cy="1371600"/>
          </a:xfrm>
          <a:prstGeom prst="rect">
            <a:avLst/>
          </a:prstGeom>
          <a:noFill/>
        </p:spPr>
        <p:txBody>
          <a:bodyPr wrap="square">
            <a:spAutoFit/>
          </a:bodyPr>
          <a:lstStyle/>
          <a:p>
            <a:pPr algn="ctr">
              <a:defRPr sz="1400" b="0">
                <a:solidFill>
                  <a:srgbClr val="666666"/>
                </a:solidFill>
              </a:defRPr>
            </a:pPr>
            <a:r>
              <a:t>Add products to named</a:t>
            </a:r>
            <a:br/>
            <a:r>
              <a:t>wishlists from browsing</a:t>
            </a:r>
            <a:br/>
            <a:r>
              <a:t>the catalog or scanning</a:t>
            </a:r>
            <a:br/>
            <a:r>
              <a:t>barcodes</a:t>
            </a:r>
          </a:p>
        </p:txBody>
      </p:sp>
      <p:sp>
        <p:nvSpPr>
          <p:cNvPr id="19" name="Rectangle 18"/>
          <p:cNvSpPr/>
          <p:nvPr/>
        </p:nvSpPr>
        <p:spPr>
          <a:xfrm>
            <a:off x="3794760" y="4754880"/>
            <a:ext cx="1920240" cy="73152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94760" y="4800600"/>
            <a:ext cx="1920240" cy="731520"/>
          </a:xfrm>
          <a:prstGeom prst="rect">
            <a:avLst/>
          </a:prstGeom>
          <a:noFill/>
        </p:spPr>
        <p:txBody>
          <a:bodyPr wrap="square">
            <a:spAutoFit/>
          </a:bodyPr>
          <a:lstStyle/>
          <a:p>
            <a:pPr algn="ctr">
              <a:defRPr sz="1300" b="1">
                <a:solidFill>
                  <a:srgbClr val="FFFFFF"/>
                </a:solidFill>
              </a:defRPr>
            </a:pPr>
            <a:r>
              <a:t>Wishlist</a:t>
            </a:r>
            <a:br/>
            <a:r>
              <a:t>Management</a:t>
            </a:r>
          </a:p>
        </p:txBody>
      </p:sp>
      <p:sp>
        <p:nvSpPr>
          <p:cNvPr id="21" name="Rectangle 20"/>
          <p:cNvSpPr/>
          <p:nvPr/>
        </p:nvSpPr>
        <p:spPr>
          <a:xfrm>
            <a:off x="6309359" y="1371600"/>
            <a:ext cx="2651760" cy="4389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79" y="1554480"/>
            <a:ext cx="731520" cy="73152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69479" y="1600200"/>
            <a:ext cx="731520" cy="731520"/>
          </a:xfrm>
          <a:prstGeom prst="rect">
            <a:avLst/>
          </a:prstGeom>
          <a:noFill/>
        </p:spPr>
        <p:txBody>
          <a:bodyPr wrap="square">
            <a:spAutoFit/>
          </a:bodyPr>
          <a:lstStyle/>
          <a:p>
            <a:pPr algn="ctr">
              <a:defRPr sz="2800" b="1">
                <a:solidFill>
                  <a:srgbClr val="FFFFFF"/>
                </a:solidFill>
              </a:defRPr>
            </a:pPr>
            <a:r>
              <a:t>3</a:t>
            </a:r>
          </a:p>
        </p:txBody>
      </p:sp>
      <p:sp>
        <p:nvSpPr>
          <p:cNvPr id="24" name="TextBox 23"/>
          <p:cNvSpPr txBox="1"/>
          <p:nvPr/>
        </p:nvSpPr>
        <p:spPr>
          <a:xfrm>
            <a:off x="6492239" y="2468880"/>
            <a:ext cx="2286000" cy="457200"/>
          </a:xfrm>
          <a:prstGeom prst="rect">
            <a:avLst/>
          </a:prstGeom>
          <a:noFill/>
        </p:spPr>
        <p:txBody>
          <a:bodyPr wrap="square">
            <a:spAutoFit/>
          </a:bodyPr>
          <a:lstStyle/>
          <a:p>
            <a:pPr algn="ctr">
              <a:defRPr sz="2200" b="1">
                <a:solidFill>
                  <a:srgbClr val="D52B1E"/>
                </a:solidFill>
              </a:defRPr>
            </a:pPr>
            <a:r>
              <a:t>SHARE</a:t>
            </a:r>
          </a:p>
        </p:txBody>
      </p:sp>
      <p:sp>
        <p:nvSpPr>
          <p:cNvPr id="25" name="TextBox 24"/>
          <p:cNvSpPr txBox="1"/>
          <p:nvPr/>
        </p:nvSpPr>
        <p:spPr>
          <a:xfrm>
            <a:off x="6492239" y="3017520"/>
            <a:ext cx="2286000" cy="1371600"/>
          </a:xfrm>
          <a:prstGeom prst="rect">
            <a:avLst/>
          </a:prstGeom>
          <a:noFill/>
        </p:spPr>
        <p:txBody>
          <a:bodyPr wrap="square">
            <a:spAutoFit/>
          </a:bodyPr>
          <a:lstStyle/>
          <a:p>
            <a:pPr algn="ctr">
              <a:defRPr sz="1400" b="0">
                <a:solidFill>
                  <a:srgbClr val="666666"/>
                </a:solidFill>
              </a:defRPr>
            </a:pPr>
            <a:r>
              <a:t>Share your wishlist with</a:t>
            </a:r>
            <a:br/>
            <a:r>
              <a:t>family &amp; friends from</a:t>
            </a:r>
            <a:br/>
            <a:r>
              <a:t>your phone contacts for</a:t>
            </a:r>
            <a:br/>
            <a:r>
              <a:t>gift coordination</a:t>
            </a:r>
          </a:p>
        </p:txBody>
      </p:sp>
      <p:sp>
        <p:nvSpPr>
          <p:cNvPr id="26" name="Rectangle 25"/>
          <p:cNvSpPr/>
          <p:nvPr/>
        </p:nvSpPr>
        <p:spPr>
          <a:xfrm>
            <a:off x="6675119" y="4754880"/>
            <a:ext cx="1920240" cy="73152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75119" y="4800600"/>
            <a:ext cx="1920240" cy="731520"/>
          </a:xfrm>
          <a:prstGeom prst="rect">
            <a:avLst/>
          </a:prstGeom>
          <a:noFill/>
        </p:spPr>
        <p:txBody>
          <a:bodyPr wrap="square">
            <a:spAutoFit/>
          </a:bodyPr>
          <a:lstStyle/>
          <a:p>
            <a:pPr algn="ctr">
              <a:defRPr sz="1300" b="1">
                <a:solidFill>
                  <a:srgbClr val="FFFFFF"/>
                </a:solidFill>
              </a:defRPr>
            </a:pPr>
            <a:r>
              <a:t>Social</a:t>
            </a:r>
            <a:br/>
            <a:r>
              <a:t>Commerce</a:t>
            </a:r>
          </a:p>
        </p:txBody>
      </p:sp>
      <p:sp>
        <p:nvSpPr>
          <p:cNvPr id="28" name="Rectangle 27"/>
          <p:cNvSpPr/>
          <p:nvPr/>
        </p:nvSpPr>
        <p:spPr>
          <a:xfrm>
            <a:off x="9189719" y="1371600"/>
            <a:ext cx="2651760" cy="4389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149839" y="1554480"/>
            <a:ext cx="731520" cy="73152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39" y="1600200"/>
            <a:ext cx="731520" cy="731520"/>
          </a:xfrm>
          <a:prstGeom prst="rect">
            <a:avLst/>
          </a:prstGeom>
          <a:noFill/>
        </p:spPr>
        <p:txBody>
          <a:bodyPr wrap="square">
            <a:spAutoFit/>
          </a:bodyPr>
          <a:lstStyle/>
          <a:p>
            <a:pPr algn="ctr">
              <a:defRPr sz="2800" b="1">
                <a:solidFill>
                  <a:srgbClr val="FFFFFF"/>
                </a:solidFill>
              </a:defRPr>
            </a:pPr>
            <a:r>
              <a:t>4</a:t>
            </a:r>
          </a:p>
        </p:txBody>
      </p:sp>
      <p:sp>
        <p:nvSpPr>
          <p:cNvPr id="31" name="TextBox 30"/>
          <p:cNvSpPr txBox="1"/>
          <p:nvPr/>
        </p:nvSpPr>
        <p:spPr>
          <a:xfrm>
            <a:off x="9372599" y="2468880"/>
            <a:ext cx="2286000" cy="457200"/>
          </a:xfrm>
          <a:prstGeom prst="rect">
            <a:avLst/>
          </a:prstGeom>
          <a:noFill/>
        </p:spPr>
        <p:txBody>
          <a:bodyPr wrap="square">
            <a:spAutoFit/>
          </a:bodyPr>
          <a:lstStyle/>
          <a:p>
            <a:pPr algn="ctr">
              <a:defRPr sz="2200" b="1">
                <a:solidFill>
                  <a:srgbClr val="D52B1E"/>
                </a:solidFill>
              </a:defRPr>
            </a:pPr>
            <a:r>
              <a:t>FULFILL</a:t>
            </a:r>
          </a:p>
        </p:txBody>
      </p:sp>
      <p:sp>
        <p:nvSpPr>
          <p:cNvPr id="32" name="TextBox 31"/>
          <p:cNvSpPr txBox="1"/>
          <p:nvPr/>
        </p:nvSpPr>
        <p:spPr>
          <a:xfrm>
            <a:off x="9372599" y="3017520"/>
            <a:ext cx="2286000" cy="1371600"/>
          </a:xfrm>
          <a:prstGeom prst="rect">
            <a:avLst/>
          </a:prstGeom>
          <a:noFill/>
        </p:spPr>
        <p:txBody>
          <a:bodyPr wrap="square">
            <a:spAutoFit/>
          </a:bodyPr>
          <a:lstStyle/>
          <a:p>
            <a:pPr algn="ctr">
              <a:defRPr sz="1400" b="0">
                <a:solidFill>
                  <a:srgbClr val="666666"/>
                </a:solidFill>
              </a:defRPr>
            </a:pPr>
            <a:r>
              <a:t>Recipients browse your</a:t>
            </a:r>
            <a:br/>
            <a:r>
              <a:t>list, claim items they'll</a:t>
            </a:r>
            <a:br/>
            <a:r>
              <a:t>buy — no duplicate</a:t>
            </a:r>
            <a:br/>
            <a:r>
              <a:t>gifts</a:t>
            </a:r>
          </a:p>
        </p:txBody>
      </p:sp>
      <p:sp>
        <p:nvSpPr>
          <p:cNvPr id="33" name="Rectangle 32"/>
          <p:cNvSpPr/>
          <p:nvPr/>
        </p:nvSpPr>
        <p:spPr>
          <a:xfrm>
            <a:off x="9555479" y="4754880"/>
            <a:ext cx="1920240" cy="73152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555479" y="4800600"/>
            <a:ext cx="1920240" cy="731520"/>
          </a:xfrm>
          <a:prstGeom prst="rect">
            <a:avLst/>
          </a:prstGeom>
          <a:noFill/>
        </p:spPr>
        <p:txBody>
          <a:bodyPr wrap="square">
            <a:spAutoFit/>
          </a:bodyPr>
          <a:lstStyle/>
          <a:p>
            <a:pPr algn="ctr">
              <a:defRPr sz="1300" b="1">
                <a:solidFill>
                  <a:srgbClr val="FFFFFF"/>
                </a:solidFill>
              </a:defRPr>
            </a:pPr>
            <a:r>
              <a:t>Gift</a:t>
            </a:r>
            <a:br/>
            <a:r>
              <a:t>Fulfillment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640080"/>
          </a:xfrm>
          <a:prstGeom prst="rect">
            <a:avLst/>
          </a:prstGeom>
          <a:noFill/>
        </p:spPr>
        <p:txBody>
          <a:bodyPr wrap="square">
            <a:spAutoFit/>
          </a:bodyPr>
          <a:lstStyle/>
          <a:p>
            <a:pPr algn="l">
              <a:defRPr sz="3200" b="1">
                <a:solidFill>
                  <a:srgbClr val="FFFFFF"/>
                </a:solidFill>
              </a:defRPr>
            </a:pPr>
            <a:r>
              <a:t>CTC Revenue Landscape</a:t>
            </a:r>
          </a:p>
        </p:txBody>
      </p:sp>
      <p:sp>
        <p:nvSpPr>
          <p:cNvPr id="4" name="TextBox 3"/>
          <p:cNvSpPr txBox="1"/>
          <p:nvPr/>
        </p:nvSpPr>
        <p:spPr>
          <a:xfrm>
            <a:off x="548640" y="594360"/>
            <a:ext cx="9144000" cy="365760"/>
          </a:xfrm>
          <a:prstGeom prst="rect">
            <a:avLst/>
          </a:prstGeom>
          <a:noFill/>
        </p:spPr>
        <p:txBody>
          <a:bodyPr wrap="square">
            <a:spAutoFit/>
          </a:bodyPr>
          <a:lstStyle/>
          <a:p>
            <a:pPr algn="l">
              <a:defRPr sz="1600" b="0">
                <a:solidFill>
                  <a:srgbClr val="FFCCCC"/>
                </a:solidFill>
              </a:defRPr>
            </a:pPr>
            <a:r>
              <a:t>Sources: CTC FY 2024 Annual Report, Q4 2024 Earnings Release, CTC 2024 AIF (SEDAR+)</a:t>
            </a:r>
          </a:p>
        </p:txBody>
      </p:sp>
      <p:sp>
        <p:nvSpPr>
          <p:cNvPr id="5" name="TextBox 4"/>
          <p:cNvSpPr txBox="1"/>
          <p:nvPr/>
        </p:nvSpPr>
        <p:spPr>
          <a:xfrm>
            <a:off x="548640" y="6400800"/>
            <a:ext cx="4572000" cy="365760"/>
          </a:xfrm>
          <a:prstGeom prst="rect">
            <a:avLst/>
          </a:prstGeom>
          <a:noFill/>
        </p:spPr>
        <p:txBody>
          <a:bodyPr wrap="square">
            <a:spAutoFit/>
          </a:bodyPr>
          <a:lstStyle/>
          <a:p>
            <a:pPr algn="l">
              <a:defRPr sz="1000" b="0">
                <a:solidFill>
                  <a:srgbClr val="666666"/>
                </a:solidFill>
              </a:defRPr>
            </a:pPr>
            <a:r>
              <a:t>EPAM Systems | Confidential</a:t>
            </a:r>
          </a:p>
        </p:txBody>
      </p:sp>
      <p:sp>
        <p:nvSpPr>
          <p:cNvPr id="6" name="TextBox 5"/>
          <p:cNvSpPr txBox="1"/>
          <p:nvPr/>
        </p:nvSpPr>
        <p:spPr>
          <a:xfrm>
            <a:off x="8229600" y="6400800"/>
            <a:ext cx="3657600" cy="365760"/>
          </a:xfrm>
          <a:prstGeom prst="rect">
            <a:avLst/>
          </a:prstGeom>
          <a:noFill/>
        </p:spPr>
        <p:txBody>
          <a:bodyPr wrap="square">
            <a:spAutoFit/>
          </a:bodyPr>
          <a:lstStyle/>
          <a:p>
            <a:pPr algn="r">
              <a:defRPr sz="1000" b="0">
                <a:solidFill>
                  <a:srgbClr val="666666"/>
                </a:solidFill>
              </a:defRPr>
            </a:pPr>
            <a:r>
              <a:t>CTC Mobile Wishlist — Business Case</a:t>
            </a:r>
          </a:p>
        </p:txBody>
      </p:sp>
      <p:sp>
        <p:nvSpPr>
          <p:cNvPr id="7" name="TextBox 6"/>
          <p:cNvSpPr txBox="1"/>
          <p:nvPr/>
        </p:nvSpPr>
        <p:spPr>
          <a:xfrm>
            <a:off x="731520" y="1188720"/>
            <a:ext cx="5486400" cy="457200"/>
          </a:xfrm>
          <a:prstGeom prst="rect">
            <a:avLst/>
          </a:prstGeom>
          <a:noFill/>
        </p:spPr>
        <p:txBody>
          <a:bodyPr wrap="square">
            <a:spAutoFit/>
          </a:bodyPr>
          <a:lstStyle/>
          <a:p>
            <a:pPr algn="l">
              <a:defRPr sz="2000" b="1">
                <a:solidFill>
                  <a:srgbClr val="333333"/>
                </a:solidFill>
              </a:defRPr>
            </a:pPr>
            <a:r>
              <a:t>Revenue by Banner</a:t>
            </a:r>
          </a:p>
        </p:txBody>
      </p:sp>
      <p:sp>
        <p:nvSpPr>
          <p:cNvPr id="8" name="Rectangle 7"/>
          <p:cNvSpPr/>
          <p:nvPr/>
        </p:nvSpPr>
        <p:spPr>
          <a:xfrm>
            <a:off x="731520" y="1645920"/>
            <a:ext cx="7498079" cy="41148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664208"/>
            <a:ext cx="2926080" cy="365760"/>
          </a:xfrm>
          <a:prstGeom prst="rect">
            <a:avLst/>
          </a:prstGeom>
          <a:noFill/>
        </p:spPr>
        <p:txBody>
          <a:bodyPr wrap="square">
            <a:spAutoFit/>
          </a:bodyPr>
          <a:lstStyle/>
          <a:p>
            <a:pPr algn="l">
              <a:defRPr sz="1300" b="1">
                <a:solidFill>
                  <a:srgbClr val="FFFFFF"/>
                </a:solidFill>
              </a:defRPr>
            </a:pPr>
            <a:r>
              <a:t>Banner</a:t>
            </a:r>
          </a:p>
        </p:txBody>
      </p:sp>
      <p:sp>
        <p:nvSpPr>
          <p:cNvPr id="10" name="TextBox 9"/>
          <p:cNvSpPr txBox="1"/>
          <p:nvPr/>
        </p:nvSpPr>
        <p:spPr>
          <a:xfrm>
            <a:off x="3657600" y="1664208"/>
            <a:ext cx="1645920" cy="365760"/>
          </a:xfrm>
          <a:prstGeom prst="rect">
            <a:avLst/>
          </a:prstGeom>
          <a:noFill/>
        </p:spPr>
        <p:txBody>
          <a:bodyPr wrap="square">
            <a:spAutoFit/>
          </a:bodyPr>
          <a:lstStyle/>
          <a:p>
            <a:pPr algn="l">
              <a:defRPr sz="1300" b="1">
                <a:solidFill>
                  <a:srgbClr val="FFFFFF"/>
                </a:solidFill>
              </a:defRPr>
            </a:pPr>
            <a:r>
              <a:t>Revenue</a:t>
            </a:r>
          </a:p>
        </p:txBody>
      </p:sp>
      <p:sp>
        <p:nvSpPr>
          <p:cNvPr id="11" name="TextBox 10"/>
          <p:cNvSpPr txBox="1"/>
          <p:nvPr/>
        </p:nvSpPr>
        <p:spPr>
          <a:xfrm>
            <a:off x="5303520" y="1664208"/>
            <a:ext cx="1097280" cy="365760"/>
          </a:xfrm>
          <a:prstGeom prst="rect">
            <a:avLst/>
          </a:prstGeom>
          <a:noFill/>
        </p:spPr>
        <p:txBody>
          <a:bodyPr wrap="square">
            <a:spAutoFit/>
          </a:bodyPr>
          <a:lstStyle/>
          <a:p>
            <a:pPr algn="l">
              <a:defRPr sz="1300" b="1">
                <a:solidFill>
                  <a:srgbClr val="FFFFFF"/>
                </a:solidFill>
              </a:defRPr>
            </a:pPr>
            <a:r>
              <a:t>Stores</a:t>
            </a:r>
          </a:p>
        </p:txBody>
      </p:sp>
      <p:sp>
        <p:nvSpPr>
          <p:cNvPr id="12" name="TextBox 11"/>
          <p:cNvSpPr txBox="1"/>
          <p:nvPr/>
        </p:nvSpPr>
        <p:spPr>
          <a:xfrm>
            <a:off x="6400800" y="1664208"/>
            <a:ext cx="1828800" cy="365760"/>
          </a:xfrm>
          <a:prstGeom prst="rect">
            <a:avLst/>
          </a:prstGeom>
          <a:noFill/>
        </p:spPr>
        <p:txBody>
          <a:bodyPr wrap="square">
            <a:spAutoFit/>
          </a:bodyPr>
          <a:lstStyle/>
          <a:p>
            <a:pPr algn="l">
              <a:defRPr sz="1300" b="1">
                <a:solidFill>
                  <a:srgbClr val="FFFFFF"/>
                </a:solidFill>
              </a:defRPr>
            </a:pPr>
            <a:r>
              <a:t>Avg. Transaction</a:t>
            </a:r>
          </a:p>
        </p:txBody>
      </p:sp>
      <p:sp>
        <p:nvSpPr>
          <p:cNvPr id="13" name="TextBox 12"/>
          <p:cNvSpPr txBox="1"/>
          <p:nvPr/>
        </p:nvSpPr>
        <p:spPr>
          <a:xfrm>
            <a:off x="731520" y="4754880"/>
            <a:ext cx="7315200" cy="548640"/>
          </a:xfrm>
          <a:prstGeom prst="rect">
            <a:avLst/>
          </a:prstGeom>
          <a:noFill/>
        </p:spPr>
        <p:txBody>
          <a:bodyPr wrap="square">
            <a:spAutoFit/>
          </a:bodyPr>
          <a:lstStyle/>
          <a:p>
            <a:pPr algn="l">
              <a:defRPr sz="800" b="0">
                <a:solidFill>
                  <a:srgbClr val="666666"/>
                </a:solidFill>
              </a:defRPr>
            </a:pPr>
            <a:r>
              <a:t>Sources: CTC Q4 2024 Earnings Release (Feb 2025); CTC 2024 Annual Information Form (SEDAR+);</a:t>
            </a:r>
            <a:br/>
            <a:r>
              <a:t>Party City: CTC acquisition ($174.4M, Aug 2019, CBC); PartSource: ZoomInfo/Growjo est.; Store counts: CTC 2024 AIF.</a:t>
            </a:r>
          </a:p>
        </p:txBody>
      </p:sp>
      <p:sp>
        <p:nvSpPr>
          <p:cNvPr id="14" name="Rectangle 13"/>
          <p:cNvSpPr/>
          <p:nvPr/>
        </p:nvSpPr>
        <p:spPr>
          <a:xfrm>
            <a:off x="731520" y="2103120"/>
            <a:ext cx="7498079" cy="38404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2103120"/>
            <a:ext cx="2926080" cy="365760"/>
          </a:xfrm>
          <a:prstGeom prst="rect">
            <a:avLst/>
          </a:prstGeom>
          <a:noFill/>
        </p:spPr>
        <p:txBody>
          <a:bodyPr wrap="square">
            <a:spAutoFit/>
          </a:bodyPr>
          <a:lstStyle/>
          <a:p>
            <a:pPr algn="l">
              <a:defRPr sz="1200" b="0">
                <a:solidFill>
                  <a:srgbClr val="333333"/>
                </a:solidFill>
              </a:defRPr>
            </a:pPr>
            <a:r>
              <a:t>Canadian Tire Retail</a:t>
            </a:r>
          </a:p>
        </p:txBody>
      </p:sp>
      <p:sp>
        <p:nvSpPr>
          <p:cNvPr id="16" name="TextBox 15"/>
          <p:cNvSpPr txBox="1"/>
          <p:nvPr/>
        </p:nvSpPr>
        <p:spPr>
          <a:xfrm>
            <a:off x="3657600" y="2103120"/>
            <a:ext cx="1645920" cy="365760"/>
          </a:xfrm>
          <a:prstGeom prst="rect">
            <a:avLst/>
          </a:prstGeom>
          <a:noFill/>
        </p:spPr>
        <p:txBody>
          <a:bodyPr wrap="square">
            <a:spAutoFit/>
          </a:bodyPr>
          <a:lstStyle/>
          <a:p>
            <a:pPr algn="l">
              <a:defRPr sz="1200" b="0">
                <a:solidFill>
                  <a:srgbClr val="333333"/>
                </a:solidFill>
              </a:defRPr>
            </a:pPr>
            <a:r>
              <a:t>$9.8B</a:t>
            </a:r>
          </a:p>
        </p:txBody>
      </p:sp>
      <p:sp>
        <p:nvSpPr>
          <p:cNvPr id="17" name="TextBox 16"/>
          <p:cNvSpPr txBox="1"/>
          <p:nvPr/>
        </p:nvSpPr>
        <p:spPr>
          <a:xfrm>
            <a:off x="5303520" y="2103120"/>
            <a:ext cx="1097280" cy="365760"/>
          </a:xfrm>
          <a:prstGeom prst="rect">
            <a:avLst/>
          </a:prstGeom>
          <a:noFill/>
        </p:spPr>
        <p:txBody>
          <a:bodyPr wrap="square">
            <a:spAutoFit/>
          </a:bodyPr>
          <a:lstStyle/>
          <a:p>
            <a:pPr algn="l">
              <a:defRPr sz="1200" b="0">
                <a:solidFill>
                  <a:srgbClr val="333333"/>
                </a:solidFill>
              </a:defRPr>
            </a:pPr>
            <a:r>
              <a:t>500+</a:t>
            </a:r>
          </a:p>
        </p:txBody>
      </p:sp>
      <p:sp>
        <p:nvSpPr>
          <p:cNvPr id="18" name="TextBox 17"/>
          <p:cNvSpPr txBox="1"/>
          <p:nvPr/>
        </p:nvSpPr>
        <p:spPr>
          <a:xfrm>
            <a:off x="6400800" y="2103120"/>
            <a:ext cx="1828800" cy="365760"/>
          </a:xfrm>
          <a:prstGeom prst="rect">
            <a:avLst/>
          </a:prstGeom>
          <a:noFill/>
        </p:spPr>
        <p:txBody>
          <a:bodyPr wrap="square">
            <a:spAutoFit/>
          </a:bodyPr>
          <a:lstStyle/>
          <a:p>
            <a:pPr algn="l">
              <a:defRPr sz="1200" b="0">
                <a:solidFill>
                  <a:srgbClr val="333333"/>
                </a:solidFill>
              </a:defRPr>
            </a:pPr>
            <a:r>
              <a:t>$45-65</a:t>
            </a:r>
          </a:p>
        </p:txBody>
      </p:sp>
      <p:sp>
        <p:nvSpPr>
          <p:cNvPr id="19" name="Rectangle 18"/>
          <p:cNvSpPr/>
          <p:nvPr/>
        </p:nvSpPr>
        <p:spPr>
          <a:xfrm>
            <a:off x="731520" y="2432303"/>
            <a:ext cx="7498079"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432303"/>
            <a:ext cx="2926080" cy="365760"/>
          </a:xfrm>
          <a:prstGeom prst="rect">
            <a:avLst/>
          </a:prstGeom>
          <a:noFill/>
        </p:spPr>
        <p:txBody>
          <a:bodyPr wrap="square">
            <a:spAutoFit/>
          </a:bodyPr>
          <a:lstStyle/>
          <a:p>
            <a:pPr algn="l">
              <a:defRPr sz="1200" b="0">
                <a:solidFill>
                  <a:srgbClr val="333333"/>
                </a:solidFill>
              </a:defRPr>
            </a:pPr>
            <a:r>
              <a:t>SportChek / Sports Experts</a:t>
            </a:r>
          </a:p>
        </p:txBody>
      </p:sp>
      <p:sp>
        <p:nvSpPr>
          <p:cNvPr id="21" name="TextBox 20"/>
          <p:cNvSpPr txBox="1"/>
          <p:nvPr/>
        </p:nvSpPr>
        <p:spPr>
          <a:xfrm>
            <a:off x="3657600" y="2432303"/>
            <a:ext cx="1645920" cy="365760"/>
          </a:xfrm>
          <a:prstGeom prst="rect">
            <a:avLst/>
          </a:prstGeom>
          <a:noFill/>
        </p:spPr>
        <p:txBody>
          <a:bodyPr wrap="square">
            <a:spAutoFit/>
          </a:bodyPr>
          <a:lstStyle/>
          <a:p>
            <a:pPr algn="l">
              <a:defRPr sz="1200" b="0">
                <a:solidFill>
                  <a:srgbClr val="333333"/>
                </a:solidFill>
              </a:defRPr>
            </a:pPr>
            <a:r>
              <a:t>$2.2B</a:t>
            </a:r>
          </a:p>
        </p:txBody>
      </p:sp>
      <p:sp>
        <p:nvSpPr>
          <p:cNvPr id="22" name="TextBox 21"/>
          <p:cNvSpPr txBox="1"/>
          <p:nvPr/>
        </p:nvSpPr>
        <p:spPr>
          <a:xfrm>
            <a:off x="5303520" y="2432303"/>
            <a:ext cx="1097280" cy="365760"/>
          </a:xfrm>
          <a:prstGeom prst="rect">
            <a:avLst/>
          </a:prstGeom>
          <a:noFill/>
        </p:spPr>
        <p:txBody>
          <a:bodyPr wrap="square">
            <a:spAutoFit/>
          </a:bodyPr>
          <a:lstStyle/>
          <a:p>
            <a:pPr algn="l">
              <a:defRPr sz="1200" b="0">
                <a:solidFill>
                  <a:srgbClr val="333333"/>
                </a:solidFill>
              </a:defRPr>
            </a:pPr>
            <a:r>
              <a:t>185</a:t>
            </a:r>
          </a:p>
        </p:txBody>
      </p:sp>
      <p:sp>
        <p:nvSpPr>
          <p:cNvPr id="23" name="TextBox 22"/>
          <p:cNvSpPr txBox="1"/>
          <p:nvPr/>
        </p:nvSpPr>
        <p:spPr>
          <a:xfrm>
            <a:off x="6400800" y="2432303"/>
            <a:ext cx="1828800" cy="365760"/>
          </a:xfrm>
          <a:prstGeom prst="rect">
            <a:avLst/>
          </a:prstGeom>
          <a:noFill/>
        </p:spPr>
        <p:txBody>
          <a:bodyPr wrap="square">
            <a:spAutoFit/>
          </a:bodyPr>
          <a:lstStyle/>
          <a:p>
            <a:pPr algn="l">
              <a:defRPr sz="1200" b="0">
                <a:solidFill>
                  <a:srgbClr val="333333"/>
                </a:solidFill>
              </a:defRPr>
            </a:pPr>
            <a:r>
              <a:t>$70-90</a:t>
            </a:r>
          </a:p>
        </p:txBody>
      </p:sp>
      <p:sp>
        <p:nvSpPr>
          <p:cNvPr id="24" name="Rectangle 23"/>
          <p:cNvSpPr/>
          <p:nvPr/>
        </p:nvSpPr>
        <p:spPr>
          <a:xfrm>
            <a:off x="731520" y="2761487"/>
            <a:ext cx="7498079" cy="38404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2761487"/>
            <a:ext cx="2926080" cy="365760"/>
          </a:xfrm>
          <a:prstGeom prst="rect">
            <a:avLst/>
          </a:prstGeom>
          <a:noFill/>
        </p:spPr>
        <p:txBody>
          <a:bodyPr wrap="square">
            <a:spAutoFit/>
          </a:bodyPr>
          <a:lstStyle/>
          <a:p>
            <a:pPr algn="l">
              <a:defRPr sz="1200" b="0">
                <a:solidFill>
                  <a:srgbClr val="333333"/>
                </a:solidFill>
              </a:defRPr>
            </a:pPr>
            <a:r>
              <a:t>Mark's / L'Equipeur</a:t>
            </a:r>
          </a:p>
        </p:txBody>
      </p:sp>
      <p:sp>
        <p:nvSpPr>
          <p:cNvPr id="26" name="TextBox 25"/>
          <p:cNvSpPr txBox="1"/>
          <p:nvPr/>
        </p:nvSpPr>
        <p:spPr>
          <a:xfrm>
            <a:off x="3657600" y="2761487"/>
            <a:ext cx="1645920" cy="365760"/>
          </a:xfrm>
          <a:prstGeom prst="rect">
            <a:avLst/>
          </a:prstGeom>
          <a:noFill/>
        </p:spPr>
        <p:txBody>
          <a:bodyPr wrap="square">
            <a:spAutoFit/>
          </a:bodyPr>
          <a:lstStyle/>
          <a:p>
            <a:pPr algn="l">
              <a:defRPr sz="1200" b="0">
                <a:solidFill>
                  <a:srgbClr val="333333"/>
                </a:solidFill>
              </a:defRPr>
            </a:pPr>
            <a:r>
              <a:t>$1.4B</a:t>
            </a:r>
          </a:p>
        </p:txBody>
      </p:sp>
      <p:sp>
        <p:nvSpPr>
          <p:cNvPr id="27" name="TextBox 26"/>
          <p:cNvSpPr txBox="1"/>
          <p:nvPr/>
        </p:nvSpPr>
        <p:spPr>
          <a:xfrm>
            <a:off x="5303520" y="2761487"/>
            <a:ext cx="1097280" cy="365760"/>
          </a:xfrm>
          <a:prstGeom prst="rect">
            <a:avLst/>
          </a:prstGeom>
          <a:noFill/>
        </p:spPr>
        <p:txBody>
          <a:bodyPr wrap="square">
            <a:spAutoFit/>
          </a:bodyPr>
          <a:lstStyle/>
          <a:p>
            <a:pPr algn="l">
              <a:defRPr sz="1200" b="0">
                <a:solidFill>
                  <a:srgbClr val="333333"/>
                </a:solidFill>
              </a:defRPr>
            </a:pPr>
            <a:r>
              <a:t>385</a:t>
            </a:r>
          </a:p>
        </p:txBody>
      </p:sp>
      <p:sp>
        <p:nvSpPr>
          <p:cNvPr id="28" name="TextBox 27"/>
          <p:cNvSpPr txBox="1"/>
          <p:nvPr/>
        </p:nvSpPr>
        <p:spPr>
          <a:xfrm>
            <a:off x="6400800" y="2761487"/>
            <a:ext cx="1828800" cy="365760"/>
          </a:xfrm>
          <a:prstGeom prst="rect">
            <a:avLst/>
          </a:prstGeom>
          <a:noFill/>
        </p:spPr>
        <p:txBody>
          <a:bodyPr wrap="square">
            <a:spAutoFit/>
          </a:bodyPr>
          <a:lstStyle/>
          <a:p>
            <a:pPr algn="l">
              <a:defRPr sz="1200" b="0">
                <a:solidFill>
                  <a:srgbClr val="333333"/>
                </a:solidFill>
              </a:defRPr>
            </a:pPr>
            <a:r>
              <a:t>$55-75</a:t>
            </a:r>
          </a:p>
        </p:txBody>
      </p:sp>
      <p:sp>
        <p:nvSpPr>
          <p:cNvPr id="29" name="Rectangle 28"/>
          <p:cNvSpPr/>
          <p:nvPr/>
        </p:nvSpPr>
        <p:spPr>
          <a:xfrm>
            <a:off x="731520" y="3090672"/>
            <a:ext cx="7498079"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3090672"/>
            <a:ext cx="2926080" cy="365760"/>
          </a:xfrm>
          <a:prstGeom prst="rect">
            <a:avLst/>
          </a:prstGeom>
          <a:noFill/>
        </p:spPr>
        <p:txBody>
          <a:bodyPr wrap="square">
            <a:spAutoFit/>
          </a:bodyPr>
          <a:lstStyle/>
          <a:p>
            <a:pPr algn="l">
              <a:defRPr sz="1200" b="0">
                <a:solidFill>
                  <a:srgbClr val="333333"/>
                </a:solidFill>
              </a:defRPr>
            </a:pPr>
            <a:r>
              <a:t>Helly Hansen</a:t>
            </a:r>
          </a:p>
        </p:txBody>
      </p:sp>
      <p:sp>
        <p:nvSpPr>
          <p:cNvPr id="31" name="TextBox 30"/>
          <p:cNvSpPr txBox="1"/>
          <p:nvPr/>
        </p:nvSpPr>
        <p:spPr>
          <a:xfrm>
            <a:off x="3657600" y="3090672"/>
            <a:ext cx="1645920" cy="365760"/>
          </a:xfrm>
          <a:prstGeom prst="rect">
            <a:avLst/>
          </a:prstGeom>
          <a:noFill/>
        </p:spPr>
        <p:txBody>
          <a:bodyPr wrap="square">
            <a:spAutoFit/>
          </a:bodyPr>
          <a:lstStyle/>
          <a:p>
            <a:pPr algn="l">
              <a:defRPr sz="1200" b="0">
                <a:solidFill>
                  <a:srgbClr val="333333"/>
                </a:solidFill>
              </a:defRPr>
            </a:pPr>
            <a:r>
              <a:t>$1.0B</a:t>
            </a:r>
          </a:p>
        </p:txBody>
      </p:sp>
      <p:sp>
        <p:nvSpPr>
          <p:cNvPr id="32" name="TextBox 31"/>
          <p:cNvSpPr txBox="1"/>
          <p:nvPr/>
        </p:nvSpPr>
        <p:spPr>
          <a:xfrm>
            <a:off x="5303520" y="3090672"/>
            <a:ext cx="1097280" cy="365760"/>
          </a:xfrm>
          <a:prstGeom prst="rect">
            <a:avLst/>
          </a:prstGeom>
          <a:noFill/>
        </p:spPr>
        <p:txBody>
          <a:bodyPr wrap="square">
            <a:spAutoFit/>
          </a:bodyPr>
          <a:lstStyle/>
          <a:p>
            <a:pPr algn="l">
              <a:defRPr sz="1200" b="0">
                <a:solidFill>
                  <a:srgbClr val="333333"/>
                </a:solidFill>
              </a:defRPr>
            </a:pPr>
            <a:r>
              <a:t>65+</a:t>
            </a:r>
          </a:p>
        </p:txBody>
      </p:sp>
      <p:sp>
        <p:nvSpPr>
          <p:cNvPr id="33" name="TextBox 32"/>
          <p:cNvSpPr txBox="1"/>
          <p:nvPr/>
        </p:nvSpPr>
        <p:spPr>
          <a:xfrm>
            <a:off x="6400800" y="3090672"/>
            <a:ext cx="1828800" cy="365760"/>
          </a:xfrm>
          <a:prstGeom prst="rect">
            <a:avLst/>
          </a:prstGeom>
          <a:noFill/>
        </p:spPr>
        <p:txBody>
          <a:bodyPr wrap="square">
            <a:spAutoFit/>
          </a:bodyPr>
          <a:lstStyle/>
          <a:p>
            <a:pPr algn="l">
              <a:defRPr sz="1200" b="0">
                <a:solidFill>
                  <a:srgbClr val="333333"/>
                </a:solidFill>
              </a:defRPr>
            </a:pPr>
            <a:r>
              <a:t>N/A</a:t>
            </a:r>
          </a:p>
        </p:txBody>
      </p:sp>
      <p:sp>
        <p:nvSpPr>
          <p:cNvPr id="34" name="Rectangle 33"/>
          <p:cNvSpPr/>
          <p:nvPr/>
        </p:nvSpPr>
        <p:spPr>
          <a:xfrm>
            <a:off x="731520" y="3419856"/>
            <a:ext cx="7498079" cy="38404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 y="3419856"/>
            <a:ext cx="2926080" cy="365760"/>
          </a:xfrm>
          <a:prstGeom prst="rect">
            <a:avLst/>
          </a:prstGeom>
          <a:noFill/>
        </p:spPr>
        <p:txBody>
          <a:bodyPr wrap="square">
            <a:spAutoFit/>
          </a:bodyPr>
          <a:lstStyle/>
          <a:p>
            <a:pPr algn="l">
              <a:defRPr sz="1200" b="0">
                <a:solidFill>
                  <a:srgbClr val="333333"/>
                </a:solidFill>
              </a:defRPr>
            </a:pPr>
            <a:r>
              <a:t>Party City Canada</a:t>
            </a:r>
          </a:p>
        </p:txBody>
      </p:sp>
      <p:sp>
        <p:nvSpPr>
          <p:cNvPr id="36" name="TextBox 35"/>
          <p:cNvSpPr txBox="1"/>
          <p:nvPr/>
        </p:nvSpPr>
        <p:spPr>
          <a:xfrm>
            <a:off x="3657600" y="3419856"/>
            <a:ext cx="1645920" cy="365760"/>
          </a:xfrm>
          <a:prstGeom prst="rect">
            <a:avLst/>
          </a:prstGeom>
          <a:noFill/>
        </p:spPr>
        <p:txBody>
          <a:bodyPr wrap="square">
            <a:spAutoFit/>
          </a:bodyPr>
          <a:lstStyle/>
          <a:p>
            <a:pPr algn="l">
              <a:defRPr sz="1200" b="0">
                <a:solidFill>
                  <a:srgbClr val="333333"/>
                </a:solidFill>
              </a:defRPr>
            </a:pPr>
            <a:r>
              <a:t>$175M</a:t>
            </a:r>
          </a:p>
        </p:txBody>
      </p:sp>
      <p:sp>
        <p:nvSpPr>
          <p:cNvPr id="37" name="TextBox 36"/>
          <p:cNvSpPr txBox="1"/>
          <p:nvPr/>
        </p:nvSpPr>
        <p:spPr>
          <a:xfrm>
            <a:off x="5303520" y="3419856"/>
            <a:ext cx="1097280" cy="365760"/>
          </a:xfrm>
          <a:prstGeom prst="rect">
            <a:avLst/>
          </a:prstGeom>
          <a:noFill/>
        </p:spPr>
        <p:txBody>
          <a:bodyPr wrap="square">
            <a:spAutoFit/>
          </a:bodyPr>
          <a:lstStyle/>
          <a:p>
            <a:pPr algn="l">
              <a:defRPr sz="1200" b="0">
                <a:solidFill>
                  <a:srgbClr val="333333"/>
                </a:solidFill>
              </a:defRPr>
            </a:pPr>
            <a:r>
              <a:t>69+</a:t>
            </a:r>
          </a:p>
        </p:txBody>
      </p:sp>
      <p:sp>
        <p:nvSpPr>
          <p:cNvPr id="38" name="TextBox 37"/>
          <p:cNvSpPr txBox="1"/>
          <p:nvPr/>
        </p:nvSpPr>
        <p:spPr>
          <a:xfrm>
            <a:off x="6400800" y="3419856"/>
            <a:ext cx="1828800" cy="365760"/>
          </a:xfrm>
          <a:prstGeom prst="rect">
            <a:avLst/>
          </a:prstGeom>
          <a:noFill/>
        </p:spPr>
        <p:txBody>
          <a:bodyPr wrap="square">
            <a:spAutoFit/>
          </a:bodyPr>
          <a:lstStyle/>
          <a:p>
            <a:pPr algn="l">
              <a:defRPr sz="1200" b="0">
                <a:solidFill>
                  <a:srgbClr val="333333"/>
                </a:solidFill>
              </a:defRPr>
            </a:pPr>
            <a:r>
              <a:t>$30-50</a:t>
            </a:r>
          </a:p>
        </p:txBody>
      </p:sp>
      <p:sp>
        <p:nvSpPr>
          <p:cNvPr id="39" name="Rectangle 38"/>
          <p:cNvSpPr/>
          <p:nvPr/>
        </p:nvSpPr>
        <p:spPr>
          <a:xfrm>
            <a:off x="731520" y="3749039"/>
            <a:ext cx="7498079"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3749039"/>
            <a:ext cx="2926080" cy="365760"/>
          </a:xfrm>
          <a:prstGeom prst="rect">
            <a:avLst/>
          </a:prstGeom>
          <a:noFill/>
        </p:spPr>
        <p:txBody>
          <a:bodyPr wrap="square">
            <a:spAutoFit/>
          </a:bodyPr>
          <a:lstStyle/>
          <a:p>
            <a:pPr algn="l">
              <a:defRPr sz="1200" b="0">
                <a:solidFill>
                  <a:srgbClr val="333333"/>
                </a:solidFill>
              </a:defRPr>
            </a:pPr>
            <a:r>
              <a:t>PartSource</a:t>
            </a:r>
          </a:p>
        </p:txBody>
      </p:sp>
      <p:sp>
        <p:nvSpPr>
          <p:cNvPr id="41" name="TextBox 40"/>
          <p:cNvSpPr txBox="1"/>
          <p:nvPr/>
        </p:nvSpPr>
        <p:spPr>
          <a:xfrm>
            <a:off x="3657600" y="3749039"/>
            <a:ext cx="1645920" cy="365760"/>
          </a:xfrm>
          <a:prstGeom prst="rect">
            <a:avLst/>
          </a:prstGeom>
          <a:noFill/>
        </p:spPr>
        <p:txBody>
          <a:bodyPr wrap="square">
            <a:spAutoFit/>
          </a:bodyPr>
          <a:lstStyle/>
          <a:p>
            <a:pPr algn="l">
              <a:defRPr sz="1200" b="0">
                <a:solidFill>
                  <a:srgbClr val="333333"/>
                </a:solidFill>
              </a:defRPr>
            </a:pPr>
            <a:r>
              <a:t>$76M</a:t>
            </a:r>
          </a:p>
        </p:txBody>
      </p:sp>
      <p:sp>
        <p:nvSpPr>
          <p:cNvPr id="42" name="TextBox 41"/>
          <p:cNvSpPr txBox="1"/>
          <p:nvPr/>
        </p:nvSpPr>
        <p:spPr>
          <a:xfrm>
            <a:off x="5303520" y="3749039"/>
            <a:ext cx="1097280" cy="365760"/>
          </a:xfrm>
          <a:prstGeom prst="rect">
            <a:avLst/>
          </a:prstGeom>
          <a:noFill/>
        </p:spPr>
        <p:txBody>
          <a:bodyPr wrap="square">
            <a:spAutoFit/>
          </a:bodyPr>
          <a:lstStyle/>
          <a:p>
            <a:pPr algn="l">
              <a:defRPr sz="1200" b="0">
                <a:solidFill>
                  <a:srgbClr val="333333"/>
                </a:solidFill>
              </a:defRPr>
            </a:pPr>
            <a:r>
              <a:t>~95</a:t>
            </a:r>
          </a:p>
        </p:txBody>
      </p:sp>
      <p:sp>
        <p:nvSpPr>
          <p:cNvPr id="43" name="TextBox 42"/>
          <p:cNvSpPr txBox="1"/>
          <p:nvPr/>
        </p:nvSpPr>
        <p:spPr>
          <a:xfrm>
            <a:off x="6400800" y="3749039"/>
            <a:ext cx="1828800" cy="365760"/>
          </a:xfrm>
          <a:prstGeom prst="rect">
            <a:avLst/>
          </a:prstGeom>
          <a:noFill/>
        </p:spPr>
        <p:txBody>
          <a:bodyPr wrap="square">
            <a:spAutoFit/>
          </a:bodyPr>
          <a:lstStyle/>
          <a:p>
            <a:pPr algn="l">
              <a:defRPr sz="1200" b="0">
                <a:solidFill>
                  <a:srgbClr val="333333"/>
                </a:solidFill>
              </a:defRPr>
            </a:pPr>
            <a:r>
              <a:t>$50-80</a:t>
            </a:r>
          </a:p>
        </p:txBody>
      </p:sp>
      <p:sp>
        <p:nvSpPr>
          <p:cNvPr id="44" name="Rectangle 43"/>
          <p:cNvSpPr/>
          <p:nvPr/>
        </p:nvSpPr>
        <p:spPr>
          <a:xfrm>
            <a:off x="731520" y="4078224"/>
            <a:ext cx="7498079" cy="38404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31520" y="4078224"/>
            <a:ext cx="2926080" cy="365760"/>
          </a:xfrm>
          <a:prstGeom prst="rect">
            <a:avLst/>
          </a:prstGeom>
          <a:noFill/>
        </p:spPr>
        <p:txBody>
          <a:bodyPr wrap="square">
            <a:spAutoFit/>
          </a:bodyPr>
          <a:lstStyle/>
          <a:p>
            <a:pPr algn="l">
              <a:defRPr sz="1200" b="0">
                <a:solidFill>
                  <a:srgbClr val="333333"/>
                </a:solidFill>
              </a:defRPr>
            </a:pPr>
            <a:r>
              <a:t>CT Financial Services (CT Bank)</a:t>
            </a:r>
          </a:p>
        </p:txBody>
      </p:sp>
      <p:sp>
        <p:nvSpPr>
          <p:cNvPr id="46" name="TextBox 45"/>
          <p:cNvSpPr txBox="1"/>
          <p:nvPr/>
        </p:nvSpPr>
        <p:spPr>
          <a:xfrm>
            <a:off x="3657600" y="4078224"/>
            <a:ext cx="1645920" cy="365760"/>
          </a:xfrm>
          <a:prstGeom prst="rect">
            <a:avLst/>
          </a:prstGeom>
          <a:noFill/>
        </p:spPr>
        <p:txBody>
          <a:bodyPr wrap="square">
            <a:spAutoFit/>
          </a:bodyPr>
          <a:lstStyle/>
          <a:p>
            <a:pPr algn="l">
              <a:defRPr sz="1200" b="0">
                <a:solidFill>
                  <a:srgbClr val="333333"/>
                </a:solidFill>
              </a:defRPr>
            </a:pPr>
            <a:r>
              <a:t>$1.9B</a:t>
            </a:r>
          </a:p>
        </p:txBody>
      </p:sp>
      <p:sp>
        <p:nvSpPr>
          <p:cNvPr id="47" name="TextBox 46"/>
          <p:cNvSpPr txBox="1"/>
          <p:nvPr/>
        </p:nvSpPr>
        <p:spPr>
          <a:xfrm>
            <a:off x="5303520" y="4078224"/>
            <a:ext cx="1097280" cy="365760"/>
          </a:xfrm>
          <a:prstGeom prst="rect">
            <a:avLst/>
          </a:prstGeom>
          <a:noFill/>
        </p:spPr>
        <p:txBody>
          <a:bodyPr wrap="square">
            <a:spAutoFit/>
          </a:bodyPr>
          <a:lstStyle/>
          <a:p>
            <a:pPr algn="l">
              <a:defRPr sz="1200" b="0">
                <a:solidFill>
                  <a:srgbClr val="333333"/>
                </a:solidFill>
              </a:defRPr>
            </a:pPr>
            <a:r>
              <a:t>—</a:t>
            </a:r>
          </a:p>
        </p:txBody>
      </p:sp>
      <p:sp>
        <p:nvSpPr>
          <p:cNvPr id="48" name="TextBox 47"/>
          <p:cNvSpPr txBox="1"/>
          <p:nvPr/>
        </p:nvSpPr>
        <p:spPr>
          <a:xfrm>
            <a:off x="6400800" y="4078224"/>
            <a:ext cx="1828800" cy="365760"/>
          </a:xfrm>
          <a:prstGeom prst="rect">
            <a:avLst/>
          </a:prstGeom>
          <a:noFill/>
        </p:spPr>
        <p:txBody>
          <a:bodyPr wrap="square">
            <a:spAutoFit/>
          </a:bodyPr>
          <a:lstStyle/>
          <a:p>
            <a:pPr algn="l">
              <a:defRPr sz="1200" b="0">
                <a:solidFill>
                  <a:srgbClr val="333333"/>
                </a:solidFill>
              </a:defRPr>
            </a:pPr>
            <a:r>
              <a:t>—</a:t>
            </a:r>
          </a:p>
        </p:txBody>
      </p:sp>
      <p:sp>
        <p:nvSpPr>
          <p:cNvPr id="49" name="TextBox 48"/>
          <p:cNvSpPr txBox="1"/>
          <p:nvPr/>
        </p:nvSpPr>
        <p:spPr>
          <a:xfrm>
            <a:off x="8686800" y="1188720"/>
            <a:ext cx="3200400" cy="457200"/>
          </a:xfrm>
          <a:prstGeom prst="rect">
            <a:avLst/>
          </a:prstGeom>
          <a:noFill/>
        </p:spPr>
        <p:txBody>
          <a:bodyPr wrap="square">
            <a:spAutoFit/>
          </a:bodyPr>
          <a:lstStyle/>
          <a:p>
            <a:pPr algn="l">
              <a:defRPr sz="2000" b="1">
                <a:solidFill>
                  <a:srgbClr val="333333"/>
                </a:solidFill>
              </a:defRPr>
            </a:pPr>
            <a:r>
              <a:t>Digital &amp; Loyalty</a:t>
            </a:r>
          </a:p>
        </p:txBody>
      </p:sp>
      <p:sp>
        <p:nvSpPr>
          <p:cNvPr id="50" name="TextBox 49"/>
          <p:cNvSpPr txBox="1"/>
          <p:nvPr/>
        </p:nvSpPr>
        <p:spPr>
          <a:xfrm>
            <a:off x="8686800" y="1737360"/>
            <a:ext cx="1188720" cy="457200"/>
          </a:xfrm>
          <a:prstGeom prst="rect">
            <a:avLst/>
          </a:prstGeom>
          <a:noFill/>
        </p:spPr>
        <p:txBody>
          <a:bodyPr wrap="square">
            <a:spAutoFit/>
          </a:bodyPr>
          <a:lstStyle/>
          <a:p>
            <a:pPr algn="l">
              <a:defRPr sz="2400" b="1">
                <a:solidFill>
                  <a:srgbClr val="D52B1E"/>
                </a:solidFill>
              </a:defRPr>
            </a:pPr>
            <a:r>
              <a:t>16M</a:t>
            </a:r>
          </a:p>
        </p:txBody>
      </p:sp>
      <p:sp>
        <p:nvSpPr>
          <p:cNvPr id="51" name="TextBox 50"/>
          <p:cNvSpPr txBox="1"/>
          <p:nvPr/>
        </p:nvSpPr>
        <p:spPr>
          <a:xfrm>
            <a:off x="9875520" y="1737360"/>
            <a:ext cx="2011680" cy="731520"/>
          </a:xfrm>
          <a:prstGeom prst="rect">
            <a:avLst/>
          </a:prstGeom>
          <a:noFill/>
        </p:spPr>
        <p:txBody>
          <a:bodyPr wrap="square">
            <a:spAutoFit/>
          </a:bodyPr>
          <a:lstStyle/>
          <a:p>
            <a:pPr algn="l">
              <a:defRPr sz="1200" b="0">
                <a:solidFill>
                  <a:srgbClr val="666666"/>
                </a:solidFill>
              </a:defRPr>
            </a:pPr>
            <a:r>
              <a:t>Triangle Rewards</a:t>
            </a:r>
            <a:br/>
            <a:r>
              <a:t>members</a:t>
            </a:r>
          </a:p>
        </p:txBody>
      </p:sp>
      <p:sp>
        <p:nvSpPr>
          <p:cNvPr id="52" name="TextBox 51"/>
          <p:cNvSpPr txBox="1"/>
          <p:nvPr/>
        </p:nvSpPr>
        <p:spPr>
          <a:xfrm>
            <a:off x="8686800" y="2651760"/>
            <a:ext cx="1188720" cy="457200"/>
          </a:xfrm>
          <a:prstGeom prst="rect">
            <a:avLst/>
          </a:prstGeom>
          <a:noFill/>
        </p:spPr>
        <p:txBody>
          <a:bodyPr wrap="square">
            <a:spAutoFit/>
          </a:bodyPr>
          <a:lstStyle/>
          <a:p>
            <a:pPr algn="l">
              <a:defRPr sz="2400" b="1">
                <a:solidFill>
                  <a:srgbClr val="D52B1E"/>
                </a:solidFill>
              </a:defRPr>
            </a:pPr>
            <a:r>
              <a:t>65-70%</a:t>
            </a:r>
          </a:p>
        </p:txBody>
      </p:sp>
      <p:sp>
        <p:nvSpPr>
          <p:cNvPr id="53" name="TextBox 52"/>
          <p:cNvSpPr txBox="1"/>
          <p:nvPr/>
        </p:nvSpPr>
        <p:spPr>
          <a:xfrm>
            <a:off x="9875520" y="2651760"/>
            <a:ext cx="2011680" cy="731520"/>
          </a:xfrm>
          <a:prstGeom prst="rect">
            <a:avLst/>
          </a:prstGeom>
          <a:noFill/>
        </p:spPr>
        <p:txBody>
          <a:bodyPr wrap="square">
            <a:spAutoFit/>
          </a:bodyPr>
          <a:lstStyle/>
          <a:p>
            <a:pPr algn="l">
              <a:defRPr sz="1200" b="0">
                <a:solidFill>
                  <a:srgbClr val="666666"/>
                </a:solidFill>
              </a:defRPr>
            </a:pPr>
            <a:r>
              <a:t>Transaction</a:t>
            </a:r>
            <a:br/>
            <a:r>
              <a:t>penetration</a:t>
            </a:r>
          </a:p>
        </p:txBody>
      </p:sp>
      <p:sp>
        <p:nvSpPr>
          <p:cNvPr id="54" name="TextBox 53"/>
          <p:cNvSpPr txBox="1"/>
          <p:nvPr/>
        </p:nvSpPr>
        <p:spPr>
          <a:xfrm>
            <a:off x="8686800" y="3566160"/>
            <a:ext cx="1188720" cy="457200"/>
          </a:xfrm>
          <a:prstGeom prst="rect">
            <a:avLst/>
          </a:prstGeom>
          <a:noFill/>
        </p:spPr>
        <p:txBody>
          <a:bodyPr wrap="square">
            <a:spAutoFit/>
          </a:bodyPr>
          <a:lstStyle/>
          <a:p>
            <a:pPr algn="l">
              <a:defRPr sz="2400" b="1">
                <a:solidFill>
                  <a:srgbClr val="D52B1E"/>
                </a:solidFill>
              </a:defRPr>
            </a:pPr>
            <a:r>
              <a:t>10M+</a:t>
            </a:r>
          </a:p>
        </p:txBody>
      </p:sp>
      <p:sp>
        <p:nvSpPr>
          <p:cNvPr id="55" name="TextBox 54"/>
          <p:cNvSpPr txBox="1"/>
          <p:nvPr/>
        </p:nvSpPr>
        <p:spPr>
          <a:xfrm>
            <a:off x="9875520" y="3566160"/>
            <a:ext cx="2011680" cy="731520"/>
          </a:xfrm>
          <a:prstGeom prst="rect">
            <a:avLst/>
          </a:prstGeom>
          <a:noFill/>
        </p:spPr>
        <p:txBody>
          <a:bodyPr wrap="square">
            <a:spAutoFit/>
          </a:bodyPr>
          <a:lstStyle/>
          <a:p>
            <a:pPr algn="l">
              <a:defRPr sz="1200" b="0">
                <a:solidFill>
                  <a:srgbClr val="666666"/>
                </a:solidFill>
              </a:defRPr>
            </a:pPr>
            <a:r>
              <a:t>App downloads</a:t>
            </a:r>
            <a:br/>
            <a:r>
              <a:t>(cumulative)</a:t>
            </a:r>
          </a:p>
        </p:txBody>
      </p:sp>
      <p:sp>
        <p:nvSpPr>
          <p:cNvPr id="56" name="TextBox 55"/>
          <p:cNvSpPr txBox="1"/>
          <p:nvPr/>
        </p:nvSpPr>
        <p:spPr>
          <a:xfrm>
            <a:off x="8686800" y="4480560"/>
            <a:ext cx="1188720" cy="457200"/>
          </a:xfrm>
          <a:prstGeom prst="rect">
            <a:avLst/>
          </a:prstGeom>
          <a:noFill/>
        </p:spPr>
        <p:txBody>
          <a:bodyPr wrap="square">
            <a:spAutoFit/>
          </a:bodyPr>
          <a:lstStyle/>
          <a:p>
            <a:pPr algn="l">
              <a:defRPr sz="2400" b="1">
                <a:solidFill>
                  <a:srgbClr val="D52B1E"/>
                </a:solidFill>
              </a:defRPr>
            </a:pPr>
            <a:r>
              <a:t>$2.2B</a:t>
            </a:r>
          </a:p>
        </p:txBody>
      </p:sp>
      <p:sp>
        <p:nvSpPr>
          <p:cNvPr id="57" name="TextBox 56"/>
          <p:cNvSpPr txBox="1"/>
          <p:nvPr/>
        </p:nvSpPr>
        <p:spPr>
          <a:xfrm>
            <a:off x="9875520" y="4480560"/>
            <a:ext cx="2011680" cy="731520"/>
          </a:xfrm>
          <a:prstGeom prst="rect">
            <a:avLst/>
          </a:prstGeom>
          <a:noFill/>
        </p:spPr>
        <p:txBody>
          <a:bodyPr wrap="square">
            <a:spAutoFit/>
          </a:bodyPr>
          <a:lstStyle/>
          <a:p>
            <a:pPr algn="l">
              <a:defRPr sz="1200" b="0">
                <a:solidFill>
                  <a:srgbClr val="666666"/>
                </a:solidFill>
              </a:defRPr>
            </a:pPr>
            <a:r>
              <a:t>E-commerce</a:t>
            </a:r>
            <a:br/>
            <a:r>
              <a:t>revenue</a:t>
            </a:r>
          </a:p>
        </p:txBody>
      </p:sp>
      <p:sp>
        <p:nvSpPr>
          <p:cNvPr id="58" name="TextBox 57"/>
          <p:cNvSpPr txBox="1"/>
          <p:nvPr/>
        </p:nvSpPr>
        <p:spPr>
          <a:xfrm>
            <a:off x="8686800" y="5394960"/>
            <a:ext cx="1188720" cy="457200"/>
          </a:xfrm>
          <a:prstGeom prst="rect">
            <a:avLst/>
          </a:prstGeom>
          <a:noFill/>
        </p:spPr>
        <p:txBody>
          <a:bodyPr wrap="square">
            <a:spAutoFit/>
          </a:bodyPr>
          <a:lstStyle/>
          <a:p>
            <a:pPr algn="l">
              <a:defRPr sz="2400" b="1">
                <a:solidFill>
                  <a:srgbClr val="D52B1E"/>
                </a:solidFill>
              </a:defRPr>
            </a:pPr>
            <a:r>
              <a:t>14-16%</a:t>
            </a:r>
          </a:p>
        </p:txBody>
      </p:sp>
      <p:sp>
        <p:nvSpPr>
          <p:cNvPr id="59" name="TextBox 58"/>
          <p:cNvSpPr txBox="1"/>
          <p:nvPr/>
        </p:nvSpPr>
        <p:spPr>
          <a:xfrm>
            <a:off x="9875520" y="5394960"/>
            <a:ext cx="2011680" cy="731520"/>
          </a:xfrm>
          <a:prstGeom prst="rect">
            <a:avLst/>
          </a:prstGeom>
          <a:noFill/>
        </p:spPr>
        <p:txBody>
          <a:bodyPr wrap="square">
            <a:spAutoFit/>
          </a:bodyPr>
          <a:lstStyle/>
          <a:p>
            <a:pPr algn="l">
              <a:defRPr sz="1200" b="0">
                <a:solidFill>
                  <a:srgbClr val="666666"/>
                </a:solidFill>
              </a:defRPr>
            </a:pPr>
            <a:r>
              <a:t>Digital share</a:t>
            </a:r>
            <a:br/>
            <a:r>
              <a:t>of retail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640080"/>
          </a:xfrm>
          <a:prstGeom prst="rect">
            <a:avLst/>
          </a:prstGeom>
          <a:noFill/>
        </p:spPr>
        <p:txBody>
          <a:bodyPr wrap="square">
            <a:spAutoFit/>
          </a:bodyPr>
          <a:lstStyle/>
          <a:p>
            <a:pPr algn="l">
              <a:defRPr sz="3200" b="1">
                <a:solidFill>
                  <a:srgbClr val="FFFFFF"/>
                </a:solidFill>
              </a:defRPr>
            </a:pPr>
            <a:r>
              <a:t>Revenue Uplift Model</a:t>
            </a:r>
          </a:p>
        </p:txBody>
      </p:sp>
      <p:sp>
        <p:nvSpPr>
          <p:cNvPr id="4" name="TextBox 3"/>
          <p:cNvSpPr txBox="1"/>
          <p:nvPr/>
        </p:nvSpPr>
        <p:spPr>
          <a:xfrm>
            <a:off x="548640" y="594360"/>
            <a:ext cx="9144000" cy="365760"/>
          </a:xfrm>
          <a:prstGeom prst="rect">
            <a:avLst/>
          </a:prstGeom>
          <a:noFill/>
        </p:spPr>
        <p:txBody>
          <a:bodyPr wrap="square">
            <a:spAutoFit/>
          </a:bodyPr>
          <a:lstStyle/>
          <a:p>
            <a:pPr algn="l">
              <a:defRPr sz="1600" b="0">
                <a:solidFill>
                  <a:srgbClr val="FFCCCC"/>
                </a:solidFill>
              </a:defRPr>
            </a:pPr>
            <a:r>
              <a:t>Four independent revenue channels — $50M to $548M annually</a:t>
            </a:r>
          </a:p>
        </p:txBody>
      </p:sp>
      <p:sp>
        <p:nvSpPr>
          <p:cNvPr id="5" name="TextBox 4"/>
          <p:cNvSpPr txBox="1"/>
          <p:nvPr/>
        </p:nvSpPr>
        <p:spPr>
          <a:xfrm>
            <a:off x="548640" y="6400800"/>
            <a:ext cx="4572000" cy="365760"/>
          </a:xfrm>
          <a:prstGeom prst="rect">
            <a:avLst/>
          </a:prstGeom>
          <a:noFill/>
        </p:spPr>
        <p:txBody>
          <a:bodyPr wrap="square">
            <a:spAutoFit/>
          </a:bodyPr>
          <a:lstStyle/>
          <a:p>
            <a:pPr algn="l">
              <a:defRPr sz="1000" b="0">
                <a:solidFill>
                  <a:srgbClr val="666666"/>
                </a:solidFill>
              </a:defRPr>
            </a:pPr>
            <a:r>
              <a:t>EPAM Systems | Confidential</a:t>
            </a:r>
          </a:p>
        </p:txBody>
      </p:sp>
      <p:sp>
        <p:nvSpPr>
          <p:cNvPr id="6" name="TextBox 5"/>
          <p:cNvSpPr txBox="1"/>
          <p:nvPr/>
        </p:nvSpPr>
        <p:spPr>
          <a:xfrm>
            <a:off x="8229600" y="6400800"/>
            <a:ext cx="3657600" cy="365760"/>
          </a:xfrm>
          <a:prstGeom prst="rect">
            <a:avLst/>
          </a:prstGeom>
          <a:noFill/>
        </p:spPr>
        <p:txBody>
          <a:bodyPr wrap="square">
            <a:spAutoFit/>
          </a:bodyPr>
          <a:lstStyle/>
          <a:p>
            <a:pPr algn="r">
              <a:defRPr sz="1000" b="0">
                <a:solidFill>
                  <a:srgbClr val="666666"/>
                </a:solidFill>
              </a:defRPr>
            </a:pPr>
            <a:r>
              <a:t>CTC Mobile Wishlist — Business Case</a:t>
            </a:r>
          </a:p>
        </p:txBody>
      </p:sp>
      <p:sp>
        <p:nvSpPr>
          <p:cNvPr id="7" name="Rectangle 6"/>
          <p:cNvSpPr/>
          <p:nvPr/>
        </p:nvSpPr>
        <p:spPr>
          <a:xfrm>
            <a:off x="548640" y="1188720"/>
            <a:ext cx="10972800" cy="45720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207008"/>
            <a:ext cx="2743200" cy="411480"/>
          </a:xfrm>
          <a:prstGeom prst="rect">
            <a:avLst/>
          </a:prstGeom>
          <a:noFill/>
        </p:spPr>
        <p:txBody>
          <a:bodyPr wrap="square">
            <a:spAutoFit/>
          </a:bodyPr>
          <a:lstStyle/>
          <a:p>
            <a:pPr algn="l">
              <a:defRPr sz="1400" b="1">
                <a:solidFill>
                  <a:srgbClr val="FFFFFF"/>
                </a:solidFill>
              </a:defRPr>
            </a:pPr>
            <a:r>
              <a:t>Revenue Channel</a:t>
            </a:r>
          </a:p>
        </p:txBody>
      </p:sp>
      <p:sp>
        <p:nvSpPr>
          <p:cNvPr id="9" name="TextBox 8"/>
          <p:cNvSpPr txBox="1"/>
          <p:nvPr/>
        </p:nvSpPr>
        <p:spPr>
          <a:xfrm>
            <a:off x="3474720" y="1207008"/>
            <a:ext cx="2286000" cy="411480"/>
          </a:xfrm>
          <a:prstGeom prst="rect">
            <a:avLst/>
          </a:prstGeom>
          <a:noFill/>
        </p:spPr>
        <p:txBody>
          <a:bodyPr wrap="square">
            <a:spAutoFit/>
          </a:bodyPr>
          <a:lstStyle/>
          <a:p>
            <a:pPr algn="l">
              <a:defRPr sz="1400" b="1">
                <a:solidFill>
                  <a:srgbClr val="FFFFFF"/>
                </a:solidFill>
              </a:defRPr>
            </a:pPr>
            <a:r>
              <a:t>Driver</a:t>
            </a:r>
          </a:p>
        </p:txBody>
      </p:sp>
      <p:sp>
        <p:nvSpPr>
          <p:cNvPr id="10" name="TextBox 9"/>
          <p:cNvSpPr txBox="1"/>
          <p:nvPr/>
        </p:nvSpPr>
        <p:spPr>
          <a:xfrm>
            <a:off x="5943600" y="1207008"/>
            <a:ext cx="1645920" cy="411480"/>
          </a:xfrm>
          <a:prstGeom prst="rect">
            <a:avLst/>
          </a:prstGeom>
          <a:noFill/>
        </p:spPr>
        <p:txBody>
          <a:bodyPr wrap="square">
            <a:spAutoFit/>
          </a:bodyPr>
          <a:lstStyle/>
          <a:p>
            <a:pPr algn="l">
              <a:defRPr sz="1400" b="1">
                <a:solidFill>
                  <a:srgbClr val="FFFFFF"/>
                </a:solidFill>
              </a:defRPr>
            </a:pPr>
            <a:r>
              <a:t>Conservative</a:t>
            </a:r>
          </a:p>
        </p:txBody>
      </p:sp>
      <p:sp>
        <p:nvSpPr>
          <p:cNvPr id="11" name="TextBox 10"/>
          <p:cNvSpPr txBox="1"/>
          <p:nvPr/>
        </p:nvSpPr>
        <p:spPr>
          <a:xfrm>
            <a:off x="7772400" y="1207008"/>
            <a:ext cx="1645920" cy="411480"/>
          </a:xfrm>
          <a:prstGeom prst="rect">
            <a:avLst/>
          </a:prstGeom>
          <a:noFill/>
        </p:spPr>
        <p:txBody>
          <a:bodyPr wrap="square">
            <a:spAutoFit/>
          </a:bodyPr>
          <a:lstStyle/>
          <a:p>
            <a:pPr algn="l">
              <a:defRPr sz="1400" b="1">
                <a:solidFill>
                  <a:srgbClr val="FFFFFF"/>
                </a:solidFill>
              </a:defRPr>
            </a:pPr>
            <a:r>
              <a:t>Moderate</a:t>
            </a:r>
          </a:p>
        </p:txBody>
      </p:sp>
      <p:sp>
        <p:nvSpPr>
          <p:cNvPr id="12" name="TextBox 11"/>
          <p:cNvSpPr txBox="1"/>
          <p:nvPr/>
        </p:nvSpPr>
        <p:spPr>
          <a:xfrm>
            <a:off x="9601200" y="1207008"/>
            <a:ext cx="1645920" cy="411480"/>
          </a:xfrm>
          <a:prstGeom prst="rect">
            <a:avLst/>
          </a:prstGeom>
          <a:noFill/>
        </p:spPr>
        <p:txBody>
          <a:bodyPr wrap="square">
            <a:spAutoFit/>
          </a:bodyPr>
          <a:lstStyle/>
          <a:p>
            <a:pPr algn="l">
              <a:defRPr sz="1400" b="1">
                <a:solidFill>
                  <a:srgbClr val="FFFFFF"/>
                </a:solidFill>
              </a:defRPr>
            </a:pPr>
            <a:r>
              <a:t>Aggressive</a:t>
            </a:r>
          </a:p>
        </p:txBody>
      </p:sp>
      <p:sp>
        <p:nvSpPr>
          <p:cNvPr id="13" name="Rectangle 12"/>
          <p:cNvSpPr/>
          <p:nvPr/>
        </p:nvSpPr>
        <p:spPr>
          <a:xfrm>
            <a:off x="548640" y="1737360"/>
            <a:ext cx="10972800" cy="8686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828800"/>
            <a:ext cx="2743200" cy="731520"/>
          </a:xfrm>
          <a:prstGeom prst="rect">
            <a:avLst/>
          </a:prstGeom>
          <a:noFill/>
        </p:spPr>
        <p:txBody>
          <a:bodyPr wrap="square">
            <a:spAutoFit/>
          </a:bodyPr>
          <a:lstStyle/>
          <a:p>
            <a:pPr algn="l">
              <a:defRPr sz="1500" b="1">
                <a:solidFill>
                  <a:srgbClr val="333333"/>
                </a:solidFill>
              </a:defRPr>
            </a:pPr>
            <a:r>
              <a:t>Direct Wishlist Revenue</a:t>
            </a:r>
          </a:p>
        </p:txBody>
      </p:sp>
      <p:sp>
        <p:nvSpPr>
          <p:cNvPr id="15" name="TextBox 14"/>
          <p:cNvSpPr txBox="1"/>
          <p:nvPr/>
        </p:nvSpPr>
        <p:spPr>
          <a:xfrm>
            <a:off x="3474720" y="1828800"/>
            <a:ext cx="2286000" cy="731520"/>
          </a:xfrm>
          <a:prstGeom prst="rect">
            <a:avLst/>
          </a:prstGeom>
          <a:noFill/>
        </p:spPr>
        <p:txBody>
          <a:bodyPr wrap="square">
            <a:spAutoFit/>
          </a:bodyPr>
          <a:lstStyle/>
          <a:p>
            <a:pPr algn="l">
              <a:defRPr sz="1100" b="0">
                <a:solidFill>
                  <a:srgbClr val="666666"/>
                </a:solidFill>
              </a:defRPr>
            </a:pPr>
            <a:r>
              <a:t>Higher conversion + AOV</a:t>
            </a:r>
            <a:br/>
            <a:r>
              <a:t>from wishlist users</a:t>
            </a:r>
          </a:p>
        </p:txBody>
      </p:sp>
      <p:sp>
        <p:nvSpPr>
          <p:cNvPr id="16" name="TextBox 15"/>
          <p:cNvSpPr txBox="1"/>
          <p:nvPr/>
        </p:nvSpPr>
        <p:spPr>
          <a:xfrm>
            <a:off x="5943600" y="1920240"/>
            <a:ext cx="1645920" cy="457200"/>
          </a:xfrm>
          <a:prstGeom prst="rect">
            <a:avLst/>
          </a:prstGeom>
          <a:noFill/>
        </p:spPr>
        <p:txBody>
          <a:bodyPr wrap="square">
            <a:spAutoFit/>
          </a:bodyPr>
          <a:lstStyle/>
          <a:p>
            <a:pPr algn="ctr">
              <a:defRPr sz="1600" b="0">
                <a:solidFill>
                  <a:srgbClr val="333333"/>
                </a:solidFill>
              </a:defRPr>
            </a:pPr>
            <a:r>
              <a:t>$21.6M</a:t>
            </a:r>
          </a:p>
        </p:txBody>
      </p:sp>
      <p:sp>
        <p:nvSpPr>
          <p:cNvPr id="17" name="TextBox 16"/>
          <p:cNvSpPr txBox="1"/>
          <p:nvPr/>
        </p:nvSpPr>
        <p:spPr>
          <a:xfrm>
            <a:off x="7772400" y="1920240"/>
            <a:ext cx="1645920" cy="457200"/>
          </a:xfrm>
          <a:prstGeom prst="rect">
            <a:avLst/>
          </a:prstGeom>
          <a:noFill/>
        </p:spPr>
        <p:txBody>
          <a:bodyPr wrap="square">
            <a:spAutoFit/>
          </a:bodyPr>
          <a:lstStyle/>
          <a:p>
            <a:pPr algn="ctr">
              <a:defRPr sz="1600" b="1">
                <a:solidFill>
                  <a:srgbClr val="D52B1E"/>
                </a:solidFill>
              </a:defRPr>
            </a:pPr>
            <a:r>
              <a:t>$96.0M</a:t>
            </a:r>
          </a:p>
        </p:txBody>
      </p:sp>
      <p:sp>
        <p:nvSpPr>
          <p:cNvPr id="18" name="TextBox 17"/>
          <p:cNvSpPr txBox="1"/>
          <p:nvPr/>
        </p:nvSpPr>
        <p:spPr>
          <a:xfrm>
            <a:off x="9601200" y="1920240"/>
            <a:ext cx="1645920" cy="457200"/>
          </a:xfrm>
          <a:prstGeom prst="rect">
            <a:avLst/>
          </a:prstGeom>
          <a:noFill/>
        </p:spPr>
        <p:txBody>
          <a:bodyPr wrap="square">
            <a:spAutoFit/>
          </a:bodyPr>
          <a:lstStyle/>
          <a:p>
            <a:pPr algn="ctr">
              <a:defRPr sz="1600" b="0">
                <a:solidFill>
                  <a:srgbClr val="333333"/>
                </a:solidFill>
              </a:defRPr>
            </a:pPr>
            <a:r>
              <a:t>$315.0M</a:t>
            </a:r>
          </a:p>
        </p:txBody>
      </p:sp>
      <p:sp>
        <p:nvSpPr>
          <p:cNvPr id="19" name="Rectangle 18"/>
          <p:cNvSpPr/>
          <p:nvPr/>
        </p:nvSpPr>
        <p:spPr>
          <a:xfrm>
            <a:off x="548640" y="2697480"/>
            <a:ext cx="1097280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788920"/>
            <a:ext cx="2743200" cy="731520"/>
          </a:xfrm>
          <a:prstGeom prst="rect">
            <a:avLst/>
          </a:prstGeom>
          <a:noFill/>
        </p:spPr>
        <p:txBody>
          <a:bodyPr wrap="square">
            <a:spAutoFit/>
          </a:bodyPr>
          <a:lstStyle/>
          <a:p>
            <a:pPr algn="l">
              <a:defRPr sz="1500" b="1">
                <a:solidFill>
                  <a:srgbClr val="333333"/>
                </a:solidFill>
              </a:defRPr>
            </a:pPr>
            <a:r>
              <a:t>Gift Sharing / Fulfillment</a:t>
            </a:r>
          </a:p>
        </p:txBody>
      </p:sp>
      <p:sp>
        <p:nvSpPr>
          <p:cNvPr id="21" name="TextBox 20"/>
          <p:cNvSpPr txBox="1"/>
          <p:nvPr/>
        </p:nvSpPr>
        <p:spPr>
          <a:xfrm>
            <a:off x="3474720" y="2788920"/>
            <a:ext cx="2286000" cy="731520"/>
          </a:xfrm>
          <a:prstGeom prst="rect">
            <a:avLst/>
          </a:prstGeom>
          <a:noFill/>
        </p:spPr>
        <p:txBody>
          <a:bodyPr wrap="square">
            <a:spAutoFit/>
          </a:bodyPr>
          <a:lstStyle/>
          <a:p>
            <a:pPr algn="l">
              <a:defRPr sz="1100" b="0">
                <a:solidFill>
                  <a:srgbClr val="666666"/>
                </a:solidFill>
              </a:defRPr>
            </a:pPr>
            <a:r>
              <a:t>Shared wishlists drive</a:t>
            </a:r>
            <a:br/>
            <a:r>
              <a:t>full-price gift purchases</a:t>
            </a:r>
          </a:p>
        </p:txBody>
      </p:sp>
      <p:sp>
        <p:nvSpPr>
          <p:cNvPr id="22" name="TextBox 21"/>
          <p:cNvSpPr txBox="1"/>
          <p:nvPr/>
        </p:nvSpPr>
        <p:spPr>
          <a:xfrm>
            <a:off x="5943600" y="2880360"/>
            <a:ext cx="1645920" cy="457200"/>
          </a:xfrm>
          <a:prstGeom prst="rect">
            <a:avLst/>
          </a:prstGeom>
          <a:noFill/>
        </p:spPr>
        <p:txBody>
          <a:bodyPr wrap="square">
            <a:spAutoFit/>
          </a:bodyPr>
          <a:lstStyle/>
          <a:p>
            <a:pPr algn="ctr">
              <a:defRPr sz="1600" b="0">
                <a:solidFill>
                  <a:srgbClr val="333333"/>
                </a:solidFill>
              </a:defRPr>
            </a:pPr>
            <a:r>
              <a:t>$10.8M</a:t>
            </a:r>
          </a:p>
        </p:txBody>
      </p:sp>
      <p:sp>
        <p:nvSpPr>
          <p:cNvPr id="23" name="TextBox 22"/>
          <p:cNvSpPr txBox="1"/>
          <p:nvPr/>
        </p:nvSpPr>
        <p:spPr>
          <a:xfrm>
            <a:off x="7772400" y="2880360"/>
            <a:ext cx="1645920" cy="457200"/>
          </a:xfrm>
          <a:prstGeom prst="rect">
            <a:avLst/>
          </a:prstGeom>
          <a:noFill/>
        </p:spPr>
        <p:txBody>
          <a:bodyPr wrap="square">
            <a:spAutoFit/>
          </a:bodyPr>
          <a:lstStyle/>
          <a:p>
            <a:pPr algn="ctr">
              <a:defRPr sz="1600" b="1">
                <a:solidFill>
                  <a:srgbClr val="D52B1E"/>
                </a:solidFill>
              </a:defRPr>
            </a:pPr>
            <a:r>
              <a:t>$45.0M</a:t>
            </a:r>
          </a:p>
        </p:txBody>
      </p:sp>
      <p:sp>
        <p:nvSpPr>
          <p:cNvPr id="24" name="TextBox 23"/>
          <p:cNvSpPr txBox="1"/>
          <p:nvPr/>
        </p:nvSpPr>
        <p:spPr>
          <a:xfrm>
            <a:off x="9601200" y="2880360"/>
            <a:ext cx="1645920" cy="457200"/>
          </a:xfrm>
          <a:prstGeom prst="rect">
            <a:avLst/>
          </a:prstGeom>
          <a:noFill/>
        </p:spPr>
        <p:txBody>
          <a:bodyPr wrap="square">
            <a:spAutoFit/>
          </a:bodyPr>
          <a:lstStyle/>
          <a:p>
            <a:pPr algn="ctr">
              <a:defRPr sz="1600" b="0">
                <a:solidFill>
                  <a:srgbClr val="333333"/>
                </a:solidFill>
              </a:defRPr>
            </a:pPr>
            <a:r>
              <a:t>$140.0M</a:t>
            </a:r>
          </a:p>
        </p:txBody>
      </p:sp>
      <p:sp>
        <p:nvSpPr>
          <p:cNvPr id="25" name="Rectangle 24"/>
          <p:cNvSpPr/>
          <p:nvPr/>
        </p:nvSpPr>
        <p:spPr>
          <a:xfrm>
            <a:off x="548640" y="3657600"/>
            <a:ext cx="10972800" cy="8686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749040"/>
            <a:ext cx="2743200" cy="731520"/>
          </a:xfrm>
          <a:prstGeom prst="rect">
            <a:avLst/>
          </a:prstGeom>
          <a:noFill/>
        </p:spPr>
        <p:txBody>
          <a:bodyPr wrap="square">
            <a:spAutoFit/>
          </a:bodyPr>
          <a:lstStyle/>
          <a:p>
            <a:pPr algn="l">
              <a:defRPr sz="1500" b="1">
                <a:solidFill>
                  <a:srgbClr val="333333"/>
                </a:solidFill>
              </a:defRPr>
            </a:pPr>
            <a:r>
              <a:t>Abandonment Recovery</a:t>
            </a:r>
          </a:p>
        </p:txBody>
      </p:sp>
      <p:sp>
        <p:nvSpPr>
          <p:cNvPr id="27" name="TextBox 26"/>
          <p:cNvSpPr txBox="1"/>
          <p:nvPr/>
        </p:nvSpPr>
        <p:spPr>
          <a:xfrm>
            <a:off x="3474720" y="3749040"/>
            <a:ext cx="2286000" cy="731520"/>
          </a:xfrm>
          <a:prstGeom prst="rect">
            <a:avLst/>
          </a:prstGeom>
          <a:noFill/>
        </p:spPr>
        <p:txBody>
          <a:bodyPr wrap="square">
            <a:spAutoFit/>
          </a:bodyPr>
          <a:lstStyle/>
          <a:p>
            <a:pPr algn="l">
              <a:defRPr sz="1100" b="0">
                <a:solidFill>
                  <a:srgbClr val="666666"/>
                </a:solidFill>
              </a:defRPr>
            </a:pPr>
            <a:r>
              <a:t>Wishlists catch items that</a:t>
            </a:r>
            <a:br/>
            <a:r>
              <a:t>would otherwise be lost</a:t>
            </a:r>
          </a:p>
        </p:txBody>
      </p:sp>
      <p:sp>
        <p:nvSpPr>
          <p:cNvPr id="28" name="TextBox 27"/>
          <p:cNvSpPr txBox="1"/>
          <p:nvPr/>
        </p:nvSpPr>
        <p:spPr>
          <a:xfrm>
            <a:off x="5943600" y="3840480"/>
            <a:ext cx="1645920" cy="457200"/>
          </a:xfrm>
          <a:prstGeom prst="rect">
            <a:avLst/>
          </a:prstGeom>
          <a:noFill/>
        </p:spPr>
        <p:txBody>
          <a:bodyPr wrap="square">
            <a:spAutoFit/>
          </a:bodyPr>
          <a:lstStyle/>
          <a:p>
            <a:pPr algn="ctr">
              <a:defRPr sz="1600" b="0">
                <a:solidFill>
                  <a:srgbClr val="333333"/>
                </a:solidFill>
              </a:defRPr>
            </a:pPr>
            <a:r>
              <a:t>$8.3M</a:t>
            </a:r>
          </a:p>
        </p:txBody>
      </p:sp>
      <p:sp>
        <p:nvSpPr>
          <p:cNvPr id="29" name="TextBox 28"/>
          <p:cNvSpPr txBox="1"/>
          <p:nvPr/>
        </p:nvSpPr>
        <p:spPr>
          <a:xfrm>
            <a:off x="7772400" y="3840480"/>
            <a:ext cx="1645920" cy="457200"/>
          </a:xfrm>
          <a:prstGeom prst="rect">
            <a:avLst/>
          </a:prstGeom>
          <a:noFill/>
        </p:spPr>
        <p:txBody>
          <a:bodyPr wrap="square">
            <a:spAutoFit/>
          </a:bodyPr>
          <a:lstStyle/>
          <a:p>
            <a:pPr algn="ctr">
              <a:defRPr sz="1600" b="1">
                <a:solidFill>
                  <a:srgbClr val="D52B1E"/>
                </a:solidFill>
              </a:defRPr>
            </a:pPr>
            <a:r>
              <a:t>$21.0M</a:t>
            </a:r>
          </a:p>
        </p:txBody>
      </p:sp>
      <p:sp>
        <p:nvSpPr>
          <p:cNvPr id="30" name="TextBox 29"/>
          <p:cNvSpPr txBox="1"/>
          <p:nvPr/>
        </p:nvSpPr>
        <p:spPr>
          <a:xfrm>
            <a:off x="9601200" y="3840480"/>
            <a:ext cx="1645920" cy="457200"/>
          </a:xfrm>
          <a:prstGeom prst="rect">
            <a:avLst/>
          </a:prstGeom>
          <a:noFill/>
        </p:spPr>
        <p:txBody>
          <a:bodyPr wrap="square">
            <a:spAutoFit/>
          </a:bodyPr>
          <a:lstStyle/>
          <a:p>
            <a:pPr algn="ctr">
              <a:defRPr sz="1600" b="0">
                <a:solidFill>
                  <a:srgbClr val="333333"/>
                </a:solidFill>
              </a:defRPr>
            </a:pPr>
            <a:r>
              <a:t>$39.0M</a:t>
            </a:r>
          </a:p>
        </p:txBody>
      </p:sp>
      <p:sp>
        <p:nvSpPr>
          <p:cNvPr id="31" name="Rectangle 30"/>
          <p:cNvSpPr/>
          <p:nvPr/>
        </p:nvSpPr>
        <p:spPr>
          <a:xfrm>
            <a:off x="548640" y="4617720"/>
            <a:ext cx="1097280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4709160"/>
            <a:ext cx="2743200" cy="731520"/>
          </a:xfrm>
          <a:prstGeom prst="rect">
            <a:avLst/>
          </a:prstGeom>
          <a:noFill/>
        </p:spPr>
        <p:txBody>
          <a:bodyPr wrap="square">
            <a:spAutoFit/>
          </a:bodyPr>
          <a:lstStyle/>
          <a:p>
            <a:pPr algn="l">
              <a:defRPr sz="1500" b="1">
                <a:solidFill>
                  <a:srgbClr val="333333"/>
                </a:solidFill>
              </a:defRPr>
            </a:pPr>
            <a:r>
              <a:t>Re-engagement Alerts</a:t>
            </a:r>
          </a:p>
        </p:txBody>
      </p:sp>
      <p:sp>
        <p:nvSpPr>
          <p:cNvPr id="33" name="TextBox 32"/>
          <p:cNvSpPr txBox="1"/>
          <p:nvPr/>
        </p:nvSpPr>
        <p:spPr>
          <a:xfrm>
            <a:off x="3474720" y="4709160"/>
            <a:ext cx="2286000" cy="731520"/>
          </a:xfrm>
          <a:prstGeom prst="rect">
            <a:avLst/>
          </a:prstGeom>
          <a:noFill/>
        </p:spPr>
        <p:txBody>
          <a:bodyPr wrap="square">
            <a:spAutoFit/>
          </a:bodyPr>
          <a:lstStyle/>
          <a:p>
            <a:pPr algn="l">
              <a:defRPr sz="1100" b="0">
                <a:solidFill>
                  <a:srgbClr val="666666"/>
                </a:solidFill>
              </a:defRPr>
            </a:pPr>
            <a:r>
              <a:t>Price-drop / back-in-stock</a:t>
            </a:r>
            <a:br/>
            <a:r>
              <a:t>on wishlisted items</a:t>
            </a:r>
          </a:p>
        </p:txBody>
      </p:sp>
      <p:sp>
        <p:nvSpPr>
          <p:cNvPr id="34" name="TextBox 33"/>
          <p:cNvSpPr txBox="1"/>
          <p:nvPr/>
        </p:nvSpPr>
        <p:spPr>
          <a:xfrm>
            <a:off x="5943600" y="4800600"/>
            <a:ext cx="1645920" cy="457200"/>
          </a:xfrm>
          <a:prstGeom prst="rect">
            <a:avLst/>
          </a:prstGeom>
          <a:noFill/>
        </p:spPr>
        <p:txBody>
          <a:bodyPr wrap="square">
            <a:spAutoFit/>
          </a:bodyPr>
          <a:lstStyle/>
          <a:p>
            <a:pPr algn="ctr">
              <a:defRPr sz="1600" b="0">
                <a:solidFill>
                  <a:srgbClr val="333333"/>
                </a:solidFill>
              </a:defRPr>
            </a:pPr>
            <a:r>
              <a:t>$10.0M</a:t>
            </a:r>
          </a:p>
        </p:txBody>
      </p:sp>
      <p:sp>
        <p:nvSpPr>
          <p:cNvPr id="35" name="TextBox 34"/>
          <p:cNvSpPr txBox="1"/>
          <p:nvPr/>
        </p:nvSpPr>
        <p:spPr>
          <a:xfrm>
            <a:off x="7772400" y="4800600"/>
            <a:ext cx="1645920" cy="457200"/>
          </a:xfrm>
          <a:prstGeom prst="rect">
            <a:avLst/>
          </a:prstGeom>
          <a:noFill/>
        </p:spPr>
        <p:txBody>
          <a:bodyPr wrap="square">
            <a:spAutoFit/>
          </a:bodyPr>
          <a:lstStyle/>
          <a:p>
            <a:pPr algn="ctr">
              <a:defRPr sz="1600" b="1">
                <a:solidFill>
                  <a:srgbClr val="D52B1E"/>
                </a:solidFill>
              </a:defRPr>
            </a:pPr>
            <a:r>
              <a:t>$27.5M</a:t>
            </a:r>
          </a:p>
        </p:txBody>
      </p:sp>
      <p:sp>
        <p:nvSpPr>
          <p:cNvPr id="36" name="TextBox 35"/>
          <p:cNvSpPr txBox="1"/>
          <p:nvPr/>
        </p:nvSpPr>
        <p:spPr>
          <a:xfrm>
            <a:off x="9601200" y="4800600"/>
            <a:ext cx="1645920" cy="457200"/>
          </a:xfrm>
          <a:prstGeom prst="rect">
            <a:avLst/>
          </a:prstGeom>
          <a:noFill/>
        </p:spPr>
        <p:txBody>
          <a:bodyPr wrap="square">
            <a:spAutoFit/>
          </a:bodyPr>
          <a:lstStyle/>
          <a:p>
            <a:pPr algn="ctr">
              <a:defRPr sz="1600" b="0">
                <a:solidFill>
                  <a:srgbClr val="333333"/>
                </a:solidFill>
              </a:defRPr>
            </a:pPr>
            <a:r>
              <a:t>$54.0M</a:t>
            </a:r>
          </a:p>
        </p:txBody>
      </p:sp>
      <p:sp>
        <p:nvSpPr>
          <p:cNvPr id="37" name="Rectangle 36"/>
          <p:cNvSpPr/>
          <p:nvPr/>
        </p:nvSpPr>
        <p:spPr>
          <a:xfrm>
            <a:off x="548640" y="5577840"/>
            <a:ext cx="10972800" cy="64008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1520" y="5669280"/>
            <a:ext cx="2743200" cy="457200"/>
          </a:xfrm>
          <a:prstGeom prst="rect">
            <a:avLst/>
          </a:prstGeom>
          <a:noFill/>
        </p:spPr>
        <p:txBody>
          <a:bodyPr wrap="square">
            <a:spAutoFit/>
          </a:bodyPr>
          <a:lstStyle/>
          <a:p>
            <a:pPr algn="l">
              <a:defRPr sz="1600" b="1">
                <a:solidFill>
                  <a:srgbClr val="FFFFFF"/>
                </a:solidFill>
              </a:defRPr>
            </a:pPr>
            <a:r>
              <a:t>TOTAL</a:t>
            </a:r>
          </a:p>
        </p:txBody>
      </p:sp>
      <p:sp>
        <p:nvSpPr>
          <p:cNvPr id="39" name="TextBox 38"/>
          <p:cNvSpPr txBox="1"/>
          <p:nvPr/>
        </p:nvSpPr>
        <p:spPr>
          <a:xfrm>
            <a:off x="5943600" y="5669280"/>
            <a:ext cx="1645920" cy="457200"/>
          </a:xfrm>
          <a:prstGeom prst="rect">
            <a:avLst/>
          </a:prstGeom>
          <a:noFill/>
        </p:spPr>
        <p:txBody>
          <a:bodyPr wrap="square">
            <a:spAutoFit/>
          </a:bodyPr>
          <a:lstStyle/>
          <a:p>
            <a:pPr algn="ctr">
              <a:defRPr sz="1600" b="1">
                <a:solidFill>
                  <a:srgbClr val="FFFFFF"/>
                </a:solidFill>
              </a:defRPr>
            </a:pPr>
            <a:r>
              <a:t>$50.7M</a:t>
            </a:r>
          </a:p>
        </p:txBody>
      </p:sp>
      <p:sp>
        <p:nvSpPr>
          <p:cNvPr id="40" name="TextBox 39"/>
          <p:cNvSpPr txBox="1"/>
          <p:nvPr/>
        </p:nvSpPr>
        <p:spPr>
          <a:xfrm>
            <a:off x="7772400" y="5669280"/>
            <a:ext cx="1645920" cy="457200"/>
          </a:xfrm>
          <a:prstGeom prst="rect">
            <a:avLst/>
          </a:prstGeom>
          <a:noFill/>
        </p:spPr>
        <p:txBody>
          <a:bodyPr wrap="square">
            <a:spAutoFit/>
          </a:bodyPr>
          <a:lstStyle/>
          <a:p>
            <a:pPr algn="ctr">
              <a:defRPr sz="1800" b="1">
                <a:solidFill>
                  <a:srgbClr val="FFCCCC"/>
                </a:solidFill>
              </a:defRPr>
            </a:pPr>
            <a:r>
              <a:t>$189.5M</a:t>
            </a:r>
          </a:p>
        </p:txBody>
      </p:sp>
      <p:sp>
        <p:nvSpPr>
          <p:cNvPr id="41" name="TextBox 40"/>
          <p:cNvSpPr txBox="1"/>
          <p:nvPr/>
        </p:nvSpPr>
        <p:spPr>
          <a:xfrm>
            <a:off x="9601200" y="5669280"/>
            <a:ext cx="1645920" cy="457200"/>
          </a:xfrm>
          <a:prstGeom prst="rect">
            <a:avLst/>
          </a:prstGeom>
          <a:noFill/>
        </p:spPr>
        <p:txBody>
          <a:bodyPr wrap="square">
            <a:spAutoFit/>
          </a:bodyPr>
          <a:lstStyle/>
          <a:p>
            <a:pPr algn="ctr">
              <a:defRPr sz="1600" b="1">
                <a:solidFill>
                  <a:srgbClr val="FFFFFF"/>
                </a:solidFill>
              </a:defRPr>
            </a:pPr>
            <a:r>
              <a:t>$548.0M</a:t>
            </a:r>
          </a:p>
        </p:txBody>
      </p:sp>
      <p:sp>
        <p:nvSpPr>
          <p:cNvPr id="42" name="TextBox 41"/>
          <p:cNvSpPr txBox="1"/>
          <p:nvPr/>
        </p:nvSpPr>
        <p:spPr>
          <a:xfrm>
            <a:off x="731520" y="6263640"/>
            <a:ext cx="10058400" cy="365760"/>
          </a:xfrm>
          <a:prstGeom prst="rect">
            <a:avLst/>
          </a:prstGeom>
          <a:noFill/>
        </p:spPr>
        <p:txBody>
          <a:bodyPr wrap="square">
            <a:spAutoFit/>
          </a:bodyPr>
          <a:lstStyle/>
          <a:p>
            <a:pPr algn="l">
              <a:defRPr sz="1200" b="0">
                <a:solidFill>
                  <a:srgbClr val="666666"/>
                </a:solidFill>
              </a:defRPr>
            </a:pPr>
            <a:r>
              <a:t>All amounts in CAD. Moderate scenario = ~1.3% lift on $14.5B retail revenue. Assumptions: 25% adoption, +$12 AOV, 8 txn/year.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640080"/>
          </a:xfrm>
          <a:prstGeom prst="rect">
            <a:avLst/>
          </a:prstGeom>
          <a:noFill/>
        </p:spPr>
        <p:txBody>
          <a:bodyPr wrap="square">
            <a:spAutoFit/>
          </a:bodyPr>
          <a:lstStyle/>
          <a:p>
            <a:pPr algn="l">
              <a:defRPr sz="3200" b="1">
                <a:solidFill>
                  <a:srgbClr val="FFFFFF"/>
                </a:solidFill>
              </a:defRPr>
            </a:pPr>
            <a:r>
              <a:t>Revenue Uplift by Banner</a:t>
            </a:r>
          </a:p>
        </p:txBody>
      </p:sp>
      <p:sp>
        <p:nvSpPr>
          <p:cNvPr id="4" name="TextBox 3"/>
          <p:cNvSpPr txBox="1"/>
          <p:nvPr/>
        </p:nvSpPr>
        <p:spPr>
          <a:xfrm>
            <a:off x="548640" y="594360"/>
            <a:ext cx="9144000" cy="365760"/>
          </a:xfrm>
          <a:prstGeom prst="rect">
            <a:avLst/>
          </a:prstGeom>
          <a:noFill/>
        </p:spPr>
        <p:txBody>
          <a:bodyPr wrap="square">
            <a:spAutoFit/>
          </a:bodyPr>
          <a:lstStyle/>
          <a:p>
            <a:pPr algn="l">
              <a:defRPr sz="1600" b="0">
                <a:solidFill>
                  <a:srgbClr val="FFCCCC"/>
                </a:solidFill>
              </a:defRPr>
            </a:pPr>
            <a:r>
              <a:t>Moderate scenario — $189.5M across all CTC banners  |  Revenue data: CTC FY2024 Annual Report &amp; AIF</a:t>
            </a:r>
          </a:p>
        </p:txBody>
      </p:sp>
      <p:sp>
        <p:nvSpPr>
          <p:cNvPr id="5" name="TextBox 4"/>
          <p:cNvSpPr txBox="1"/>
          <p:nvPr/>
        </p:nvSpPr>
        <p:spPr>
          <a:xfrm>
            <a:off x="548640" y="6400800"/>
            <a:ext cx="4572000" cy="365760"/>
          </a:xfrm>
          <a:prstGeom prst="rect">
            <a:avLst/>
          </a:prstGeom>
          <a:noFill/>
        </p:spPr>
        <p:txBody>
          <a:bodyPr wrap="square">
            <a:spAutoFit/>
          </a:bodyPr>
          <a:lstStyle/>
          <a:p>
            <a:pPr algn="l">
              <a:defRPr sz="1000" b="0">
                <a:solidFill>
                  <a:srgbClr val="666666"/>
                </a:solidFill>
              </a:defRPr>
            </a:pPr>
            <a:r>
              <a:t>EPAM Systems | Confidential</a:t>
            </a:r>
          </a:p>
        </p:txBody>
      </p:sp>
      <p:sp>
        <p:nvSpPr>
          <p:cNvPr id="6" name="TextBox 5"/>
          <p:cNvSpPr txBox="1"/>
          <p:nvPr/>
        </p:nvSpPr>
        <p:spPr>
          <a:xfrm>
            <a:off x="8229600" y="6400800"/>
            <a:ext cx="3657600" cy="365760"/>
          </a:xfrm>
          <a:prstGeom prst="rect">
            <a:avLst/>
          </a:prstGeom>
          <a:noFill/>
        </p:spPr>
        <p:txBody>
          <a:bodyPr wrap="square">
            <a:spAutoFit/>
          </a:bodyPr>
          <a:lstStyle/>
          <a:p>
            <a:pPr algn="r">
              <a:defRPr sz="1000" b="0">
                <a:solidFill>
                  <a:srgbClr val="666666"/>
                </a:solidFill>
              </a:defRPr>
            </a:pPr>
            <a:r>
              <a:t>CTC Mobile Wishlist — Business Case</a:t>
            </a:r>
          </a:p>
        </p:txBody>
      </p:sp>
      <p:sp>
        <p:nvSpPr>
          <p:cNvPr id="7" name="TextBox 6"/>
          <p:cNvSpPr txBox="1"/>
          <p:nvPr/>
        </p:nvSpPr>
        <p:spPr>
          <a:xfrm>
            <a:off x="731520" y="1280160"/>
            <a:ext cx="2286000" cy="365760"/>
          </a:xfrm>
          <a:prstGeom prst="rect">
            <a:avLst/>
          </a:prstGeom>
          <a:noFill/>
        </p:spPr>
        <p:txBody>
          <a:bodyPr wrap="square">
            <a:spAutoFit/>
          </a:bodyPr>
          <a:lstStyle/>
          <a:p>
            <a:pPr algn="l">
              <a:defRPr sz="1800" b="1">
                <a:solidFill>
                  <a:srgbClr val="333333"/>
                </a:solidFill>
              </a:defRPr>
            </a:pPr>
            <a:r>
              <a:t>Canadian Tire</a:t>
            </a:r>
          </a:p>
        </p:txBody>
      </p:sp>
      <p:sp>
        <p:nvSpPr>
          <p:cNvPr id="8" name="TextBox 7"/>
          <p:cNvSpPr txBox="1"/>
          <p:nvPr/>
        </p:nvSpPr>
        <p:spPr>
          <a:xfrm>
            <a:off x="731520" y="1645920"/>
            <a:ext cx="2286000" cy="274320"/>
          </a:xfrm>
          <a:prstGeom prst="rect">
            <a:avLst/>
          </a:prstGeom>
          <a:noFill/>
        </p:spPr>
        <p:txBody>
          <a:bodyPr wrap="square">
            <a:spAutoFit/>
          </a:bodyPr>
          <a:lstStyle/>
          <a:p>
            <a:pPr algn="l">
              <a:defRPr sz="1100" b="0">
                <a:solidFill>
                  <a:srgbClr val="666666"/>
                </a:solidFill>
              </a:defRPr>
            </a:pPr>
            <a:r>
              <a:t>Revenue: $9.8B  |  E-comm: ~15%</a:t>
            </a:r>
          </a:p>
        </p:txBody>
      </p:sp>
      <p:sp>
        <p:nvSpPr>
          <p:cNvPr id="9" name="Rectangle 8"/>
          <p:cNvSpPr/>
          <p:nvPr/>
        </p:nvSpPr>
        <p:spPr>
          <a:xfrm>
            <a:off x="3200400" y="1371600"/>
            <a:ext cx="5829300" cy="45720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66860" y="1371600"/>
            <a:ext cx="1371600" cy="457200"/>
          </a:xfrm>
          <a:prstGeom prst="rect">
            <a:avLst/>
          </a:prstGeom>
          <a:noFill/>
        </p:spPr>
        <p:txBody>
          <a:bodyPr wrap="square">
            <a:spAutoFit/>
          </a:bodyPr>
          <a:lstStyle/>
          <a:p>
            <a:pPr algn="l">
              <a:defRPr sz="1800" b="1">
                <a:solidFill>
                  <a:srgbClr val="D52B1E"/>
                </a:solidFill>
              </a:defRPr>
            </a:pPr>
            <a:r>
              <a:t>$112M</a:t>
            </a:r>
          </a:p>
        </p:txBody>
      </p:sp>
      <p:sp>
        <p:nvSpPr>
          <p:cNvPr id="11" name="TextBox 10"/>
          <p:cNvSpPr txBox="1"/>
          <p:nvPr/>
        </p:nvSpPr>
        <p:spPr>
          <a:xfrm>
            <a:off x="3200400" y="1874520"/>
            <a:ext cx="7315200" cy="548640"/>
          </a:xfrm>
          <a:prstGeom prst="rect">
            <a:avLst/>
          </a:prstGeom>
          <a:noFill/>
        </p:spPr>
        <p:txBody>
          <a:bodyPr wrap="square">
            <a:spAutoFit/>
          </a:bodyPr>
          <a:lstStyle/>
          <a:p>
            <a:pPr algn="l">
              <a:defRPr sz="1100" b="0">
                <a:solidFill>
                  <a:srgbClr val="666666"/>
                </a:solidFill>
              </a:defRPr>
            </a:pPr>
            <a:r>
              <a:t>Largest user base, broadest catalog,</a:t>
            </a:r>
            <a:br/>
            <a:r>
              <a:t>strongest barcode scan use case</a:t>
            </a:r>
          </a:p>
        </p:txBody>
      </p:sp>
      <p:sp>
        <p:nvSpPr>
          <p:cNvPr id="12" name="TextBox 11"/>
          <p:cNvSpPr txBox="1"/>
          <p:nvPr/>
        </p:nvSpPr>
        <p:spPr>
          <a:xfrm>
            <a:off x="731520" y="2103120"/>
            <a:ext cx="2286000" cy="365760"/>
          </a:xfrm>
          <a:prstGeom prst="rect">
            <a:avLst/>
          </a:prstGeom>
          <a:noFill/>
        </p:spPr>
        <p:txBody>
          <a:bodyPr wrap="square">
            <a:spAutoFit/>
          </a:bodyPr>
          <a:lstStyle/>
          <a:p>
            <a:pPr algn="l">
              <a:defRPr sz="1800" b="1">
                <a:solidFill>
                  <a:srgbClr val="333333"/>
                </a:solidFill>
              </a:defRPr>
            </a:pPr>
            <a:r>
              <a:t>SportChek</a:t>
            </a:r>
          </a:p>
        </p:txBody>
      </p:sp>
      <p:sp>
        <p:nvSpPr>
          <p:cNvPr id="13" name="TextBox 12"/>
          <p:cNvSpPr txBox="1"/>
          <p:nvPr/>
        </p:nvSpPr>
        <p:spPr>
          <a:xfrm>
            <a:off x="731520" y="2468880"/>
            <a:ext cx="2286000" cy="274320"/>
          </a:xfrm>
          <a:prstGeom prst="rect">
            <a:avLst/>
          </a:prstGeom>
          <a:noFill/>
        </p:spPr>
        <p:txBody>
          <a:bodyPr wrap="square">
            <a:spAutoFit/>
          </a:bodyPr>
          <a:lstStyle/>
          <a:p>
            <a:pPr algn="l">
              <a:defRPr sz="1100" b="0">
                <a:solidFill>
                  <a:srgbClr val="666666"/>
                </a:solidFill>
              </a:defRPr>
            </a:pPr>
            <a:r>
              <a:t>Revenue: $2.2B  |  E-comm: ~18%</a:t>
            </a:r>
          </a:p>
        </p:txBody>
      </p:sp>
      <p:sp>
        <p:nvSpPr>
          <p:cNvPr id="14" name="Rectangle 13"/>
          <p:cNvSpPr/>
          <p:nvPr/>
        </p:nvSpPr>
        <p:spPr>
          <a:xfrm>
            <a:off x="3200400" y="2194560"/>
            <a:ext cx="3108960" cy="45720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2194560"/>
            <a:ext cx="1371600" cy="457200"/>
          </a:xfrm>
          <a:prstGeom prst="rect">
            <a:avLst/>
          </a:prstGeom>
          <a:noFill/>
        </p:spPr>
        <p:txBody>
          <a:bodyPr wrap="square">
            <a:spAutoFit/>
          </a:bodyPr>
          <a:lstStyle/>
          <a:p>
            <a:pPr algn="l">
              <a:defRPr sz="1800" b="1">
                <a:solidFill>
                  <a:srgbClr val="D52B1E"/>
                </a:solidFill>
              </a:defRPr>
            </a:pPr>
            <a:r>
              <a:t>$36M</a:t>
            </a:r>
          </a:p>
        </p:txBody>
      </p:sp>
      <p:sp>
        <p:nvSpPr>
          <p:cNvPr id="16" name="TextBox 15"/>
          <p:cNvSpPr txBox="1"/>
          <p:nvPr/>
        </p:nvSpPr>
        <p:spPr>
          <a:xfrm>
            <a:off x="3200400" y="2697480"/>
            <a:ext cx="7315200" cy="548640"/>
          </a:xfrm>
          <a:prstGeom prst="rect">
            <a:avLst/>
          </a:prstGeom>
          <a:noFill/>
        </p:spPr>
        <p:txBody>
          <a:bodyPr wrap="square">
            <a:spAutoFit/>
          </a:bodyPr>
          <a:lstStyle/>
          <a:p>
            <a:pPr algn="l">
              <a:defRPr sz="1100" b="0">
                <a:solidFill>
                  <a:srgbClr val="666666"/>
                </a:solidFill>
              </a:defRPr>
            </a:pPr>
            <a:r>
              <a:t>Higher AOV, strong gift-giving</a:t>
            </a:r>
            <a:br/>
            <a:r>
              <a:t>category (sports equipment)</a:t>
            </a:r>
          </a:p>
        </p:txBody>
      </p:sp>
      <p:sp>
        <p:nvSpPr>
          <p:cNvPr id="17" name="TextBox 16"/>
          <p:cNvSpPr txBox="1"/>
          <p:nvPr/>
        </p:nvSpPr>
        <p:spPr>
          <a:xfrm>
            <a:off x="731520" y="2926080"/>
            <a:ext cx="2286000" cy="365760"/>
          </a:xfrm>
          <a:prstGeom prst="rect">
            <a:avLst/>
          </a:prstGeom>
          <a:noFill/>
        </p:spPr>
        <p:txBody>
          <a:bodyPr wrap="square">
            <a:spAutoFit/>
          </a:bodyPr>
          <a:lstStyle/>
          <a:p>
            <a:pPr algn="l">
              <a:defRPr sz="1800" b="1">
                <a:solidFill>
                  <a:srgbClr val="333333"/>
                </a:solidFill>
              </a:defRPr>
            </a:pPr>
            <a:r>
              <a:t>Mark's</a:t>
            </a:r>
          </a:p>
        </p:txBody>
      </p:sp>
      <p:sp>
        <p:nvSpPr>
          <p:cNvPr id="18" name="TextBox 17"/>
          <p:cNvSpPr txBox="1"/>
          <p:nvPr/>
        </p:nvSpPr>
        <p:spPr>
          <a:xfrm>
            <a:off x="731520" y="3291840"/>
            <a:ext cx="2286000" cy="274320"/>
          </a:xfrm>
          <a:prstGeom prst="rect">
            <a:avLst/>
          </a:prstGeom>
          <a:noFill/>
        </p:spPr>
        <p:txBody>
          <a:bodyPr wrap="square">
            <a:spAutoFit/>
          </a:bodyPr>
          <a:lstStyle/>
          <a:p>
            <a:pPr algn="l">
              <a:defRPr sz="1100" b="0">
                <a:solidFill>
                  <a:srgbClr val="666666"/>
                </a:solidFill>
              </a:defRPr>
            </a:pPr>
            <a:r>
              <a:t>Revenue: $1.4B  |  E-comm: ~12%</a:t>
            </a:r>
          </a:p>
        </p:txBody>
      </p:sp>
      <p:sp>
        <p:nvSpPr>
          <p:cNvPr id="19" name="Rectangle 18"/>
          <p:cNvSpPr/>
          <p:nvPr/>
        </p:nvSpPr>
        <p:spPr>
          <a:xfrm>
            <a:off x="3200400" y="3017520"/>
            <a:ext cx="1865376" cy="45720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02936" y="3017520"/>
            <a:ext cx="1371600" cy="457200"/>
          </a:xfrm>
          <a:prstGeom prst="rect">
            <a:avLst/>
          </a:prstGeom>
          <a:noFill/>
        </p:spPr>
        <p:txBody>
          <a:bodyPr wrap="square">
            <a:spAutoFit/>
          </a:bodyPr>
          <a:lstStyle/>
          <a:p>
            <a:pPr algn="l">
              <a:defRPr sz="1800" b="1">
                <a:solidFill>
                  <a:srgbClr val="D52B1E"/>
                </a:solidFill>
              </a:defRPr>
            </a:pPr>
            <a:r>
              <a:t>$21M</a:t>
            </a:r>
          </a:p>
        </p:txBody>
      </p:sp>
      <p:sp>
        <p:nvSpPr>
          <p:cNvPr id="21" name="TextBox 20"/>
          <p:cNvSpPr txBox="1"/>
          <p:nvPr/>
        </p:nvSpPr>
        <p:spPr>
          <a:xfrm>
            <a:off x="3200400" y="3520440"/>
            <a:ext cx="7315200" cy="548640"/>
          </a:xfrm>
          <a:prstGeom prst="rect">
            <a:avLst/>
          </a:prstGeom>
          <a:noFill/>
        </p:spPr>
        <p:txBody>
          <a:bodyPr wrap="square">
            <a:spAutoFit/>
          </a:bodyPr>
          <a:lstStyle/>
          <a:p>
            <a:pPr algn="l">
              <a:defRPr sz="1100" b="0">
                <a:solidFill>
                  <a:srgbClr val="666666"/>
                </a:solidFill>
              </a:defRPr>
            </a:pPr>
            <a:r>
              <a:t>Workwear wishlists, seasonal</a:t>
            </a:r>
            <a:br/>
            <a:r>
              <a:t>apparel gifting</a:t>
            </a:r>
          </a:p>
        </p:txBody>
      </p:sp>
      <p:sp>
        <p:nvSpPr>
          <p:cNvPr id="22" name="TextBox 21"/>
          <p:cNvSpPr txBox="1"/>
          <p:nvPr/>
        </p:nvSpPr>
        <p:spPr>
          <a:xfrm>
            <a:off x="731520" y="3749039"/>
            <a:ext cx="2286000" cy="365760"/>
          </a:xfrm>
          <a:prstGeom prst="rect">
            <a:avLst/>
          </a:prstGeom>
          <a:noFill/>
        </p:spPr>
        <p:txBody>
          <a:bodyPr wrap="square">
            <a:spAutoFit/>
          </a:bodyPr>
          <a:lstStyle/>
          <a:p>
            <a:pPr algn="l">
              <a:defRPr sz="1800" b="1">
                <a:solidFill>
                  <a:srgbClr val="333333"/>
                </a:solidFill>
              </a:defRPr>
            </a:pPr>
            <a:r>
              <a:t>Helly Hansen</a:t>
            </a:r>
          </a:p>
        </p:txBody>
      </p:sp>
      <p:sp>
        <p:nvSpPr>
          <p:cNvPr id="23" name="TextBox 22"/>
          <p:cNvSpPr txBox="1"/>
          <p:nvPr/>
        </p:nvSpPr>
        <p:spPr>
          <a:xfrm>
            <a:off x="731520" y="4114799"/>
            <a:ext cx="2286000" cy="274320"/>
          </a:xfrm>
          <a:prstGeom prst="rect">
            <a:avLst/>
          </a:prstGeom>
          <a:noFill/>
        </p:spPr>
        <p:txBody>
          <a:bodyPr wrap="square">
            <a:spAutoFit/>
          </a:bodyPr>
          <a:lstStyle/>
          <a:p>
            <a:pPr algn="l">
              <a:defRPr sz="1100" b="0">
                <a:solidFill>
                  <a:srgbClr val="666666"/>
                </a:solidFill>
              </a:defRPr>
            </a:pPr>
            <a:r>
              <a:t>Revenue: $1.0B  |  E-comm: ~25%</a:t>
            </a:r>
          </a:p>
        </p:txBody>
      </p:sp>
      <p:sp>
        <p:nvSpPr>
          <p:cNvPr id="24" name="Rectangle 23"/>
          <p:cNvSpPr/>
          <p:nvPr/>
        </p:nvSpPr>
        <p:spPr>
          <a:xfrm>
            <a:off x="3200400" y="3840479"/>
            <a:ext cx="1321307" cy="45720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58867" y="3840479"/>
            <a:ext cx="1371600" cy="457200"/>
          </a:xfrm>
          <a:prstGeom prst="rect">
            <a:avLst/>
          </a:prstGeom>
          <a:noFill/>
        </p:spPr>
        <p:txBody>
          <a:bodyPr wrap="square">
            <a:spAutoFit/>
          </a:bodyPr>
          <a:lstStyle/>
          <a:p>
            <a:pPr algn="l">
              <a:defRPr sz="1800" b="1">
                <a:solidFill>
                  <a:srgbClr val="D52B1E"/>
                </a:solidFill>
              </a:defRPr>
            </a:pPr>
            <a:r>
              <a:t>$14M</a:t>
            </a:r>
          </a:p>
        </p:txBody>
      </p:sp>
      <p:sp>
        <p:nvSpPr>
          <p:cNvPr id="26" name="TextBox 25"/>
          <p:cNvSpPr txBox="1"/>
          <p:nvPr/>
        </p:nvSpPr>
        <p:spPr>
          <a:xfrm>
            <a:off x="3200400" y="4343399"/>
            <a:ext cx="7315200" cy="548640"/>
          </a:xfrm>
          <a:prstGeom prst="rect">
            <a:avLst/>
          </a:prstGeom>
          <a:noFill/>
        </p:spPr>
        <p:txBody>
          <a:bodyPr wrap="square">
            <a:spAutoFit/>
          </a:bodyPr>
          <a:lstStyle/>
          <a:p>
            <a:pPr algn="l">
              <a:defRPr sz="1100" b="0">
                <a:solidFill>
                  <a:srgbClr val="666666"/>
                </a:solidFill>
              </a:defRPr>
            </a:pPr>
            <a:r>
              <a:t>Premium outdoor gear, high wishlist</a:t>
            </a:r>
            <a:br/>
            <a:r>
              <a:t>affinity, global DTC</a:t>
            </a:r>
          </a:p>
        </p:txBody>
      </p:sp>
      <p:sp>
        <p:nvSpPr>
          <p:cNvPr id="27" name="TextBox 26"/>
          <p:cNvSpPr txBox="1"/>
          <p:nvPr/>
        </p:nvSpPr>
        <p:spPr>
          <a:xfrm>
            <a:off x="731520" y="4572000"/>
            <a:ext cx="2286000" cy="365760"/>
          </a:xfrm>
          <a:prstGeom prst="rect">
            <a:avLst/>
          </a:prstGeom>
          <a:noFill/>
        </p:spPr>
        <p:txBody>
          <a:bodyPr wrap="square">
            <a:spAutoFit/>
          </a:bodyPr>
          <a:lstStyle/>
          <a:p>
            <a:pPr algn="l">
              <a:defRPr sz="1800" b="1">
                <a:solidFill>
                  <a:srgbClr val="333333"/>
                </a:solidFill>
              </a:defRPr>
            </a:pPr>
            <a:r>
              <a:t>Party City</a:t>
            </a:r>
          </a:p>
        </p:txBody>
      </p:sp>
      <p:sp>
        <p:nvSpPr>
          <p:cNvPr id="28" name="TextBox 27"/>
          <p:cNvSpPr txBox="1"/>
          <p:nvPr/>
        </p:nvSpPr>
        <p:spPr>
          <a:xfrm>
            <a:off x="731520" y="4937760"/>
            <a:ext cx="2286000" cy="274320"/>
          </a:xfrm>
          <a:prstGeom prst="rect">
            <a:avLst/>
          </a:prstGeom>
          <a:noFill/>
        </p:spPr>
        <p:txBody>
          <a:bodyPr wrap="square">
            <a:spAutoFit/>
          </a:bodyPr>
          <a:lstStyle/>
          <a:p>
            <a:pPr algn="l">
              <a:defRPr sz="1100" b="0">
                <a:solidFill>
                  <a:srgbClr val="666666"/>
                </a:solidFill>
              </a:defRPr>
            </a:pPr>
            <a:r>
              <a:t>Revenue: $175M  |  E-comm: ~8%</a:t>
            </a:r>
          </a:p>
        </p:txBody>
      </p:sp>
      <p:sp>
        <p:nvSpPr>
          <p:cNvPr id="29" name="Rectangle 28"/>
          <p:cNvSpPr/>
          <p:nvPr/>
        </p:nvSpPr>
        <p:spPr>
          <a:xfrm>
            <a:off x="3200400" y="4663440"/>
            <a:ext cx="466344" cy="45720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803904" y="4663440"/>
            <a:ext cx="1371600" cy="457200"/>
          </a:xfrm>
          <a:prstGeom prst="rect">
            <a:avLst/>
          </a:prstGeom>
          <a:noFill/>
        </p:spPr>
        <p:txBody>
          <a:bodyPr wrap="square">
            <a:spAutoFit/>
          </a:bodyPr>
          <a:lstStyle/>
          <a:p>
            <a:pPr algn="l">
              <a:defRPr sz="1800" b="1">
                <a:solidFill>
                  <a:srgbClr val="D52B1E"/>
                </a:solidFill>
              </a:defRPr>
            </a:pPr>
            <a:r>
              <a:t>$4M</a:t>
            </a:r>
          </a:p>
        </p:txBody>
      </p:sp>
      <p:sp>
        <p:nvSpPr>
          <p:cNvPr id="31" name="TextBox 30"/>
          <p:cNvSpPr txBox="1"/>
          <p:nvPr/>
        </p:nvSpPr>
        <p:spPr>
          <a:xfrm>
            <a:off x="3200400" y="5166360"/>
            <a:ext cx="7315200" cy="548640"/>
          </a:xfrm>
          <a:prstGeom prst="rect">
            <a:avLst/>
          </a:prstGeom>
          <a:noFill/>
        </p:spPr>
        <p:txBody>
          <a:bodyPr wrap="square">
            <a:spAutoFit/>
          </a:bodyPr>
          <a:lstStyle/>
          <a:p>
            <a:pPr algn="l">
              <a:defRPr sz="1100" b="0">
                <a:solidFill>
                  <a:srgbClr val="666666"/>
                </a:solidFill>
              </a:defRPr>
            </a:pPr>
            <a:r>
              <a:t>Celebration wishlists — birthday &amp;</a:t>
            </a:r>
            <a:br/>
            <a:r>
              <a:t>holiday party planning</a:t>
            </a:r>
          </a:p>
        </p:txBody>
      </p:sp>
      <p:sp>
        <p:nvSpPr>
          <p:cNvPr id="32" name="TextBox 31"/>
          <p:cNvSpPr txBox="1"/>
          <p:nvPr/>
        </p:nvSpPr>
        <p:spPr>
          <a:xfrm>
            <a:off x="731520" y="5394960"/>
            <a:ext cx="2286000" cy="365760"/>
          </a:xfrm>
          <a:prstGeom prst="rect">
            <a:avLst/>
          </a:prstGeom>
          <a:noFill/>
        </p:spPr>
        <p:txBody>
          <a:bodyPr wrap="square">
            <a:spAutoFit/>
          </a:bodyPr>
          <a:lstStyle/>
          <a:p>
            <a:pPr algn="l">
              <a:defRPr sz="1800" b="1">
                <a:solidFill>
                  <a:srgbClr val="333333"/>
                </a:solidFill>
              </a:defRPr>
            </a:pPr>
            <a:r>
              <a:t>PartSource</a:t>
            </a:r>
          </a:p>
        </p:txBody>
      </p:sp>
      <p:sp>
        <p:nvSpPr>
          <p:cNvPr id="33" name="TextBox 32"/>
          <p:cNvSpPr txBox="1"/>
          <p:nvPr/>
        </p:nvSpPr>
        <p:spPr>
          <a:xfrm>
            <a:off x="731520" y="5760720"/>
            <a:ext cx="2286000" cy="274320"/>
          </a:xfrm>
          <a:prstGeom prst="rect">
            <a:avLst/>
          </a:prstGeom>
          <a:noFill/>
        </p:spPr>
        <p:txBody>
          <a:bodyPr wrap="square">
            <a:spAutoFit/>
          </a:bodyPr>
          <a:lstStyle/>
          <a:p>
            <a:pPr algn="l">
              <a:defRPr sz="1100" b="0">
                <a:solidFill>
                  <a:srgbClr val="666666"/>
                </a:solidFill>
              </a:defRPr>
            </a:pPr>
            <a:r>
              <a:t>Revenue: $76M  |  E-comm: ~5%</a:t>
            </a:r>
          </a:p>
        </p:txBody>
      </p:sp>
      <p:sp>
        <p:nvSpPr>
          <p:cNvPr id="34" name="Rectangle 33"/>
          <p:cNvSpPr/>
          <p:nvPr/>
        </p:nvSpPr>
        <p:spPr>
          <a:xfrm>
            <a:off x="3200400" y="5486400"/>
            <a:ext cx="310896" cy="45720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48456" y="5486400"/>
            <a:ext cx="1371600" cy="457200"/>
          </a:xfrm>
          <a:prstGeom prst="rect">
            <a:avLst/>
          </a:prstGeom>
          <a:noFill/>
        </p:spPr>
        <p:txBody>
          <a:bodyPr wrap="square">
            <a:spAutoFit/>
          </a:bodyPr>
          <a:lstStyle/>
          <a:p>
            <a:pPr algn="l">
              <a:defRPr sz="1800" b="1">
                <a:solidFill>
                  <a:srgbClr val="D52B1E"/>
                </a:solidFill>
              </a:defRPr>
            </a:pPr>
            <a:r>
              <a:t>$2.5M</a:t>
            </a:r>
          </a:p>
        </p:txBody>
      </p:sp>
      <p:sp>
        <p:nvSpPr>
          <p:cNvPr id="36" name="TextBox 35"/>
          <p:cNvSpPr txBox="1"/>
          <p:nvPr/>
        </p:nvSpPr>
        <p:spPr>
          <a:xfrm>
            <a:off x="3200400" y="5989320"/>
            <a:ext cx="7315200" cy="548640"/>
          </a:xfrm>
          <a:prstGeom prst="rect">
            <a:avLst/>
          </a:prstGeom>
          <a:noFill/>
        </p:spPr>
        <p:txBody>
          <a:bodyPr wrap="square">
            <a:spAutoFit/>
          </a:bodyPr>
          <a:lstStyle/>
          <a:p>
            <a:pPr algn="l">
              <a:defRPr sz="1100" b="0">
                <a:solidFill>
                  <a:srgbClr val="666666"/>
                </a:solidFill>
              </a:defRPr>
            </a:pPr>
            <a:r>
              <a:t>Auto parts wishlists — save parts</a:t>
            </a:r>
            <a:br/>
            <a:r>
              <a:t>for scheduled maintenance</a:t>
            </a:r>
          </a:p>
        </p:txBody>
      </p:sp>
      <p:sp>
        <p:nvSpPr>
          <p:cNvPr id="37" name="Rectangle 36"/>
          <p:cNvSpPr/>
          <p:nvPr/>
        </p:nvSpPr>
        <p:spPr>
          <a:xfrm>
            <a:off x="548640" y="5852160"/>
            <a:ext cx="10972800" cy="4572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1520" y="5870448"/>
            <a:ext cx="3657600" cy="411480"/>
          </a:xfrm>
          <a:prstGeom prst="rect">
            <a:avLst/>
          </a:prstGeom>
          <a:noFill/>
        </p:spPr>
        <p:txBody>
          <a:bodyPr wrap="square">
            <a:spAutoFit/>
          </a:bodyPr>
          <a:lstStyle/>
          <a:p>
            <a:pPr algn="l">
              <a:defRPr sz="1600" b="1">
                <a:solidFill>
                  <a:srgbClr val="333333"/>
                </a:solidFill>
              </a:defRPr>
            </a:pPr>
            <a:r>
              <a:t>Total Moderate Uplift:</a:t>
            </a:r>
          </a:p>
        </p:txBody>
      </p:sp>
      <p:sp>
        <p:nvSpPr>
          <p:cNvPr id="39" name="TextBox 38"/>
          <p:cNvSpPr txBox="1"/>
          <p:nvPr/>
        </p:nvSpPr>
        <p:spPr>
          <a:xfrm>
            <a:off x="4572000" y="5870448"/>
            <a:ext cx="2743200" cy="411480"/>
          </a:xfrm>
          <a:prstGeom prst="rect">
            <a:avLst/>
          </a:prstGeom>
          <a:noFill/>
        </p:spPr>
        <p:txBody>
          <a:bodyPr wrap="square">
            <a:spAutoFit/>
          </a:bodyPr>
          <a:lstStyle/>
          <a:p>
            <a:pPr algn="l">
              <a:defRPr sz="1600" b="1">
                <a:solidFill>
                  <a:srgbClr val="D52B1E"/>
                </a:solidFill>
              </a:defRPr>
            </a:pPr>
            <a:r>
              <a:t>$189.5M / year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640080"/>
          </a:xfrm>
          <a:prstGeom prst="rect">
            <a:avLst/>
          </a:prstGeom>
          <a:noFill/>
        </p:spPr>
        <p:txBody>
          <a:bodyPr wrap="square">
            <a:spAutoFit/>
          </a:bodyPr>
          <a:lstStyle/>
          <a:p>
            <a:pPr algn="l">
              <a:defRPr sz="3200" b="1">
                <a:solidFill>
                  <a:srgbClr val="FFFFFF"/>
                </a:solidFill>
              </a:defRPr>
            </a:pPr>
            <a:r>
              <a:t>Strategic Benefits Beyond Revenue</a:t>
            </a:r>
          </a:p>
        </p:txBody>
      </p:sp>
      <p:sp>
        <p:nvSpPr>
          <p:cNvPr id="4" name="TextBox 3"/>
          <p:cNvSpPr txBox="1"/>
          <p:nvPr/>
        </p:nvSpPr>
        <p:spPr>
          <a:xfrm>
            <a:off x="548640" y="6400800"/>
            <a:ext cx="4572000" cy="365760"/>
          </a:xfrm>
          <a:prstGeom prst="rect">
            <a:avLst/>
          </a:prstGeom>
          <a:noFill/>
        </p:spPr>
        <p:txBody>
          <a:bodyPr wrap="square">
            <a:spAutoFit/>
          </a:bodyPr>
          <a:lstStyle/>
          <a:p>
            <a:pPr algn="l">
              <a:defRPr sz="1000" b="0">
                <a:solidFill>
                  <a:srgbClr val="666666"/>
                </a:solidFill>
              </a:defRPr>
            </a:pPr>
            <a:r>
              <a:t>EPAM Systems | Confidential</a:t>
            </a:r>
          </a:p>
        </p:txBody>
      </p:sp>
      <p:sp>
        <p:nvSpPr>
          <p:cNvPr id="5" name="TextBox 4"/>
          <p:cNvSpPr txBox="1"/>
          <p:nvPr/>
        </p:nvSpPr>
        <p:spPr>
          <a:xfrm>
            <a:off x="8229600" y="6400800"/>
            <a:ext cx="3657600" cy="365760"/>
          </a:xfrm>
          <a:prstGeom prst="rect">
            <a:avLst/>
          </a:prstGeom>
          <a:noFill/>
        </p:spPr>
        <p:txBody>
          <a:bodyPr wrap="square">
            <a:spAutoFit/>
          </a:bodyPr>
          <a:lstStyle/>
          <a:p>
            <a:pPr algn="r">
              <a:defRPr sz="1000" b="0">
                <a:solidFill>
                  <a:srgbClr val="666666"/>
                </a:solidFill>
              </a:defRPr>
            </a:pPr>
            <a:r>
              <a:t>CTC Mobile Wishlist — Business Case</a:t>
            </a:r>
          </a:p>
        </p:txBody>
      </p:sp>
      <p:sp>
        <p:nvSpPr>
          <p:cNvPr id="6" name="TextBox 5"/>
          <p:cNvSpPr txBox="1"/>
          <p:nvPr/>
        </p:nvSpPr>
        <p:spPr>
          <a:xfrm>
            <a:off x="731520" y="1188720"/>
            <a:ext cx="5029200" cy="457200"/>
          </a:xfrm>
          <a:prstGeom prst="rect">
            <a:avLst/>
          </a:prstGeom>
          <a:noFill/>
        </p:spPr>
        <p:txBody>
          <a:bodyPr wrap="square">
            <a:spAutoFit/>
          </a:bodyPr>
          <a:lstStyle/>
          <a:p>
            <a:pPr algn="l">
              <a:defRPr sz="2000" b="1">
                <a:solidFill>
                  <a:srgbClr val="D52B1E"/>
                </a:solidFill>
              </a:defRPr>
            </a:pPr>
            <a:r>
              <a:t>Consumer Benefits</a:t>
            </a:r>
          </a:p>
        </p:txBody>
      </p:sp>
      <p:sp>
        <p:nvSpPr>
          <p:cNvPr id="7" name="TextBox 6"/>
          <p:cNvSpPr txBox="1"/>
          <p:nvPr/>
        </p:nvSpPr>
        <p:spPr>
          <a:xfrm>
            <a:off x="731520" y="1737360"/>
            <a:ext cx="5029200" cy="320040"/>
          </a:xfrm>
          <a:prstGeom prst="rect">
            <a:avLst/>
          </a:prstGeom>
          <a:noFill/>
        </p:spPr>
        <p:txBody>
          <a:bodyPr wrap="square">
            <a:spAutoFit/>
          </a:bodyPr>
          <a:lstStyle/>
          <a:p>
            <a:pPr algn="l">
              <a:defRPr sz="1400" b="1">
                <a:solidFill>
                  <a:srgbClr val="333333"/>
                </a:solidFill>
              </a:defRPr>
            </a:pPr>
            <a:r>
              <a:t>Save for Later</a:t>
            </a:r>
          </a:p>
        </p:txBody>
      </p:sp>
      <p:sp>
        <p:nvSpPr>
          <p:cNvPr id="8" name="TextBox 7"/>
          <p:cNvSpPr txBox="1"/>
          <p:nvPr/>
        </p:nvSpPr>
        <p:spPr>
          <a:xfrm>
            <a:off x="731520" y="2011680"/>
            <a:ext cx="5029200" cy="320040"/>
          </a:xfrm>
          <a:prstGeom prst="rect">
            <a:avLst/>
          </a:prstGeom>
          <a:noFill/>
        </p:spPr>
        <p:txBody>
          <a:bodyPr wrap="square">
            <a:spAutoFit/>
          </a:bodyPr>
          <a:lstStyle/>
          <a:p>
            <a:pPr algn="l">
              <a:defRPr sz="1200" b="0">
                <a:solidFill>
                  <a:srgbClr val="666666"/>
                </a:solidFill>
              </a:defRPr>
            </a:pPr>
            <a:r>
              <a:t>Bookmark items without cart commitment</a:t>
            </a:r>
          </a:p>
        </p:txBody>
      </p:sp>
      <p:sp>
        <p:nvSpPr>
          <p:cNvPr id="9" name="TextBox 8"/>
          <p:cNvSpPr txBox="1"/>
          <p:nvPr/>
        </p:nvSpPr>
        <p:spPr>
          <a:xfrm>
            <a:off x="731520" y="2423160"/>
            <a:ext cx="5029200" cy="320040"/>
          </a:xfrm>
          <a:prstGeom prst="rect">
            <a:avLst/>
          </a:prstGeom>
          <a:noFill/>
        </p:spPr>
        <p:txBody>
          <a:bodyPr wrap="square">
            <a:spAutoFit/>
          </a:bodyPr>
          <a:lstStyle/>
          <a:p>
            <a:pPr algn="l">
              <a:defRPr sz="1400" b="1">
                <a:solidFill>
                  <a:srgbClr val="333333"/>
                </a:solidFill>
              </a:defRPr>
            </a:pPr>
            <a:r>
              <a:t>In-Store to Digital Bridge</a:t>
            </a:r>
          </a:p>
        </p:txBody>
      </p:sp>
      <p:sp>
        <p:nvSpPr>
          <p:cNvPr id="10" name="TextBox 9"/>
          <p:cNvSpPr txBox="1"/>
          <p:nvPr/>
        </p:nvSpPr>
        <p:spPr>
          <a:xfrm>
            <a:off x="731520" y="2697480"/>
            <a:ext cx="5029200" cy="320040"/>
          </a:xfrm>
          <a:prstGeom prst="rect">
            <a:avLst/>
          </a:prstGeom>
          <a:noFill/>
        </p:spPr>
        <p:txBody>
          <a:bodyPr wrap="square">
            <a:spAutoFit/>
          </a:bodyPr>
          <a:lstStyle/>
          <a:p>
            <a:pPr algn="l">
              <a:defRPr sz="1200" b="0">
                <a:solidFill>
                  <a:srgbClr val="666666"/>
                </a:solidFill>
              </a:defRPr>
            </a:pPr>
            <a:r>
              <a:t>Scan shelf products, buy later anywhere</a:t>
            </a:r>
          </a:p>
        </p:txBody>
      </p:sp>
      <p:sp>
        <p:nvSpPr>
          <p:cNvPr id="11" name="TextBox 10"/>
          <p:cNvSpPr txBox="1"/>
          <p:nvPr/>
        </p:nvSpPr>
        <p:spPr>
          <a:xfrm>
            <a:off x="731520" y="3108960"/>
            <a:ext cx="5029200" cy="320040"/>
          </a:xfrm>
          <a:prstGeom prst="rect">
            <a:avLst/>
          </a:prstGeom>
          <a:noFill/>
        </p:spPr>
        <p:txBody>
          <a:bodyPr wrap="square">
            <a:spAutoFit/>
          </a:bodyPr>
          <a:lstStyle/>
          <a:p>
            <a:pPr algn="l">
              <a:defRPr sz="1400" b="1">
                <a:solidFill>
                  <a:srgbClr val="333333"/>
                </a:solidFill>
              </a:defRPr>
            </a:pPr>
            <a:r>
              <a:t>Gift Coordination</a:t>
            </a:r>
          </a:p>
        </p:txBody>
      </p:sp>
      <p:sp>
        <p:nvSpPr>
          <p:cNvPr id="12" name="TextBox 11"/>
          <p:cNvSpPr txBox="1"/>
          <p:nvPr/>
        </p:nvSpPr>
        <p:spPr>
          <a:xfrm>
            <a:off x="731520" y="3383280"/>
            <a:ext cx="5029200" cy="320040"/>
          </a:xfrm>
          <a:prstGeom prst="rect">
            <a:avLst/>
          </a:prstGeom>
          <a:noFill/>
        </p:spPr>
        <p:txBody>
          <a:bodyPr wrap="square">
            <a:spAutoFit/>
          </a:bodyPr>
          <a:lstStyle/>
          <a:p>
            <a:pPr algn="l">
              <a:defRPr sz="1200" b="0">
                <a:solidFill>
                  <a:srgbClr val="666666"/>
                </a:solidFill>
              </a:defRPr>
            </a:pPr>
            <a:r>
              <a:t>Share lists, eliminate duplicate gifts</a:t>
            </a:r>
          </a:p>
        </p:txBody>
      </p:sp>
      <p:sp>
        <p:nvSpPr>
          <p:cNvPr id="13" name="TextBox 12"/>
          <p:cNvSpPr txBox="1"/>
          <p:nvPr/>
        </p:nvSpPr>
        <p:spPr>
          <a:xfrm>
            <a:off x="731520" y="3794760"/>
            <a:ext cx="5029200" cy="320040"/>
          </a:xfrm>
          <a:prstGeom prst="rect">
            <a:avLst/>
          </a:prstGeom>
          <a:noFill/>
        </p:spPr>
        <p:txBody>
          <a:bodyPr wrap="square">
            <a:spAutoFit/>
          </a:bodyPr>
          <a:lstStyle/>
          <a:p>
            <a:pPr algn="l">
              <a:defRPr sz="1400" b="1">
                <a:solidFill>
                  <a:srgbClr val="333333"/>
                </a:solidFill>
              </a:defRPr>
            </a:pPr>
            <a:r>
              <a:t>Price Monitoring</a:t>
            </a:r>
          </a:p>
        </p:txBody>
      </p:sp>
      <p:sp>
        <p:nvSpPr>
          <p:cNvPr id="14" name="TextBox 13"/>
          <p:cNvSpPr txBox="1"/>
          <p:nvPr/>
        </p:nvSpPr>
        <p:spPr>
          <a:xfrm>
            <a:off x="731520" y="4069080"/>
            <a:ext cx="5029200" cy="320040"/>
          </a:xfrm>
          <a:prstGeom prst="rect">
            <a:avLst/>
          </a:prstGeom>
          <a:noFill/>
        </p:spPr>
        <p:txBody>
          <a:bodyPr wrap="square">
            <a:spAutoFit/>
          </a:bodyPr>
          <a:lstStyle/>
          <a:p>
            <a:pPr algn="l">
              <a:defRPr sz="1200" b="0">
                <a:solidFill>
                  <a:srgbClr val="666666"/>
                </a:solidFill>
              </a:defRPr>
            </a:pPr>
            <a:r>
              <a:t>Alerts when wishlisted items go on sale</a:t>
            </a:r>
          </a:p>
        </p:txBody>
      </p:sp>
      <p:sp>
        <p:nvSpPr>
          <p:cNvPr id="15" name="TextBox 14"/>
          <p:cNvSpPr txBox="1"/>
          <p:nvPr/>
        </p:nvSpPr>
        <p:spPr>
          <a:xfrm>
            <a:off x="731520" y="4480560"/>
            <a:ext cx="5029200" cy="320040"/>
          </a:xfrm>
          <a:prstGeom prst="rect">
            <a:avLst/>
          </a:prstGeom>
          <a:noFill/>
        </p:spPr>
        <p:txBody>
          <a:bodyPr wrap="square">
            <a:spAutoFit/>
          </a:bodyPr>
          <a:lstStyle/>
          <a:p>
            <a:pPr algn="l">
              <a:defRPr sz="1400" b="1">
                <a:solidFill>
                  <a:srgbClr val="333333"/>
                </a:solidFill>
              </a:defRPr>
            </a:pPr>
            <a:r>
              <a:t>Cross-Device Continuity</a:t>
            </a:r>
          </a:p>
        </p:txBody>
      </p:sp>
      <p:sp>
        <p:nvSpPr>
          <p:cNvPr id="16" name="TextBox 15"/>
          <p:cNvSpPr txBox="1"/>
          <p:nvPr/>
        </p:nvSpPr>
        <p:spPr>
          <a:xfrm>
            <a:off x="731520" y="4754880"/>
            <a:ext cx="5029200" cy="320040"/>
          </a:xfrm>
          <a:prstGeom prst="rect">
            <a:avLst/>
          </a:prstGeom>
          <a:noFill/>
        </p:spPr>
        <p:txBody>
          <a:bodyPr wrap="square">
            <a:spAutoFit/>
          </a:bodyPr>
          <a:lstStyle/>
          <a:p>
            <a:pPr algn="l">
              <a:defRPr sz="1200" b="0">
                <a:solidFill>
                  <a:srgbClr val="666666"/>
                </a:solidFill>
              </a:defRPr>
            </a:pPr>
            <a:r>
              <a:t>Start on phone in-store, buy on desktop</a:t>
            </a:r>
          </a:p>
        </p:txBody>
      </p:sp>
      <p:sp>
        <p:nvSpPr>
          <p:cNvPr id="17" name="TextBox 16"/>
          <p:cNvSpPr txBox="1"/>
          <p:nvPr/>
        </p:nvSpPr>
        <p:spPr>
          <a:xfrm>
            <a:off x="6400800" y="1188720"/>
            <a:ext cx="5029200" cy="457200"/>
          </a:xfrm>
          <a:prstGeom prst="rect">
            <a:avLst/>
          </a:prstGeom>
          <a:noFill/>
        </p:spPr>
        <p:txBody>
          <a:bodyPr wrap="square">
            <a:spAutoFit/>
          </a:bodyPr>
          <a:lstStyle/>
          <a:p>
            <a:pPr algn="l">
              <a:defRPr sz="2000" b="1">
                <a:solidFill>
                  <a:srgbClr val="2E7D32"/>
                </a:solidFill>
              </a:defRPr>
            </a:pPr>
            <a:r>
              <a:t>CTC Business Benefits</a:t>
            </a:r>
          </a:p>
        </p:txBody>
      </p:sp>
      <p:sp>
        <p:nvSpPr>
          <p:cNvPr id="18" name="TextBox 17"/>
          <p:cNvSpPr txBox="1"/>
          <p:nvPr/>
        </p:nvSpPr>
        <p:spPr>
          <a:xfrm>
            <a:off x="6400800" y="1737360"/>
            <a:ext cx="5029200" cy="320040"/>
          </a:xfrm>
          <a:prstGeom prst="rect">
            <a:avLst/>
          </a:prstGeom>
          <a:noFill/>
        </p:spPr>
        <p:txBody>
          <a:bodyPr wrap="square">
            <a:spAutoFit/>
          </a:bodyPr>
          <a:lstStyle/>
          <a:p>
            <a:pPr algn="l">
              <a:defRPr sz="1400" b="1">
                <a:solidFill>
                  <a:srgbClr val="333333"/>
                </a:solidFill>
              </a:defRPr>
            </a:pPr>
            <a:r>
              <a:t>First-Party Intent Data</a:t>
            </a:r>
          </a:p>
        </p:txBody>
      </p:sp>
      <p:sp>
        <p:nvSpPr>
          <p:cNvPr id="19" name="TextBox 18"/>
          <p:cNvSpPr txBox="1"/>
          <p:nvPr/>
        </p:nvSpPr>
        <p:spPr>
          <a:xfrm>
            <a:off x="6400800" y="2011680"/>
            <a:ext cx="5029200" cy="320040"/>
          </a:xfrm>
          <a:prstGeom prst="rect">
            <a:avLst/>
          </a:prstGeom>
          <a:noFill/>
        </p:spPr>
        <p:txBody>
          <a:bodyPr wrap="square">
            <a:spAutoFit/>
          </a:bodyPr>
          <a:lstStyle/>
          <a:p>
            <a:pPr algn="l">
              <a:defRPr sz="1200" b="0">
                <a:solidFill>
                  <a:srgbClr val="666666"/>
                </a:solidFill>
              </a:defRPr>
            </a:pPr>
            <a:r>
              <a:t>What customers WANT — not just what they buy</a:t>
            </a:r>
          </a:p>
        </p:txBody>
      </p:sp>
      <p:sp>
        <p:nvSpPr>
          <p:cNvPr id="20" name="TextBox 19"/>
          <p:cNvSpPr txBox="1"/>
          <p:nvPr/>
        </p:nvSpPr>
        <p:spPr>
          <a:xfrm>
            <a:off x="6400800" y="2423160"/>
            <a:ext cx="5029200" cy="320040"/>
          </a:xfrm>
          <a:prstGeom prst="rect">
            <a:avLst/>
          </a:prstGeom>
          <a:noFill/>
        </p:spPr>
        <p:txBody>
          <a:bodyPr wrap="square">
            <a:spAutoFit/>
          </a:bodyPr>
          <a:lstStyle/>
          <a:p>
            <a:pPr algn="l">
              <a:defRPr sz="1400" b="1">
                <a:solidFill>
                  <a:srgbClr val="333333"/>
                </a:solidFill>
              </a:defRPr>
            </a:pPr>
            <a:r>
              <a:t>Triangle Enrichment</a:t>
            </a:r>
          </a:p>
        </p:txBody>
      </p:sp>
      <p:sp>
        <p:nvSpPr>
          <p:cNvPr id="21" name="TextBox 20"/>
          <p:cNvSpPr txBox="1"/>
          <p:nvPr/>
        </p:nvSpPr>
        <p:spPr>
          <a:xfrm>
            <a:off x="6400800" y="2697480"/>
            <a:ext cx="5029200" cy="320040"/>
          </a:xfrm>
          <a:prstGeom prst="rect">
            <a:avLst/>
          </a:prstGeom>
          <a:noFill/>
        </p:spPr>
        <p:txBody>
          <a:bodyPr wrap="square">
            <a:spAutoFit/>
          </a:bodyPr>
          <a:lstStyle/>
          <a:p>
            <a:pPr algn="l">
              <a:defRPr sz="1200" b="0">
                <a:solidFill>
                  <a:srgbClr val="666666"/>
                </a:solidFill>
              </a:defRPr>
            </a:pPr>
            <a:r>
              <a:t>Richest customer intent dataset in Canadian retail</a:t>
            </a:r>
          </a:p>
        </p:txBody>
      </p:sp>
      <p:sp>
        <p:nvSpPr>
          <p:cNvPr id="22" name="TextBox 21"/>
          <p:cNvSpPr txBox="1"/>
          <p:nvPr/>
        </p:nvSpPr>
        <p:spPr>
          <a:xfrm>
            <a:off x="6400800" y="3108960"/>
            <a:ext cx="5029200" cy="320040"/>
          </a:xfrm>
          <a:prstGeom prst="rect">
            <a:avLst/>
          </a:prstGeom>
          <a:noFill/>
        </p:spPr>
        <p:txBody>
          <a:bodyPr wrap="square">
            <a:spAutoFit/>
          </a:bodyPr>
          <a:lstStyle/>
          <a:p>
            <a:pPr algn="l">
              <a:defRPr sz="1400" b="1">
                <a:solidFill>
                  <a:srgbClr val="333333"/>
                </a:solidFill>
              </a:defRPr>
            </a:pPr>
            <a:r>
              <a:t>Seasonal Revenue Capture</a:t>
            </a:r>
          </a:p>
        </p:txBody>
      </p:sp>
      <p:sp>
        <p:nvSpPr>
          <p:cNvPr id="23" name="TextBox 22"/>
          <p:cNvSpPr txBox="1"/>
          <p:nvPr/>
        </p:nvSpPr>
        <p:spPr>
          <a:xfrm>
            <a:off x="6400800" y="3383280"/>
            <a:ext cx="5029200" cy="320040"/>
          </a:xfrm>
          <a:prstGeom prst="rect">
            <a:avLst/>
          </a:prstGeom>
          <a:noFill/>
        </p:spPr>
        <p:txBody>
          <a:bodyPr wrap="square">
            <a:spAutoFit/>
          </a:bodyPr>
          <a:lstStyle/>
          <a:p>
            <a:pPr algn="l">
              <a:defRPr sz="1200" b="0">
                <a:solidFill>
                  <a:srgbClr val="666666"/>
                </a:solidFill>
              </a:defRPr>
            </a:pPr>
            <a:r>
              <a:t>Convert holiday browsing into purchase pipelines</a:t>
            </a:r>
          </a:p>
        </p:txBody>
      </p:sp>
      <p:sp>
        <p:nvSpPr>
          <p:cNvPr id="24" name="TextBox 23"/>
          <p:cNvSpPr txBox="1"/>
          <p:nvPr/>
        </p:nvSpPr>
        <p:spPr>
          <a:xfrm>
            <a:off x="6400800" y="3794760"/>
            <a:ext cx="5029200" cy="320040"/>
          </a:xfrm>
          <a:prstGeom prst="rect">
            <a:avLst/>
          </a:prstGeom>
          <a:noFill/>
        </p:spPr>
        <p:txBody>
          <a:bodyPr wrap="square">
            <a:spAutoFit/>
          </a:bodyPr>
          <a:lstStyle/>
          <a:p>
            <a:pPr algn="l">
              <a:defRPr sz="1400" b="1">
                <a:solidFill>
                  <a:srgbClr val="333333"/>
                </a:solidFill>
              </a:defRPr>
            </a:pPr>
            <a:r>
              <a:t>Dealer Inventory Signals</a:t>
            </a:r>
          </a:p>
        </p:txBody>
      </p:sp>
      <p:sp>
        <p:nvSpPr>
          <p:cNvPr id="25" name="TextBox 24"/>
          <p:cNvSpPr txBox="1"/>
          <p:nvPr/>
        </p:nvSpPr>
        <p:spPr>
          <a:xfrm>
            <a:off x="6400800" y="4069080"/>
            <a:ext cx="5029200" cy="320040"/>
          </a:xfrm>
          <a:prstGeom prst="rect">
            <a:avLst/>
          </a:prstGeom>
          <a:noFill/>
        </p:spPr>
        <p:txBody>
          <a:bodyPr wrap="square">
            <a:spAutoFit/>
          </a:bodyPr>
          <a:lstStyle/>
          <a:p>
            <a:pPr algn="l">
              <a:defRPr sz="1200" b="0">
                <a:solidFill>
                  <a:srgbClr val="666666"/>
                </a:solidFill>
              </a:defRPr>
            </a:pPr>
            <a:r>
              <a:t>Aggregated wishlist data improves local stocking</a:t>
            </a:r>
          </a:p>
        </p:txBody>
      </p:sp>
      <p:sp>
        <p:nvSpPr>
          <p:cNvPr id="26" name="TextBox 25"/>
          <p:cNvSpPr txBox="1"/>
          <p:nvPr/>
        </p:nvSpPr>
        <p:spPr>
          <a:xfrm>
            <a:off x="6400800" y="4480560"/>
            <a:ext cx="5029200" cy="320040"/>
          </a:xfrm>
          <a:prstGeom prst="rect">
            <a:avLst/>
          </a:prstGeom>
          <a:noFill/>
        </p:spPr>
        <p:txBody>
          <a:bodyPr wrap="square">
            <a:spAutoFit/>
          </a:bodyPr>
          <a:lstStyle/>
          <a:p>
            <a:pPr algn="l">
              <a:defRPr sz="1400" b="1">
                <a:solidFill>
                  <a:srgbClr val="333333"/>
                </a:solidFill>
              </a:defRPr>
            </a:pPr>
            <a:r>
              <a:t>Cross-Banner Discovery</a:t>
            </a:r>
          </a:p>
        </p:txBody>
      </p:sp>
      <p:sp>
        <p:nvSpPr>
          <p:cNvPr id="27" name="TextBox 26"/>
          <p:cNvSpPr txBox="1"/>
          <p:nvPr/>
        </p:nvSpPr>
        <p:spPr>
          <a:xfrm>
            <a:off x="6400800" y="4754880"/>
            <a:ext cx="5029200" cy="320040"/>
          </a:xfrm>
          <a:prstGeom prst="rect">
            <a:avLst/>
          </a:prstGeom>
          <a:noFill/>
        </p:spPr>
        <p:txBody>
          <a:bodyPr wrap="square">
            <a:spAutoFit/>
          </a:bodyPr>
          <a:lstStyle/>
          <a:p>
            <a:pPr algn="l">
              <a:defRPr sz="1200" b="0">
                <a:solidFill>
                  <a:srgbClr val="666666"/>
                </a:solidFill>
              </a:defRPr>
            </a:pPr>
            <a:r>
              <a:t>Unified wishlists across all 6 CTC banners</a:t>
            </a:r>
          </a:p>
        </p:txBody>
      </p:sp>
      <p:sp>
        <p:nvSpPr>
          <p:cNvPr id="28" name="TextBox 27"/>
          <p:cNvSpPr txBox="1"/>
          <p:nvPr/>
        </p:nvSpPr>
        <p:spPr>
          <a:xfrm>
            <a:off x="6400800" y="5166360"/>
            <a:ext cx="5029200" cy="320040"/>
          </a:xfrm>
          <a:prstGeom prst="rect">
            <a:avLst/>
          </a:prstGeom>
          <a:noFill/>
        </p:spPr>
        <p:txBody>
          <a:bodyPr wrap="square">
            <a:spAutoFit/>
          </a:bodyPr>
          <a:lstStyle/>
          <a:p>
            <a:pPr algn="l">
              <a:defRPr sz="1400" b="1">
                <a:solidFill>
                  <a:srgbClr val="333333"/>
                </a:solidFill>
              </a:defRPr>
            </a:pPr>
            <a:r>
              <a:t>Competitive Moat</a:t>
            </a:r>
          </a:p>
        </p:txBody>
      </p:sp>
      <p:sp>
        <p:nvSpPr>
          <p:cNvPr id="29" name="TextBox 28"/>
          <p:cNvSpPr txBox="1"/>
          <p:nvPr/>
        </p:nvSpPr>
        <p:spPr>
          <a:xfrm>
            <a:off x="6400800" y="5440680"/>
            <a:ext cx="5029200" cy="320040"/>
          </a:xfrm>
          <a:prstGeom prst="rect">
            <a:avLst/>
          </a:prstGeom>
          <a:noFill/>
        </p:spPr>
        <p:txBody>
          <a:bodyPr wrap="square">
            <a:spAutoFit/>
          </a:bodyPr>
          <a:lstStyle/>
          <a:p>
            <a:pPr algn="l">
              <a:defRPr sz="1200" b="0">
                <a:solidFill>
                  <a:srgbClr val="666666"/>
                </a:solidFill>
              </a:defRPr>
            </a:pPr>
            <a:r>
              <a:t>Only Canadian retailer with scan-to-wishlist + sharing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640080"/>
          </a:xfrm>
          <a:prstGeom prst="rect">
            <a:avLst/>
          </a:prstGeom>
          <a:noFill/>
        </p:spPr>
        <p:txBody>
          <a:bodyPr wrap="square">
            <a:spAutoFit/>
          </a:bodyPr>
          <a:lstStyle/>
          <a:p>
            <a:pPr algn="l">
              <a:defRPr sz="3200" b="1">
                <a:solidFill>
                  <a:srgbClr val="FFFFFF"/>
                </a:solidFill>
              </a:defRPr>
            </a:pPr>
            <a:r>
              <a:t>Competitive Landscape</a:t>
            </a:r>
          </a:p>
        </p:txBody>
      </p:sp>
      <p:sp>
        <p:nvSpPr>
          <p:cNvPr id="4" name="TextBox 3"/>
          <p:cNvSpPr txBox="1"/>
          <p:nvPr/>
        </p:nvSpPr>
        <p:spPr>
          <a:xfrm>
            <a:off x="548640" y="594360"/>
            <a:ext cx="9144000" cy="365760"/>
          </a:xfrm>
          <a:prstGeom prst="rect">
            <a:avLst/>
          </a:prstGeom>
          <a:noFill/>
        </p:spPr>
        <p:txBody>
          <a:bodyPr wrap="square">
            <a:spAutoFit/>
          </a:bodyPr>
          <a:lstStyle/>
          <a:p>
            <a:pPr algn="l">
              <a:defRPr sz="1600" b="0">
                <a:solidFill>
                  <a:srgbClr val="FFCCCC"/>
                </a:solidFill>
              </a:defRPr>
            </a:pPr>
            <a:r>
              <a:t>CTC would be the only Canadian retailer with all four capabilities</a:t>
            </a:r>
          </a:p>
        </p:txBody>
      </p:sp>
      <p:sp>
        <p:nvSpPr>
          <p:cNvPr id="5" name="TextBox 4"/>
          <p:cNvSpPr txBox="1"/>
          <p:nvPr/>
        </p:nvSpPr>
        <p:spPr>
          <a:xfrm>
            <a:off x="548640" y="6400800"/>
            <a:ext cx="4572000" cy="365760"/>
          </a:xfrm>
          <a:prstGeom prst="rect">
            <a:avLst/>
          </a:prstGeom>
          <a:noFill/>
        </p:spPr>
        <p:txBody>
          <a:bodyPr wrap="square">
            <a:spAutoFit/>
          </a:bodyPr>
          <a:lstStyle/>
          <a:p>
            <a:pPr algn="l">
              <a:defRPr sz="1000" b="0">
                <a:solidFill>
                  <a:srgbClr val="666666"/>
                </a:solidFill>
              </a:defRPr>
            </a:pPr>
            <a:r>
              <a:t>EPAM Systems | Confidential</a:t>
            </a:r>
          </a:p>
        </p:txBody>
      </p:sp>
      <p:sp>
        <p:nvSpPr>
          <p:cNvPr id="6" name="TextBox 5"/>
          <p:cNvSpPr txBox="1"/>
          <p:nvPr/>
        </p:nvSpPr>
        <p:spPr>
          <a:xfrm>
            <a:off x="8229600" y="6400800"/>
            <a:ext cx="3657600" cy="365760"/>
          </a:xfrm>
          <a:prstGeom prst="rect">
            <a:avLst/>
          </a:prstGeom>
          <a:noFill/>
        </p:spPr>
        <p:txBody>
          <a:bodyPr wrap="square">
            <a:spAutoFit/>
          </a:bodyPr>
          <a:lstStyle/>
          <a:p>
            <a:pPr algn="r">
              <a:defRPr sz="1000" b="0">
                <a:solidFill>
                  <a:srgbClr val="666666"/>
                </a:solidFill>
              </a:defRPr>
            </a:pPr>
            <a:r>
              <a:t>CTC Mobile Wishlist — Business Case</a:t>
            </a:r>
          </a:p>
        </p:txBody>
      </p:sp>
      <p:sp>
        <p:nvSpPr>
          <p:cNvPr id="7" name="Rectangle 6"/>
          <p:cNvSpPr/>
          <p:nvPr/>
        </p:nvSpPr>
        <p:spPr>
          <a:xfrm>
            <a:off x="548640" y="1371600"/>
            <a:ext cx="10789920" cy="45720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389888"/>
            <a:ext cx="3383280" cy="411480"/>
          </a:xfrm>
          <a:prstGeom prst="rect">
            <a:avLst/>
          </a:prstGeom>
          <a:noFill/>
        </p:spPr>
        <p:txBody>
          <a:bodyPr wrap="square">
            <a:spAutoFit/>
          </a:bodyPr>
          <a:lstStyle/>
          <a:p>
            <a:pPr algn="l">
              <a:defRPr sz="1400" b="1">
                <a:solidFill>
                  <a:srgbClr val="FFFFFF"/>
                </a:solidFill>
              </a:defRPr>
            </a:pPr>
            <a:r>
              <a:t>Retailer</a:t>
            </a:r>
          </a:p>
        </p:txBody>
      </p:sp>
      <p:sp>
        <p:nvSpPr>
          <p:cNvPr id="9" name="TextBox 8"/>
          <p:cNvSpPr txBox="1"/>
          <p:nvPr/>
        </p:nvSpPr>
        <p:spPr>
          <a:xfrm>
            <a:off x="4114800" y="1389888"/>
            <a:ext cx="1645920" cy="411480"/>
          </a:xfrm>
          <a:prstGeom prst="rect">
            <a:avLst/>
          </a:prstGeom>
          <a:noFill/>
        </p:spPr>
        <p:txBody>
          <a:bodyPr wrap="square">
            <a:spAutoFit/>
          </a:bodyPr>
          <a:lstStyle/>
          <a:p>
            <a:pPr algn="l">
              <a:defRPr sz="1400" b="1">
                <a:solidFill>
                  <a:srgbClr val="FFFFFF"/>
                </a:solidFill>
              </a:defRPr>
            </a:pPr>
            <a:r>
              <a:t>Wishlist</a:t>
            </a:r>
          </a:p>
        </p:txBody>
      </p:sp>
      <p:sp>
        <p:nvSpPr>
          <p:cNvPr id="10" name="TextBox 9"/>
          <p:cNvSpPr txBox="1"/>
          <p:nvPr/>
        </p:nvSpPr>
        <p:spPr>
          <a:xfrm>
            <a:off x="5760720" y="1389888"/>
            <a:ext cx="1645920" cy="411480"/>
          </a:xfrm>
          <a:prstGeom prst="rect">
            <a:avLst/>
          </a:prstGeom>
          <a:noFill/>
        </p:spPr>
        <p:txBody>
          <a:bodyPr wrap="square">
            <a:spAutoFit/>
          </a:bodyPr>
          <a:lstStyle/>
          <a:p>
            <a:pPr algn="l">
              <a:defRPr sz="1400" b="1">
                <a:solidFill>
                  <a:srgbClr val="FFFFFF"/>
                </a:solidFill>
              </a:defRPr>
            </a:pPr>
            <a:r>
              <a:t>Barcode Scan</a:t>
            </a:r>
          </a:p>
        </p:txBody>
      </p:sp>
      <p:sp>
        <p:nvSpPr>
          <p:cNvPr id="11" name="TextBox 10"/>
          <p:cNvSpPr txBox="1"/>
          <p:nvPr/>
        </p:nvSpPr>
        <p:spPr>
          <a:xfrm>
            <a:off x="7406640" y="1389888"/>
            <a:ext cx="1737360" cy="411480"/>
          </a:xfrm>
          <a:prstGeom prst="rect">
            <a:avLst/>
          </a:prstGeom>
          <a:noFill/>
        </p:spPr>
        <p:txBody>
          <a:bodyPr wrap="square">
            <a:spAutoFit/>
          </a:bodyPr>
          <a:lstStyle/>
          <a:p>
            <a:pPr algn="l">
              <a:defRPr sz="1400" b="1">
                <a:solidFill>
                  <a:srgbClr val="FFFFFF"/>
                </a:solidFill>
              </a:defRPr>
            </a:pPr>
            <a:r>
              <a:t>Gift Sharing</a:t>
            </a:r>
          </a:p>
        </p:txBody>
      </p:sp>
      <p:sp>
        <p:nvSpPr>
          <p:cNvPr id="12" name="TextBox 11"/>
          <p:cNvSpPr txBox="1"/>
          <p:nvPr/>
        </p:nvSpPr>
        <p:spPr>
          <a:xfrm>
            <a:off x="9144000" y="1389888"/>
            <a:ext cx="1828800" cy="411480"/>
          </a:xfrm>
          <a:prstGeom prst="rect">
            <a:avLst/>
          </a:prstGeom>
          <a:noFill/>
        </p:spPr>
        <p:txBody>
          <a:bodyPr wrap="square">
            <a:spAutoFit/>
          </a:bodyPr>
          <a:lstStyle/>
          <a:p>
            <a:pPr algn="l">
              <a:defRPr sz="1400" b="1">
                <a:solidFill>
                  <a:srgbClr val="FFFFFF"/>
                </a:solidFill>
              </a:defRPr>
            </a:pPr>
            <a:r>
              <a:t>Cross-Banner</a:t>
            </a:r>
          </a:p>
        </p:txBody>
      </p:sp>
      <p:sp>
        <p:nvSpPr>
          <p:cNvPr id="13" name="Rectangle 12"/>
          <p:cNvSpPr/>
          <p:nvPr/>
        </p:nvSpPr>
        <p:spPr>
          <a:xfrm>
            <a:off x="548640" y="1920240"/>
            <a:ext cx="10789920" cy="502920"/>
          </a:xfrm>
          <a:prstGeom prst="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965960"/>
            <a:ext cx="3383280" cy="411480"/>
          </a:xfrm>
          <a:prstGeom prst="rect">
            <a:avLst/>
          </a:prstGeom>
          <a:noFill/>
        </p:spPr>
        <p:txBody>
          <a:bodyPr wrap="square">
            <a:spAutoFit/>
          </a:bodyPr>
          <a:lstStyle/>
          <a:p>
            <a:pPr algn="l">
              <a:defRPr sz="1400" b="1">
                <a:solidFill>
                  <a:srgbClr val="D52B1E"/>
                </a:solidFill>
              </a:defRPr>
            </a:pPr>
            <a:r>
              <a:t>Canadian Tire (proposed)</a:t>
            </a:r>
          </a:p>
        </p:txBody>
      </p:sp>
      <p:sp>
        <p:nvSpPr>
          <p:cNvPr id="15" name="TextBox 14"/>
          <p:cNvSpPr txBox="1"/>
          <p:nvPr/>
        </p:nvSpPr>
        <p:spPr>
          <a:xfrm>
            <a:off x="4114800" y="1965960"/>
            <a:ext cx="1645920" cy="411480"/>
          </a:xfrm>
          <a:prstGeom prst="rect">
            <a:avLst/>
          </a:prstGeom>
          <a:noFill/>
        </p:spPr>
        <p:txBody>
          <a:bodyPr wrap="square">
            <a:spAutoFit/>
          </a:bodyPr>
          <a:lstStyle/>
          <a:p>
            <a:pPr algn="ctr">
              <a:defRPr sz="1400" b="1">
                <a:solidFill>
                  <a:srgbClr val="2E7D32"/>
                </a:solidFill>
              </a:defRPr>
            </a:pPr>
            <a:r>
              <a:t>Yes</a:t>
            </a:r>
          </a:p>
        </p:txBody>
      </p:sp>
      <p:sp>
        <p:nvSpPr>
          <p:cNvPr id="16" name="TextBox 15"/>
          <p:cNvSpPr txBox="1"/>
          <p:nvPr/>
        </p:nvSpPr>
        <p:spPr>
          <a:xfrm>
            <a:off x="5760720" y="1965960"/>
            <a:ext cx="1645920" cy="411480"/>
          </a:xfrm>
          <a:prstGeom prst="rect">
            <a:avLst/>
          </a:prstGeom>
          <a:noFill/>
        </p:spPr>
        <p:txBody>
          <a:bodyPr wrap="square">
            <a:spAutoFit/>
          </a:bodyPr>
          <a:lstStyle/>
          <a:p>
            <a:pPr algn="ctr">
              <a:defRPr sz="1400" b="1">
                <a:solidFill>
                  <a:srgbClr val="2E7D32"/>
                </a:solidFill>
              </a:defRPr>
            </a:pPr>
            <a:r>
              <a:t>Yes</a:t>
            </a:r>
          </a:p>
        </p:txBody>
      </p:sp>
      <p:sp>
        <p:nvSpPr>
          <p:cNvPr id="17" name="TextBox 16"/>
          <p:cNvSpPr txBox="1"/>
          <p:nvPr/>
        </p:nvSpPr>
        <p:spPr>
          <a:xfrm>
            <a:off x="7406640" y="1965960"/>
            <a:ext cx="1737360" cy="411480"/>
          </a:xfrm>
          <a:prstGeom prst="rect">
            <a:avLst/>
          </a:prstGeom>
          <a:noFill/>
        </p:spPr>
        <p:txBody>
          <a:bodyPr wrap="square">
            <a:spAutoFit/>
          </a:bodyPr>
          <a:lstStyle/>
          <a:p>
            <a:pPr algn="ctr">
              <a:defRPr sz="1400" b="1">
                <a:solidFill>
                  <a:srgbClr val="2E7D32"/>
                </a:solidFill>
              </a:defRPr>
            </a:pPr>
            <a:r>
              <a:t>Yes</a:t>
            </a:r>
          </a:p>
        </p:txBody>
      </p:sp>
      <p:sp>
        <p:nvSpPr>
          <p:cNvPr id="18" name="TextBox 17"/>
          <p:cNvSpPr txBox="1"/>
          <p:nvPr/>
        </p:nvSpPr>
        <p:spPr>
          <a:xfrm>
            <a:off x="9144000" y="1965960"/>
            <a:ext cx="1828800" cy="411480"/>
          </a:xfrm>
          <a:prstGeom prst="rect">
            <a:avLst/>
          </a:prstGeom>
          <a:noFill/>
        </p:spPr>
        <p:txBody>
          <a:bodyPr wrap="square">
            <a:spAutoFit/>
          </a:bodyPr>
          <a:lstStyle/>
          <a:p>
            <a:pPr algn="ctr">
              <a:defRPr sz="1400" b="1">
                <a:solidFill>
                  <a:srgbClr val="2E7D32"/>
                </a:solidFill>
              </a:defRPr>
            </a:pPr>
            <a:r>
              <a:t>Yes</a:t>
            </a:r>
          </a:p>
        </p:txBody>
      </p:sp>
      <p:sp>
        <p:nvSpPr>
          <p:cNvPr id="19" name="Rectangle 18"/>
          <p:cNvSpPr/>
          <p:nvPr/>
        </p:nvSpPr>
        <p:spPr>
          <a:xfrm>
            <a:off x="548640" y="2468880"/>
            <a:ext cx="1078992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514600"/>
            <a:ext cx="3383280" cy="411480"/>
          </a:xfrm>
          <a:prstGeom prst="rect">
            <a:avLst/>
          </a:prstGeom>
          <a:noFill/>
        </p:spPr>
        <p:txBody>
          <a:bodyPr wrap="square">
            <a:spAutoFit/>
          </a:bodyPr>
          <a:lstStyle/>
          <a:p>
            <a:pPr algn="l">
              <a:defRPr sz="1400" b="0">
                <a:solidFill>
                  <a:srgbClr val="333333"/>
                </a:solidFill>
              </a:defRPr>
            </a:pPr>
            <a:r>
              <a:t>Amazon.ca</a:t>
            </a:r>
          </a:p>
        </p:txBody>
      </p:sp>
      <p:sp>
        <p:nvSpPr>
          <p:cNvPr id="21" name="TextBox 20"/>
          <p:cNvSpPr txBox="1"/>
          <p:nvPr/>
        </p:nvSpPr>
        <p:spPr>
          <a:xfrm>
            <a:off x="4114800" y="2514600"/>
            <a:ext cx="1645920" cy="411480"/>
          </a:xfrm>
          <a:prstGeom prst="rect">
            <a:avLst/>
          </a:prstGeom>
          <a:noFill/>
        </p:spPr>
        <p:txBody>
          <a:bodyPr wrap="square">
            <a:spAutoFit/>
          </a:bodyPr>
          <a:lstStyle/>
          <a:p>
            <a:pPr algn="ctr">
              <a:defRPr sz="1400" b="1">
                <a:solidFill>
                  <a:srgbClr val="2E7D32"/>
                </a:solidFill>
              </a:defRPr>
            </a:pPr>
            <a:r>
              <a:t>Yes</a:t>
            </a:r>
          </a:p>
        </p:txBody>
      </p:sp>
      <p:sp>
        <p:nvSpPr>
          <p:cNvPr id="22" name="TextBox 21"/>
          <p:cNvSpPr txBox="1"/>
          <p:nvPr/>
        </p:nvSpPr>
        <p:spPr>
          <a:xfrm>
            <a:off x="5760720" y="2514600"/>
            <a:ext cx="1645920" cy="411480"/>
          </a:xfrm>
          <a:prstGeom prst="rect">
            <a:avLst/>
          </a:prstGeom>
          <a:noFill/>
        </p:spPr>
        <p:txBody>
          <a:bodyPr wrap="square">
            <a:spAutoFit/>
          </a:bodyPr>
          <a:lstStyle/>
          <a:p>
            <a:pPr algn="ctr">
              <a:defRPr sz="1400" b="0">
                <a:solidFill>
                  <a:srgbClr val="D52B1E"/>
                </a:solidFill>
              </a:defRPr>
            </a:pPr>
            <a:r>
              <a:t>No</a:t>
            </a:r>
          </a:p>
        </p:txBody>
      </p:sp>
      <p:sp>
        <p:nvSpPr>
          <p:cNvPr id="23" name="TextBox 22"/>
          <p:cNvSpPr txBox="1"/>
          <p:nvPr/>
        </p:nvSpPr>
        <p:spPr>
          <a:xfrm>
            <a:off x="7406640" y="2514600"/>
            <a:ext cx="1737360" cy="411480"/>
          </a:xfrm>
          <a:prstGeom prst="rect">
            <a:avLst/>
          </a:prstGeom>
          <a:noFill/>
        </p:spPr>
        <p:txBody>
          <a:bodyPr wrap="square">
            <a:spAutoFit/>
          </a:bodyPr>
          <a:lstStyle/>
          <a:p>
            <a:pPr algn="ctr">
              <a:defRPr sz="1400" b="1">
                <a:solidFill>
                  <a:srgbClr val="2E7D32"/>
                </a:solidFill>
              </a:defRPr>
            </a:pPr>
            <a:r>
              <a:t>Yes</a:t>
            </a:r>
          </a:p>
        </p:txBody>
      </p:sp>
      <p:sp>
        <p:nvSpPr>
          <p:cNvPr id="24" name="TextBox 23"/>
          <p:cNvSpPr txBox="1"/>
          <p:nvPr/>
        </p:nvSpPr>
        <p:spPr>
          <a:xfrm>
            <a:off x="9144000" y="2514600"/>
            <a:ext cx="1828800" cy="411480"/>
          </a:xfrm>
          <a:prstGeom prst="rect">
            <a:avLst/>
          </a:prstGeom>
          <a:noFill/>
        </p:spPr>
        <p:txBody>
          <a:bodyPr wrap="square">
            <a:spAutoFit/>
          </a:bodyPr>
          <a:lstStyle/>
          <a:p>
            <a:pPr algn="ctr">
              <a:defRPr sz="1400" b="0">
                <a:solidFill>
                  <a:srgbClr val="666666"/>
                </a:solidFill>
              </a:defRPr>
            </a:pPr>
            <a:r>
              <a:t>N/A</a:t>
            </a:r>
          </a:p>
        </p:txBody>
      </p:sp>
      <p:sp>
        <p:nvSpPr>
          <p:cNvPr id="25" name="Rectangle 24"/>
          <p:cNvSpPr/>
          <p:nvPr/>
        </p:nvSpPr>
        <p:spPr>
          <a:xfrm>
            <a:off x="548640" y="3017520"/>
            <a:ext cx="10789920" cy="5029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063240"/>
            <a:ext cx="3383280" cy="411480"/>
          </a:xfrm>
          <a:prstGeom prst="rect">
            <a:avLst/>
          </a:prstGeom>
          <a:noFill/>
        </p:spPr>
        <p:txBody>
          <a:bodyPr wrap="square">
            <a:spAutoFit/>
          </a:bodyPr>
          <a:lstStyle/>
          <a:p>
            <a:pPr algn="l">
              <a:defRPr sz="1400" b="0">
                <a:solidFill>
                  <a:srgbClr val="333333"/>
                </a:solidFill>
              </a:defRPr>
            </a:pPr>
            <a:r>
              <a:t>Walmart Canada</a:t>
            </a:r>
          </a:p>
        </p:txBody>
      </p:sp>
      <p:sp>
        <p:nvSpPr>
          <p:cNvPr id="27" name="TextBox 26"/>
          <p:cNvSpPr txBox="1"/>
          <p:nvPr/>
        </p:nvSpPr>
        <p:spPr>
          <a:xfrm>
            <a:off x="4114800" y="3063240"/>
            <a:ext cx="1645920" cy="411480"/>
          </a:xfrm>
          <a:prstGeom prst="rect">
            <a:avLst/>
          </a:prstGeom>
          <a:noFill/>
        </p:spPr>
        <p:txBody>
          <a:bodyPr wrap="square">
            <a:spAutoFit/>
          </a:bodyPr>
          <a:lstStyle/>
          <a:p>
            <a:pPr algn="ctr">
              <a:defRPr sz="1400" b="0">
                <a:solidFill>
                  <a:srgbClr val="666666"/>
                </a:solidFill>
              </a:defRPr>
            </a:pPr>
            <a:r>
              <a:t>Basic</a:t>
            </a:r>
          </a:p>
        </p:txBody>
      </p:sp>
      <p:sp>
        <p:nvSpPr>
          <p:cNvPr id="28" name="TextBox 27"/>
          <p:cNvSpPr txBox="1"/>
          <p:nvPr/>
        </p:nvSpPr>
        <p:spPr>
          <a:xfrm>
            <a:off x="5760720" y="3063240"/>
            <a:ext cx="1645920" cy="411480"/>
          </a:xfrm>
          <a:prstGeom prst="rect">
            <a:avLst/>
          </a:prstGeom>
          <a:noFill/>
        </p:spPr>
        <p:txBody>
          <a:bodyPr wrap="square">
            <a:spAutoFit/>
          </a:bodyPr>
          <a:lstStyle/>
          <a:p>
            <a:pPr algn="ctr">
              <a:defRPr sz="1400" b="0">
                <a:solidFill>
                  <a:srgbClr val="D52B1E"/>
                </a:solidFill>
              </a:defRPr>
            </a:pPr>
            <a:r>
              <a:t>No</a:t>
            </a:r>
          </a:p>
        </p:txBody>
      </p:sp>
      <p:sp>
        <p:nvSpPr>
          <p:cNvPr id="29" name="TextBox 28"/>
          <p:cNvSpPr txBox="1"/>
          <p:nvPr/>
        </p:nvSpPr>
        <p:spPr>
          <a:xfrm>
            <a:off x="7406640" y="3063240"/>
            <a:ext cx="1737360" cy="411480"/>
          </a:xfrm>
          <a:prstGeom prst="rect">
            <a:avLst/>
          </a:prstGeom>
          <a:noFill/>
        </p:spPr>
        <p:txBody>
          <a:bodyPr wrap="square">
            <a:spAutoFit/>
          </a:bodyPr>
          <a:lstStyle/>
          <a:p>
            <a:pPr algn="ctr">
              <a:defRPr sz="1400" b="0">
                <a:solidFill>
                  <a:srgbClr val="D52B1E"/>
                </a:solidFill>
              </a:defRPr>
            </a:pPr>
            <a:r>
              <a:t>No</a:t>
            </a:r>
          </a:p>
        </p:txBody>
      </p:sp>
      <p:sp>
        <p:nvSpPr>
          <p:cNvPr id="30" name="TextBox 29"/>
          <p:cNvSpPr txBox="1"/>
          <p:nvPr/>
        </p:nvSpPr>
        <p:spPr>
          <a:xfrm>
            <a:off x="9144000" y="3063240"/>
            <a:ext cx="1828800" cy="411480"/>
          </a:xfrm>
          <a:prstGeom prst="rect">
            <a:avLst/>
          </a:prstGeom>
          <a:noFill/>
        </p:spPr>
        <p:txBody>
          <a:bodyPr wrap="square">
            <a:spAutoFit/>
          </a:bodyPr>
          <a:lstStyle/>
          <a:p>
            <a:pPr algn="ctr">
              <a:defRPr sz="1400" b="0">
                <a:solidFill>
                  <a:srgbClr val="D52B1E"/>
                </a:solidFill>
              </a:defRPr>
            </a:pPr>
            <a:r>
              <a:t>No</a:t>
            </a:r>
          </a:p>
        </p:txBody>
      </p:sp>
      <p:sp>
        <p:nvSpPr>
          <p:cNvPr id="31" name="Rectangle 30"/>
          <p:cNvSpPr/>
          <p:nvPr/>
        </p:nvSpPr>
        <p:spPr>
          <a:xfrm>
            <a:off x="548640" y="3566160"/>
            <a:ext cx="1078992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3611880"/>
            <a:ext cx="3383280" cy="411480"/>
          </a:xfrm>
          <a:prstGeom prst="rect">
            <a:avLst/>
          </a:prstGeom>
          <a:noFill/>
        </p:spPr>
        <p:txBody>
          <a:bodyPr wrap="square">
            <a:spAutoFit/>
          </a:bodyPr>
          <a:lstStyle/>
          <a:p>
            <a:pPr algn="l">
              <a:defRPr sz="1400" b="0">
                <a:solidFill>
                  <a:srgbClr val="333333"/>
                </a:solidFill>
              </a:defRPr>
            </a:pPr>
            <a:r>
              <a:t>Costco Canada</a:t>
            </a:r>
          </a:p>
        </p:txBody>
      </p:sp>
      <p:sp>
        <p:nvSpPr>
          <p:cNvPr id="33" name="TextBox 32"/>
          <p:cNvSpPr txBox="1"/>
          <p:nvPr/>
        </p:nvSpPr>
        <p:spPr>
          <a:xfrm>
            <a:off x="4114800" y="3611880"/>
            <a:ext cx="1645920" cy="411480"/>
          </a:xfrm>
          <a:prstGeom prst="rect">
            <a:avLst/>
          </a:prstGeom>
          <a:noFill/>
        </p:spPr>
        <p:txBody>
          <a:bodyPr wrap="square">
            <a:spAutoFit/>
          </a:bodyPr>
          <a:lstStyle/>
          <a:p>
            <a:pPr algn="ctr">
              <a:defRPr sz="1400" b="0">
                <a:solidFill>
                  <a:srgbClr val="D52B1E"/>
                </a:solidFill>
              </a:defRPr>
            </a:pPr>
            <a:r>
              <a:t>No</a:t>
            </a:r>
          </a:p>
        </p:txBody>
      </p:sp>
      <p:sp>
        <p:nvSpPr>
          <p:cNvPr id="34" name="TextBox 33"/>
          <p:cNvSpPr txBox="1"/>
          <p:nvPr/>
        </p:nvSpPr>
        <p:spPr>
          <a:xfrm>
            <a:off x="5760720" y="3611880"/>
            <a:ext cx="1645920" cy="411480"/>
          </a:xfrm>
          <a:prstGeom prst="rect">
            <a:avLst/>
          </a:prstGeom>
          <a:noFill/>
        </p:spPr>
        <p:txBody>
          <a:bodyPr wrap="square">
            <a:spAutoFit/>
          </a:bodyPr>
          <a:lstStyle/>
          <a:p>
            <a:pPr algn="ctr">
              <a:defRPr sz="1400" b="0">
                <a:solidFill>
                  <a:srgbClr val="D52B1E"/>
                </a:solidFill>
              </a:defRPr>
            </a:pPr>
            <a:r>
              <a:t>No</a:t>
            </a:r>
          </a:p>
        </p:txBody>
      </p:sp>
      <p:sp>
        <p:nvSpPr>
          <p:cNvPr id="35" name="TextBox 34"/>
          <p:cNvSpPr txBox="1"/>
          <p:nvPr/>
        </p:nvSpPr>
        <p:spPr>
          <a:xfrm>
            <a:off x="7406640" y="3611880"/>
            <a:ext cx="1737360" cy="411480"/>
          </a:xfrm>
          <a:prstGeom prst="rect">
            <a:avLst/>
          </a:prstGeom>
          <a:noFill/>
        </p:spPr>
        <p:txBody>
          <a:bodyPr wrap="square">
            <a:spAutoFit/>
          </a:bodyPr>
          <a:lstStyle/>
          <a:p>
            <a:pPr algn="ctr">
              <a:defRPr sz="1400" b="0">
                <a:solidFill>
                  <a:srgbClr val="D52B1E"/>
                </a:solidFill>
              </a:defRPr>
            </a:pPr>
            <a:r>
              <a:t>No</a:t>
            </a:r>
          </a:p>
        </p:txBody>
      </p:sp>
      <p:sp>
        <p:nvSpPr>
          <p:cNvPr id="36" name="TextBox 35"/>
          <p:cNvSpPr txBox="1"/>
          <p:nvPr/>
        </p:nvSpPr>
        <p:spPr>
          <a:xfrm>
            <a:off x="9144000" y="3611880"/>
            <a:ext cx="1828800" cy="411480"/>
          </a:xfrm>
          <a:prstGeom prst="rect">
            <a:avLst/>
          </a:prstGeom>
          <a:noFill/>
        </p:spPr>
        <p:txBody>
          <a:bodyPr wrap="square">
            <a:spAutoFit/>
          </a:bodyPr>
          <a:lstStyle/>
          <a:p>
            <a:pPr algn="ctr">
              <a:defRPr sz="1400" b="0">
                <a:solidFill>
                  <a:srgbClr val="666666"/>
                </a:solidFill>
              </a:defRPr>
            </a:pPr>
            <a:r>
              <a:t>N/A</a:t>
            </a:r>
          </a:p>
        </p:txBody>
      </p:sp>
      <p:sp>
        <p:nvSpPr>
          <p:cNvPr id="37" name="Rectangle 36"/>
          <p:cNvSpPr/>
          <p:nvPr/>
        </p:nvSpPr>
        <p:spPr>
          <a:xfrm>
            <a:off x="548640" y="4114800"/>
            <a:ext cx="10789920" cy="5029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1520" y="4160520"/>
            <a:ext cx="3383280" cy="411480"/>
          </a:xfrm>
          <a:prstGeom prst="rect">
            <a:avLst/>
          </a:prstGeom>
          <a:noFill/>
        </p:spPr>
        <p:txBody>
          <a:bodyPr wrap="square">
            <a:spAutoFit/>
          </a:bodyPr>
          <a:lstStyle/>
          <a:p>
            <a:pPr algn="l">
              <a:defRPr sz="1400" b="0">
                <a:solidFill>
                  <a:srgbClr val="333333"/>
                </a:solidFill>
              </a:defRPr>
            </a:pPr>
            <a:r>
              <a:t>Home Depot Canada</a:t>
            </a:r>
          </a:p>
        </p:txBody>
      </p:sp>
      <p:sp>
        <p:nvSpPr>
          <p:cNvPr id="39" name="TextBox 38"/>
          <p:cNvSpPr txBox="1"/>
          <p:nvPr/>
        </p:nvSpPr>
        <p:spPr>
          <a:xfrm>
            <a:off x="4114800" y="4160520"/>
            <a:ext cx="1645920" cy="411480"/>
          </a:xfrm>
          <a:prstGeom prst="rect">
            <a:avLst/>
          </a:prstGeom>
          <a:noFill/>
        </p:spPr>
        <p:txBody>
          <a:bodyPr wrap="square">
            <a:spAutoFit/>
          </a:bodyPr>
          <a:lstStyle/>
          <a:p>
            <a:pPr algn="ctr">
              <a:defRPr sz="1400" b="0">
                <a:solidFill>
                  <a:srgbClr val="666666"/>
                </a:solidFill>
              </a:defRPr>
            </a:pPr>
            <a:r>
              <a:t>Basic</a:t>
            </a:r>
          </a:p>
        </p:txBody>
      </p:sp>
      <p:sp>
        <p:nvSpPr>
          <p:cNvPr id="40" name="TextBox 39"/>
          <p:cNvSpPr txBox="1"/>
          <p:nvPr/>
        </p:nvSpPr>
        <p:spPr>
          <a:xfrm>
            <a:off x="5760720" y="4160520"/>
            <a:ext cx="1645920" cy="411480"/>
          </a:xfrm>
          <a:prstGeom prst="rect">
            <a:avLst/>
          </a:prstGeom>
          <a:noFill/>
        </p:spPr>
        <p:txBody>
          <a:bodyPr wrap="square">
            <a:spAutoFit/>
          </a:bodyPr>
          <a:lstStyle/>
          <a:p>
            <a:pPr algn="ctr">
              <a:defRPr sz="1400" b="0">
                <a:solidFill>
                  <a:srgbClr val="D52B1E"/>
                </a:solidFill>
              </a:defRPr>
            </a:pPr>
            <a:r>
              <a:t>No</a:t>
            </a:r>
          </a:p>
        </p:txBody>
      </p:sp>
      <p:sp>
        <p:nvSpPr>
          <p:cNvPr id="41" name="TextBox 40"/>
          <p:cNvSpPr txBox="1"/>
          <p:nvPr/>
        </p:nvSpPr>
        <p:spPr>
          <a:xfrm>
            <a:off x="7406640" y="4160520"/>
            <a:ext cx="1737360" cy="411480"/>
          </a:xfrm>
          <a:prstGeom prst="rect">
            <a:avLst/>
          </a:prstGeom>
          <a:noFill/>
        </p:spPr>
        <p:txBody>
          <a:bodyPr wrap="square">
            <a:spAutoFit/>
          </a:bodyPr>
          <a:lstStyle/>
          <a:p>
            <a:pPr algn="ctr">
              <a:defRPr sz="1400" b="0">
                <a:solidFill>
                  <a:srgbClr val="D52B1E"/>
                </a:solidFill>
              </a:defRPr>
            </a:pPr>
            <a:r>
              <a:t>No</a:t>
            </a:r>
          </a:p>
        </p:txBody>
      </p:sp>
      <p:sp>
        <p:nvSpPr>
          <p:cNvPr id="42" name="TextBox 41"/>
          <p:cNvSpPr txBox="1"/>
          <p:nvPr/>
        </p:nvSpPr>
        <p:spPr>
          <a:xfrm>
            <a:off x="9144000" y="4160520"/>
            <a:ext cx="1828800" cy="411480"/>
          </a:xfrm>
          <a:prstGeom prst="rect">
            <a:avLst/>
          </a:prstGeom>
          <a:noFill/>
        </p:spPr>
        <p:txBody>
          <a:bodyPr wrap="square">
            <a:spAutoFit/>
          </a:bodyPr>
          <a:lstStyle/>
          <a:p>
            <a:pPr algn="ctr">
              <a:defRPr sz="1400" b="0">
                <a:solidFill>
                  <a:srgbClr val="666666"/>
                </a:solidFill>
              </a:defRPr>
            </a:pPr>
            <a:r>
              <a:t>N/A</a:t>
            </a:r>
          </a:p>
        </p:txBody>
      </p:sp>
      <p:sp>
        <p:nvSpPr>
          <p:cNvPr id="43" name="Rectangle 42"/>
          <p:cNvSpPr/>
          <p:nvPr/>
        </p:nvSpPr>
        <p:spPr>
          <a:xfrm>
            <a:off x="548640" y="4663440"/>
            <a:ext cx="1078992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1520" y="4709160"/>
            <a:ext cx="3383280" cy="411480"/>
          </a:xfrm>
          <a:prstGeom prst="rect">
            <a:avLst/>
          </a:prstGeom>
          <a:noFill/>
        </p:spPr>
        <p:txBody>
          <a:bodyPr wrap="square">
            <a:spAutoFit/>
          </a:bodyPr>
          <a:lstStyle/>
          <a:p>
            <a:pPr algn="l">
              <a:defRPr sz="1400" b="0">
                <a:solidFill>
                  <a:srgbClr val="333333"/>
                </a:solidFill>
              </a:defRPr>
            </a:pPr>
            <a:r>
              <a:t>Best Buy Canada</a:t>
            </a:r>
          </a:p>
        </p:txBody>
      </p:sp>
      <p:sp>
        <p:nvSpPr>
          <p:cNvPr id="45" name="TextBox 44"/>
          <p:cNvSpPr txBox="1"/>
          <p:nvPr/>
        </p:nvSpPr>
        <p:spPr>
          <a:xfrm>
            <a:off x="4114800" y="4709160"/>
            <a:ext cx="1645920" cy="411480"/>
          </a:xfrm>
          <a:prstGeom prst="rect">
            <a:avLst/>
          </a:prstGeom>
          <a:noFill/>
        </p:spPr>
        <p:txBody>
          <a:bodyPr wrap="square">
            <a:spAutoFit/>
          </a:bodyPr>
          <a:lstStyle/>
          <a:p>
            <a:pPr algn="ctr">
              <a:defRPr sz="1400" b="1">
                <a:solidFill>
                  <a:srgbClr val="2E7D32"/>
                </a:solidFill>
              </a:defRPr>
            </a:pPr>
            <a:r>
              <a:t>Yes</a:t>
            </a:r>
          </a:p>
        </p:txBody>
      </p:sp>
      <p:sp>
        <p:nvSpPr>
          <p:cNvPr id="46" name="TextBox 45"/>
          <p:cNvSpPr txBox="1"/>
          <p:nvPr/>
        </p:nvSpPr>
        <p:spPr>
          <a:xfrm>
            <a:off x="5760720" y="4709160"/>
            <a:ext cx="1645920" cy="411480"/>
          </a:xfrm>
          <a:prstGeom prst="rect">
            <a:avLst/>
          </a:prstGeom>
          <a:noFill/>
        </p:spPr>
        <p:txBody>
          <a:bodyPr wrap="square">
            <a:spAutoFit/>
          </a:bodyPr>
          <a:lstStyle/>
          <a:p>
            <a:pPr algn="ctr">
              <a:defRPr sz="1400" b="0">
                <a:solidFill>
                  <a:srgbClr val="D52B1E"/>
                </a:solidFill>
              </a:defRPr>
            </a:pPr>
            <a:r>
              <a:t>No</a:t>
            </a:r>
          </a:p>
        </p:txBody>
      </p:sp>
      <p:sp>
        <p:nvSpPr>
          <p:cNvPr id="47" name="TextBox 46"/>
          <p:cNvSpPr txBox="1"/>
          <p:nvPr/>
        </p:nvSpPr>
        <p:spPr>
          <a:xfrm>
            <a:off x="7406640" y="4709160"/>
            <a:ext cx="1737360" cy="411480"/>
          </a:xfrm>
          <a:prstGeom prst="rect">
            <a:avLst/>
          </a:prstGeom>
          <a:noFill/>
        </p:spPr>
        <p:txBody>
          <a:bodyPr wrap="square">
            <a:spAutoFit/>
          </a:bodyPr>
          <a:lstStyle/>
          <a:p>
            <a:pPr algn="ctr">
              <a:defRPr sz="1400" b="0">
                <a:solidFill>
                  <a:srgbClr val="666666"/>
                </a:solidFill>
              </a:defRPr>
            </a:pPr>
            <a:r>
              <a:t>Limited</a:t>
            </a:r>
          </a:p>
        </p:txBody>
      </p:sp>
      <p:sp>
        <p:nvSpPr>
          <p:cNvPr id="48" name="TextBox 47"/>
          <p:cNvSpPr txBox="1"/>
          <p:nvPr/>
        </p:nvSpPr>
        <p:spPr>
          <a:xfrm>
            <a:off x="9144000" y="4709160"/>
            <a:ext cx="1828800" cy="411480"/>
          </a:xfrm>
          <a:prstGeom prst="rect">
            <a:avLst/>
          </a:prstGeom>
          <a:noFill/>
        </p:spPr>
        <p:txBody>
          <a:bodyPr wrap="square">
            <a:spAutoFit/>
          </a:bodyPr>
          <a:lstStyle/>
          <a:p>
            <a:pPr algn="ctr">
              <a:defRPr sz="1400" b="0">
                <a:solidFill>
                  <a:srgbClr val="666666"/>
                </a:solidFill>
              </a:defRPr>
            </a:pPr>
            <a:r>
              <a:t>N/A</a:t>
            </a:r>
          </a:p>
        </p:txBody>
      </p:sp>
      <p:sp>
        <p:nvSpPr>
          <p:cNvPr id="49" name="Rectangle 48"/>
          <p:cNvSpPr/>
          <p:nvPr/>
        </p:nvSpPr>
        <p:spPr>
          <a:xfrm>
            <a:off x="731520" y="5394960"/>
            <a:ext cx="10058400" cy="6400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14400" y="5486400"/>
            <a:ext cx="9601200" cy="457200"/>
          </a:xfrm>
          <a:prstGeom prst="rect">
            <a:avLst/>
          </a:prstGeom>
          <a:noFill/>
        </p:spPr>
        <p:txBody>
          <a:bodyPr wrap="square">
            <a:spAutoFit/>
          </a:bodyPr>
          <a:lstStyle/>
          <a:p>
            <a:pPr algn="ctr">
              <a:defRPr sz="1500" b="1">
                <a:solidFill>
                  <a:srgbClr val="333333"/>
                </a:solidFill>
              </a:defRPr>
            </a:pPr>
            <a:r>
              <a:t>No Canadian competitor combines all four capabilities. CTC has a clear first-mover advantage.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640080"/>
          </a:xfrm>
          <a:prstGeom prst="rect">
            <a:avLst/>
          </a:prstGeom>
          <a:noFill/>
        </p:spPr>
        <p:txBody>
          <a:bodyPr wrap="square">
            <a:spAutoFit/>
          </a:bodyPr>
          <a:lstStyle/>
          <a:p>
            <a:pPr algn="l">
              <a:defRPr sz="3200" b="1">
                <a:solidFill>
                  <a:srgbClr val="FFFFFF"/>
                </a:solidFill>
              </a:defRPr>
            </a:pPr>
            <a:r>
              <a:t>Implementation Approach</a:t>
            </a:r>
          </a:p>
        </p:txBody>
      </p:sp>
      <p:sp>
        <p:nvSpPr>
          <p:cNvPr id="4" name="TextBox 3"/>
          <p:cNvSpPr txBox="1"/>
          <p:nvPr/>
        </p:nvSpPr>
        <p:spPr>
          <a:xfrm>
            <a:off x="548640" y="594360"/>
            <a:ext cx="9144000" cy="365760"/>
          </a:xfrm>
          <a:prstGeom prst="rect">
            <a:avLst/>
          </a:prstGeom>
          <a:noFill/>
        </p:spPr>
        <p:txBody>
          <a:bodyPr wrap="square">
            <a:spAutoFit/>
          </a:bodyPr>
          <a:lstStyle/>
          <a:p>
            <a:pPr algn="l">
              <a:defRPr sz="1600" b="0">
                <a:solidFill>
                  <a:srgbClr val="FFCCCC"/>
                </a:solidFill>
              </a:defRPr>
            </a:pPr>
            <a:r>
              <a:t>Fully Agentic AI SDLC powered by EPAM EliteA</a:t>
            </a:r>
          </a:p>
        </p:txBody>
      </p:sp>
      <p:sp>
        <p:nvSpPr>
          <p:cNvPr id="5" name="TextBox 4"/>
          <p:cNvSpPr txBox="1"/>
          <p:nvPr/>
        </p:nvSpPr>
        <p:spPr>
          <a:xfrm>
            <a:off x="548640" y="6400800"/>
            <a:ext cx="4572000" cy="365760"/>
          </a:xfrm>
          <a:prstGeom prst="rect">
            <a:avLst/>
          </a:prstGeom>
          <a:noFill/>
        </p:spPr>
        <p:txBody>
          <a:bodyPr wrap="square">
            <a:spAutoFit/>
          </a:bodyPr>
          <a:lstStyle/>
          <a:p>
            <a:pPr algn="l">
              <a:defRPr sz="1000" b="0">
                <a:solidFill>
                  <a:srgbClr val="666666"/>
                </a:solidFill>
              </a:defRPr>
            </a:pPr>
            <a:r>
              <a:t>EPAM Systems | Confidential</a:t>
            </a:r>
          </a:p>
        </p:txBody>
      </p:sp>
      <p:sp>
        <p:nvSpPr>
          <p:cNvPr id="6" name="TextBox 5"/>
          <p:cNvSpPr txBox="1"/>
          <p:nvPr/>
        </p:nvSpPr>
        <p:spPr>
          <a:xfrm>
            <a:off x="8229600" y="6400800"/>
            <a:ext cx="3657600" cy="365760"/>
          </a:xfrm>
          <a:prstGeom prst="rect">
            <a:avLst/>
          </a:prstGeom>
          <a:noFill/>
        </p:spPr>
        <p:txBody>
          <a:bodyPr wrap="square">
            <a:spAutoFit/>
          </a:bodyPr>
          <a:lstStyle/>
          <a:p>
            <a:pPr algn="r">
              <a:defRPr sz="1000" b="0">
                <a:solidFill>
                  <a:srgbClr val="666666"/>
                </a:solidFill>
              </a:defRPr>
            </a:pPr>
            <a:r>
              <a:t>CTC Mobile Wishlist — Business Case</a:t>
            </a:r>
          </a:p>
        </p:txBody>
      </p:sp>
      <p:sp>
        <p:nvSpPr>
          <p:cNvPr id="7" name="TextBox 6"/>
          <p:cNvSpPr txBox="1"/>
          <p:nvPr/>
        </p:nvSpPr>
        <p:spPr>
          <a:xfrm>
            <a:off x="731520" y="1188720"/>
            <a:ext cx="10058400" cy="457200"/>
          </a:xfrm>
          <a:prstGeom prst="rect">
            <a:avLst/>
          </a:prstGeom>
          <a:noFill/>
        </p:spPr>
        <p:txBody>
          <a:bodyPr wrap="square">
            <a:spAutoFit/>
          </a:bodyPr>
          <a:lstStyle/>
          <a:p>
            <a:pPr algn="l">
              <a:defRPr sz="2000" b="1">
                <a:solidFill>
                  <a:srgbClr val="333333"/>
                </a:solidFill>
              </a:defRPr>
            </a:pPr>
            <a:r>
              <a:t>EPAM EliteA: AI-Augmented Software Development at Scale</a:t>
            </a:r>
          </a:p>
        </p:txBody>
      </p:sp>
      <p:sp>
        <p:nvSpPr>
          <p:cNvPr id="8" name="TextBox 7"/>
          <p:cNvSpPr txBox="1"/>
          <p:nvPr/>
        </p:nvSpPr>
        <p:spPr>
          <a:xfrm>
            <a:off x="731520" y="1645920"/>
            <a:ext cx="10058400" cy="731520"/>
          </a:xfrm>
          <a:prstGeom prst="rect">
            <a:avLst/>
          </a:prstGeom>
          <a:noFill/>
        </p:spPr>
        <p:txBody>
          <a:bodyPr wrap="square">
            <a:spAutoFit/>
          </a:bodyPr>
          <a:lstStyle/>
          <a:p>
            <a:pPr algn="l">
              <a:defRPr sz="1400" b="0">
                <a:solidFill>
                  <a:srgbClr val="666666"/>
                </a:solidFill>
              </a:defRPr>
            </a:pPr>
            <a:r>
              <a:t>EliteA is EPAM's proprietary agentic AI platform that orchestrates the full SDLC — from requirements to deployment — using specialized AI agents supervised by senior engineers. This approach delivers 3-5x velocity improvement over traditional development while maintaining enterprise-grade quality.</a:t>
            </a:r>
          </a:p>
        </p:txBody>
      </p:sp>
      <p:sp>
        <p:nvSpPr>
          <p:cNvPr id="9" name="Rectangle 8"/>
          <p:cNvSpPr/>
          <p:nvPr/>
        </p:nvSpPr>
        <p:spPr>
          <a:xfrm>
            <a:off x="365760" y="2743200"/>
            <a:ext cx="2103120" cy="32004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97280" y="2834640"/>
            <a:ext cx="640080" cy="64008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880360"/>
            <a:ext cx="640080" cy="640080"/>
          </a:xfrm>
          <a:prstGeom prst="rect">
            <a:avLst/>
          </a:prstGeom>
          <a:noFill/>
        </p:spPr>
        <p:txBody>
          <a:bodyPr wrap="square">
            <a:spAutoFit/>
          </a:bodyPr>
          <a:lstStyle/>
          <a:p>
            <a:pPr algn="ctr">
              <a:defRPr sz="2200" b="1">
                <a:solidFill>
                  <a:srgbClr val="FFFFFF"/>
                </a:solidFill>
              </a:defRPr>
            </a:pPr>
            <a:r>
              <a:t>1</a:t>
            </a:r>
          </a:p>
        </p:txBody>
      </p:sp>
      <p:sp>
        <p:nvSpPr>
          <p:cNvPr id="12" name="TextBox 11"/>
          <p:cNvSpPr txBox="1"/>
          <p:nvPr/>
        </p:nvSpPr>
        <p:spPr>
          <a:xfrm>
            <a:off x="457200" y="3566160"/>
            <a:ext cx="1920240" cy="640080"/>
          </a:xfrm>
          <a:prstGeom prst="rect">
            <a:avLst/>
          </a:prstGeom>
          <a:noFill/>
        </p:spPr>
        <p:txBody>
          <a:bodyPr wrap="square">
            <a:spAutoFit/>
          </a:bodyPr>
          <a:lstStyle/>
          <a:p>
            <a:pPr algn="ctr">
              <a:defRPr sz="1300" b="1">
                <a:solidFill>
                  <a:srgbClr val="333333"/>
                </a:solidFill>
              </a:defRPr>
            </a:pPr>
            <a:r>
              <a:t>Requirements</a:t>
            </a:r>
            <a:br/>
            <a:r>
              <a:t>&amp; Architecture</a:t>
            </a:r>
          </a:p>
        </p:txBody>
      </p:sp>
      <p:sp>
        <p:nvSpPr>
          <p:cNvPr id="13" name="TextBox 12"/>
          <p:cNvSpPr txBox="1"/>
          <p:nvPr/>
        </p:nvSpPr>
        <p:spPr>
          <a:xfrm>
            <a:off x="457200" y="4206240"/>
            <a:ext cx="1920240" cy="1371600"/>
          </a:xfrm>
          <a:prstGeom prst="rect">
            <a:avLst/>
          </a:prstGeom>
          <a:noFill/>
        </p:spPr>
        <p:txBody>
          <a:bodyPr wrap="square">
            <a:spAutoFit/>
          </a:bodyPr>
          <a:lstStyle/>
          <a:p>
            <a:pPr algn="ctr">
              <a:defRPr sz="1000" b="0">
                <a:solidFill>
                  <a:srgbClr val="666666"/>
                </a:solidFill>
              </a:defRPr>
            </a:pPr>
            <a:r>
              <a:t>AI agents analyze</a:t>
            </a:r>
            <a:br/>
            <a:r>
              <a:t>business requirements,</a:t>
            </a:r>
            <a:br/>
            <a:r>
              <a:t>generate architecture</a:t>
            </a:r>
            <a:br/>
            <a:r>
              <a:t>docs, data schemas,</a:t>
            </a:r>
            <a:br/>
            <a:r>
              <a:t>and API contracts</a:t>
            </a:r>
          </a:p>
        </p:txBody>
      </p:sp>
      <p:sp>
        <p:nvSpPr>
          <p:cNvPr id="14" name="Rectangle 13"/>
          <p:cNvSpPr/>
          <p:nvPr/>
        </p:nvSpPr>
        <p:spPr>
          <a:xfrm>
            <a:off x="822960" y="5577840"/>
            <a:ext cx="1188720" cy="32004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5577840"/>
            <a:ext cx="1188720" cy="320040"/>
          </a:xfrm>
          <a:prstGeom prst="rect">
            <a:avLst/>
          </a:prstGeom>
          <a:noFill/>
        </p:spPr>
        <p:txBody>
          <a:bodyPr wrap="square">
            <a:spAutoFit/>
          </a:bodyPr>
          <a:lstStyle/>
          <a:p>
            <a:pPr algn="ctr">
              <a:defRPr sz="1100" b="1">
                <a:solidFill>
                  <a:srgbClr val="FFFFFF"/>
                </a:solidFill>
              </a:defRPr>
            </a:pPr>
            <a:r>
              <a:t>1-2 weeks</a:t>
            </a:r>
          </a:p>
        </p:txBody>
      </p:sp>
      <p:sp>
        <p:nvSpPr>
          <p:cNvPr id="16" name="Rectangle 15"/>
          <p:cNvSpPr/>
          <p:nvPr/>
        </p:nvSpPr>
        <p:spPr>
          <a:xfrm>
            <a:off x="2651760" y="2743200"/>
            <a:ext cx="2103120" cy="32004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83280" y="2834640"/>
            <a:ext cx="640080" cy="64008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83280" y="2880360"/>
            <a:ext cx="640080" cy="640080"/>
          </a:xfrm>
          <a:prstGeom prst="rect">
            <a:avLst/>
          </a:prstGeom>
          <a:noFill/>
        </p:spPr>
        <p:txBody>
          <a:bodyPr wrap="square">
            <a:spAutoFit/>
          </a:bodyPr>
          <a:lstStyle/>
          <a:p>
            <a:pPr algn="ctr">
              <a:defRPr sz="2200" b="1">
                <a:solidFill>
                  <a:srgbClr val="FFFFFF"/>
                </a:solidFill>
              </a:defRPr>
            </a:pPr>
            <a:r>
              <a:t>2</a:t>
            </a:r>
          </a:p>
        </p:txBody>
      </p:sp>
      <p:sp>
        <p:nvSpPr>
          <p:cNvPr id="19" name="TextBox 18"/>
          <p:cNvSpPr txBox="1"/>
          <p:nvPr/>
        </p:nvSpPr>
        <p:spPr>
          <a:xfrm>
            <a:off x="2743200" y="3566160"/>
            <a:ext cx="1920240" cy="640080"/>
          </a:xfrm>
          <a:prstGeom prst="rect">
            <a:avLst/>
          </a:prstGeom>
          <a:noFill/>
        </p:spPr>
        <p:txBody>
          <a:bodyPr wrap="square">
            <a:spAutoFit/>
          </a:bodyPr>
          <a:lstStyle/>
          <a:p>
            <a:pPr algn="ctr">
              <a:defRPr sz="1300" b="1">
                <a:solidFill>
                  <a:srgbClr val="333333"/>
                </a:solidFill>
              </a:defRPr>
            </a:pPr>
            <a:r>
              <a:t>Agentic</a:t>
            </a:r>
            <a:br/>
            <a:r>
              <a:t>Development</a:t>
            </a:r>
          </a:p>
        </p:txBody>
      </p:sp>
      <p:sp>
        <p:nvSpPr>
          <p:cNvPr id="20" name="TextBox 19"/>
          <p:cNvSpPr txBox="1"/>
          <p:nvPr/>
        </p:nvSpPr>
        <p:spPr>
          <a:xfrm>
            <a:off x="2743200" y="4206240"/>
            <a:ext cx="1920240" cy="1371600"/>
          </a:xfrm>
          <a:prstGeom prst="rect">
            <a:avLst/>
          </a:prstGeom>
          <a:noFill/>
        </p:spPr>
        <p:txBody>
          <a:bodyPr wrap="square">
            <a:spAutoFit/>
          </a:bodyPr>
          <a:lstStyle/>
          <a:p>
            <a:pPr algn="ctr">
              <a:defRPr sz="1000" b="0">
                <a:solidFill>
                  <a:srgbClr val="666666"/>
                </a:solidFill>
              </a:defRPr>
            </a:pPr>
            <a:r>
              <a:t>Coding agents generate</a:t>
            </a:r>
            <a:br/>
            <a:r>
              <a:t>features in parallel.</a:t>
            </a:r>
            <a:br/>
            <a:r>
              <a:t>Human engineers review,</a:t>
            </a:r>
            <a:br/>
            <a:r>
              <a:t>guide, and approve</a:t>
            </a:r>
            <a:br/>
            <a:r>
              <a:t>all output</a:t>
            </a:r>
          </a:p>
        </p:txBody>
      </p:sp>
      <p:sp>
        <p:nvSpPr>
          <p:cNvPr id="21" name="Rectangle 20"/>
          <p:cNvSpPr/>
          <p:nvPr/>
        </p:nvSpPr>
        <p:spPr>
          <a:xfrm>
            <a:off x="3108960" y="5577840"/>
            <a:ext cx="1188720" cy="32004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108960" y="5577840"/>
            <a:ext cx="1188720" cy="320040"/>
          </a:xfrm>
          <a:prstGeom prst="rect">
            <a:avLst/>
          </a:prstGeom>
          <a:noFill/>
        </p:spPr>
        <p:txBody>
          <a:bodyPr wrap="square">
            <a:spAutoFit/>
          </a:bodyPr>
          <a:lstStyle/>
          <a:p>
            <a:pPr algn="ctr">
              <a:defRPr sz="1100" b="1">
                <a:solidFill>
                  <a:srgbClr val="FFFFFF"/>
                </a:solidFill>
              </a:defRPr>
            </a:pPr>
            <a:r>
              <a:t>3-4 weeks</a:t>
            </a:r>
          </a:p>
        </p:txBody>
      </p:sp>
      <p:sp>
        <p:nvSpPr>
          <p:cNvPr id="23" name="Rectangle 22"/>
          <p:cNvSpPr/>
          <p:nvPr/>
        </p:nvSpPr>
        <p:spPr>
          <a:xfrm>
            <a:off x="4937760" y="2743200"/>
            <a:ext cx="2103120" cy="32004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0" y="2834640"/>
            <a:ext cx="640080" cy="64008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0" y="2880360"/>
            <a:ext cx="640080" cy="640080"/>
          </a:xfrm>
          <a:prstGeom prst="rect">
            <a:avLst/>
          </a:prstGeom>
          <a:noFill/>
        </p:spPr>
        <p:txBody>
          <a:bodyPr wrap="square">
            <a:spAutoFit/>
          </a:bodyPr>
          <a:lstStyle/>
          <a:p>
            <a:pPr algn="ctr">
              <a:defRPr sz="2200" b="1">
                <a:solidFill>
                  <a:srgbClr val="FFFFFF"/>
                </a:solidFill>
              </a:defRPr>
            </a:pPr>
            <a:r>
              <a:t>3</a:t>
            </a:r>
          </a:p>
        </p:txBody>
      </p:sp>
      <p:sp>
        <p:nvSpPr>
          <p:cNvPr id="26" name="TextBox 25"/>
          <p:cNvSpPr txBox="1"/>
          <p:nvPr/>
        </p:nvSpPr>
        <p:spPr>
          <a:xfrm>
            <a:off x="5029200" y="3566160"/>
            <a:ext cx="1920240" cy="640080"/>
          </a:xfrm>
          <a:prstGeom prst="rect">
            <a:avLst/>
          </a:prstGeom>
          <a:noFill/>
        </p:spPr>
        <p:txBody>
          <a:bodyPr wrap="square">
            <a:spAutoFit/>
          </a:bodyPr>
          <a:lstStyle/>
          <a:p>
            <a:pPr algn="ctr">
              <a:defRPr sz="1300" b="1">
                <a:solidFill>
                  <a:srgbClr val="333333"/>
                </a:solidFill>
              </a:defRPr>
            </a:pPr>
            <a:r>
              <a:t>AI-Assisted</a:t>
            </a:r>
            <a:br/>
            <a:r>
              <a:t>QA &amp; Testing</a:t>
            </a:r>
          </a:p>
        </p:txBody>
      </p:sp>
      <p:sp>
        <p:nvSpPr>
          <p:cNvPr id="27" name="TextBox 26"/>
          <p:cNvSpPr txBox="1"/>
          <p:nvPr/>
        </p:nvSpPr>
        <p:spPr>
          <a:xfrm>
            <a:off x="5029200" y="4206240"/>
            <a:ext cx="1920240" cy="1371600"/>
          </a:xfrm>
          <a:prstGeom prst="rect">
            <a:avLst/>
          </a:prstGeom>
          <a:noFill/>
        </p:spPr>
        <p:txBody>
          <a:bodyPr wrap="square">
            <a:spAutoFit/>
          </a:bodyPr>
          <a:lstStyle/>
          <a:p>
            <a:pPr algn="ctr">
              <a:defRPr sz="1000" b="0">
                <a:solidFill>
                  <a:srgbClr val="666666"/>
                </a:solidFill>
              </a:defRPr>
            </a:pPr>
            <a:r>
              <a:t>Test agents generate</a:t>
            </a:r>
            <a:br/>
            <a:r>
              <a:t>unit/integration/E2E</a:t>
            </a:r>
            <a:br/>
            <a:r>
              <a:t>tests. Coverage agents</a:t>
            </a:r>
            <a:br/>
            <a:r>
              <a:t>enforce 80%+ coverage</a:t>
            </a:r>
            <a:br/>
            <a:r>
              <a:t>thresholds</a:t>
            </a:r>
          </a:p>
        </p:txBody>
      </p:sp>
      <p:sp>
        <p:nvSpPr>
          <p:cNvPr id="28" name="Rectangle 27"/>
          <p:cNvSpPr/>
          <p:nvPr/>
        </p:nvSpPr>
        <p:spPr>
          <a:xfrm>
            <a:off x="5394960" y="5577840"/>
            <a:ext cx="1188720" cy="32004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94960" y="5577840"/>
            <a:ext cx="1188720" cy="320040"/>
          </a:xfrm>
          <a:prstGeom prst="rect">
            <a:avLst/>
          </a:prstGeom>
          <a:noFill/>
        </p:spPr>
        <p:txBody>
          <a:bodyPr wrap="square">
            <a:spAutoFit/>
          </a:bodyPr>
          <a:lstStyle/>
          <a:p>
            <a:pPr algn="ctr">
              <a:defRPr sz="1100" b="1">
                <a:solidFill>
                  <a:srgbClr val="FFFFFF"/>
                </a:solidFill>
              </a:defRPr>
            </a:pPr>
            <a:r>
              <a:t>1-2 weeks</a:t>
            </a:r>
          </a:p>
        </p:txBody>
      </p:sp>
      <p:sp>
        <p:nvSpPr>
          <p:cNvPr id="30" name="Rectangle 29"/>
          <p:cNvSpPr/>
          <p:nvPr/>
        </p:nvSpPr>
        <p:spPr>
          <a:xfrm>
            <a:off x="7223760" y="2743200"/>
            <a:ext cx="2103120" cy="32004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955280" y="2834640"/>
            <a:ext cx="640080" cy="64008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55280" y="2880360"/>
            <a:ext cx="640080" cy="640080"/>
          </a:xfrm>
          <a:prstGeom prst="rect">
            <a:avLst/>
          </a:prstGeom>
          <a:noFill/>
        </p:spPr>
        <p:txBody>
          <a:bodyPr wrap="square">
            <a:spAutoFit/>
          </a:bodyPr>
          <a:lstStyle/>
          <a:p>
            <a:pPr algn="ctr">
              <a:defRPr sz="2200" b="1">
                <a:solidFill>
                  <a:srgbClr val="FFFFFF"/>
                </a:solidFill>
              </a:defRPr>
            </a:pPr>
            <a:r>
              <a:t>4</a:t>
            </a:r>
          </a:p>
        </p:txBody>
      </p:sp>
      <p:sp>
        <p:nvSpPr>
          <p:cNvPr id="33" name="TextBox 32"/>
          <p:cNvSpPr txBox="1"/>
          <p:nvPr/>
        </p:nvSpPr>
        <p:spPr>
          <a:xfrm>
            <a:off x="7315200" y="3566160"/>
            <a:ext cx="1920240" cy="640080"/>
          </a:xfrm>
          <a:prstGeom prst="rect">
            <a:avLst/>
          </a:prstGeom>
          <a:noFill/>
        </p:spPr>
        <p:txBody>
          <a:bodyPr wrap="square">
            <a:spAutoFit/>
          </a:bodyPr>
          <a:lstStyle/>
          <a:p>
            <a:pPr algn="ctr">
              <a:defRPr sz="1300" b="1">
                <a:solidFill>
                  <a:srgbClr val="333333"/>
                </a:solidFill>
              </a:defRPr>
            </a:pPr>
            <a:r>
              <a:t>Integration</a:t>
            </a:r>
            <a:br/>
            <a:r>
              <a:t>&amp; Hardening</a:t>
            </a:r>
          </a:p>
        </p:txBody>
      </p:sp>
      <p:sp>
        <p:nvSpPr>
          <p:cNvPr id="34" name="TextBox 33"/>
          <p:cNvSpPr txBox="1"/>
          <p:nvPr/>
        </p:nvSpPr>
        <p:spPr>
          <a:xfrm>
            <a:off x="7315200" y="4206240"/>
            <a:ext cx="1920240" cy="1371600"/>
          </a:xfrm>
          <a:prstGeom prst="rect">
            <a:avLst/>
          </a:prstGeom>
          <a:noFill/>
        </p:spPr>
        <p:txBody>
          <a:bodyPr wrap="square">
            <a:spAutoFit/>
          </a:bodyPr>
          <a:lstStyle/>
          <a:p>
            <a:pPr algn="ctr">
              <a:defRPr sz="1000" b="0">
                <a:solidFill>
                  <a:srgbClr val="666666"/>
                </a:solidFill>
              </a:defRPr>
            </a:pPr>
            <a:r>
              <a:t>Integration with CTC</a:t>
            </a:r>
            <a:br/>
            <a:r>
              <a:t>backend APIs, Triangle</a:t>
            </a:r>
            <a:br/>
            <a:r>
              <a:t>Rewards, product catalog.</a:t>
            </a:r>
            <a:br/>
            <a:r>
              <a:t>Security &amp; perf testing</a:t>
            </a:r>
          </a:p>
        </p:txBody>
      </p:sp>
      <p:sp>
        <p:nvSpPr>
          <p:cNvPr id="35" name="Rectangle 34"/>
          <p:cNvSpPr/>
          <p:nvPr/>
        </p:nvSpPr>
        <p:spPr>
          <a:xfrm>
            <a:off x="7680960" y="5577840"/>
            <a:ext cx="1188720" cy="32004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80960" y="5577840"/>
            <a:ext cx="1188720" cy="320040"/>
          </a:xfrm>
          <a:prstGeom prst="rect">
            <a:avLst/>
          </a:prstGeom>
          <a:noFill/>
        </p:spPr>
        <p:txBody>
          <a:bodyPr wrap="square">
            <a:spAutoFit/>
          </a:bodyPr>
          <a:lstStyle/>
          <a:p>
            <a:pPr algn="ctr">
              <a:defRPr sz="1100" b="1">
                <a:solidFill>
                  <a:srgbClr val="FFFFFF"/>
                </a:solidFill>
              </a:defRPr>
            </a:pPr>
            <a:r>
              <a:t>2-3 weeks</a:t>
            </a:r>
          </a:p>
        </p:txBody>
      </p:sp>
      <p:sp>
        <p:nvSpPr>
          <p:cNvPr id="37" name="Rectangle 36"/>
          <p:cNvSpPr/>
          <p:nvPr/>
        </p:nvSpPr>
        <p:spPr>
          <a:xfrm>
            <a:off x="9509760" y="2743200"/>
            <a:ext cx="2103120" cy="32004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241280" y="2834640"/>
            <a:ext cx="640080" cy="64008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241280" y="2880360"/>
            <a:ext cx="640080" cy="640080"/>
          </a:xfrm>
          <a:prstGeom prst="rect">
            <a:avLst/>
          </a:prstGeom>
          <a:noFill/>
        </p:spPr>
        <p:txBody>
          <a:bodyPr wrap="square">
            <a:spAutoFit/>
          </a:bodyPr>
          <a:lstStyle/>
          <a:p>
            <a:pPr algn="ctr">
              <a:defRPr sz="2200" b="1">
                <a:solidFill>
                  <a:srgbClr val="FFFFFF"/>
                </a:solidFill>
              </a:defRPr>
            </a:pPr>
            <a:r>
              <a:t>5</a:t>
            </a:r>
          </a:p>
        </p:txBody>
      </p:sp>
      <p:sp>
        <p:nvSpPr>
          <p:cNvPr id="40" name="TextBox 39"/>
          <p:cNvSpPr txBox="1"/>
          <p:nvPr/>
        </p:nvSpPr>
        <p:spPr>
          <a:xfrm>
            <a:off x="9601200" y="3566160"/>
            <a:ext cx="1920240" cy="640080"/>
          </a:xfrm>
          <a:prstGeom prst="rect">
            <a:avLst/>
          </a:prstGeom>
          <a:noFill/>
        </p:spPr>
        <p:txBody>
          <a:bodyPr wrap="square">
            <a:spAutoFit/>
          </a:bodyPr>
          <a:lstStyle/>
          <a:p>
            <a:pPr algn="ctr">
              <a:defRPr sz="1300" b="1">
                <a:solidFill>
                  <a:srgbClr val="333333"/>
                </a:solidFill>
              </a:defRPr>
            </a:pPr>
            <a:r>
              <a:t>Deployment</a:t>
            </a:r>
            <a:br/>
            <a:r>
              <a:t>&amp; Launch</a:t>
            </a:r>
          </a:p>
        </p:txBody>
      </p:sp>
      <p:sp>
        <p:nvSpPr>
          <p:cNvPr id="41" name="TextBox 40"/>
          <p:cNvSpPr txBox="1"/>
          <p:nvPr/>
        </p:nvSpPr>
        <p:spPr>
          <a:xfrm>
            <a:off x="9601200" y="4206240"/>
            <a:ext cx="1920240" cy="1371600"/>
          </a:xfrm>
          <a:prstGeom prst="rect">
            <a:avLst/>
          </a:prstGeom>
          <a:noFill/>
        </p:spPr>
        <p:txBody>
          <a:bodyPr wrap="square">
            <a:spAutoFit/>
          </a:bodyPr>
          <a:lstStyle/>
          <a:p>
            <a:pPr algn="ctr">
              <a:defRPr sz="1000" b="0">
                <a:solidFill>
                  <a:srgbClr val="666666"/>
                </a:solidFill>
              </a:defRPr>
            </a:pPr>
            <a:r>
              <a:t>CI/CD pipeline, staged</a:t>
            </a:r>
            <a:br/>
            <a:r>
              <a:t>rollout to 50 pilot</a:t>
            </a:r>
            <a:br/>
            <a:r>
              <a:t>stores, monitoring,</a:t>
            </a:r>
            <a:br/>
            <a:r>
              <a:t>A/B testing framework</a:t>
            </a:r>
          </a:p>
        </p:txBody>
      </p:sp>
      <p:sp>
        <p:nvSpPr>
          <p:cNvPr id="42" name="Rectangle 41"/>
          <p:cNvSpPr/>
          <p:nvPr/>
        </p:nvSpPr>
        <p:spPr>
          <a:xfrm>
            <a:off x="9966960" y="5577840"/>
            <a:ext cx="1188720" cy="32004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966960" y="5577840"/>
            <a:ext cx="1188720" cy="320040"/>
          </a:xfrm>
          <a:prstGeom prst="rect">
            <a:avLst/>
          </a:prstGeom>
          <a:noFill/>
        </p:spPr>
        <p:txBody>
          <a:bodyPr wrap="square">
            <a:spAutoFit/>
          </a:bodyPr>
          <a:lstStyle/>
          <a:p>
            <a:pPr algn="ctr">
              <a:defRPr sz="1100" b="1">
                <a:solidFill>
                  <a:srgbClr val="FFFFFF"/>
                </a:solidFill>
              </a:defRPr>
            </a:pPr>
            <a:r>
              <a:t>1-2 weeks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640080"/>
          </a:xfrm>
          <a:prstGeom prst="rect">
            <a:avLst/>
          </a:prstGeom>
          <a:noFill/>
        </p:spPr>
        <p:txBody>
          <a:bodyPr wrap="square">
            <a:spAutoFit/>
          </a:bodyPr>
          <a:lstStyle/>
          <a:p>
            <a:pPr algn="l">
              <a:defRPr sz="3200" b="1">
                <a:solidFill>
                  <a:srgbClr val="FFFFFF"/>
                </a:solidFill>
              </a:defRPr>
            </a:pPr>
            <a:r>
              <a:t>Resource Plan Comparison</a:t>
            </a:r>
          </a:p>
        </p:txBody>
      </p:sp>
      <p:sp>
        <p:nvSpPr>
          <p:cNvPr id="4" name="TextBox 3"/>
          <p:cNvSpPr txBox="1"/>
          <p:nvPr/>
        </p:nvSpPr>
        <p:spPr>
          <a:xfrm>
            <a:off x="548640" y="594360"/>
            <a:ext cx="9144000" cy="365760"/>
          </a:xfrm>
          <a:prstGeom prst="rect">
            <a:avLst/>
          </a:prstGeom>
          <a:noFill/>
        </p:spPr>
        <p:txBody>
          <a:bodyPr wrap="square">
            <a:spAutoFit/>
          </a:bodyPr>
          <a:lstStyle/>
          <a:p>
            <a:pPr algn="l">
              <a:defRPr sz="1600" b="0">
                <a:solidFill>
                  <a:srgbClr val="FFCCCC"/>
                </a:solidFill>
              </a:defRPr>
            </a:pPr>
            <a:r>
              <a:t>All amounts in CAD  |  Onshore: DM $200/h, BA $160/h, SA $190/h  |  160h/month</a:t>
            </a:r>
          </a:p>
        </p:txBody>
      </p:sp>
      <p:sp>
        <p:nvSpPr>
          <p:cNvPr id="5" name="TextBox 4"/>
          <p:cNvSpPr txBox="1"/>
          <p:nvPr/>
        </p:nvSpPr>
        <p:spPr>
          <a:xfrm>
            <a:off x="548640" y="6400800"/>
            <a:ext cx="4572000" cy="365760"/>
          </a:xfrm>
          <a:prstGeom prst="rect">
            <a:avLst/>
          </a:prstGeom>
          <a:noFill/>
        </p:spPr>
        <p:txBody>
          <a:bodyPr wrap="square">
            <a:spAutoFit/>
          </a:bodyPr>
          <a:lstStyle/>
          <a:p>
            <a:pPr algn="l">
              <a:defRPr sz="1000" b="0">
                <a:solidFill>
                  <a:srgbClr val="666666"/>
                </a:solidFill>
              </a:defRPr>
            </a:pPr>
            <a:r>
              <a:t>EPAM Systems | Confidential</a:t>
            </a:r>
          </a:p>
        </p:txBody>
      </p:sp>
      <p:sp>
        <p:nvSpPr>
          <p:cNvPr id="6" name="TextBox 5"/>
          <p:cNvSpPr txBox="1"/>
          <p:nvPr/>
        </p:nvSpPr>
        <p:spPr>
          <a:xfrm>
            <a:off x="8229600" y="6400800"/>
            <a:ext cx="3657600" cy="365760"/>
          </a:xfrm>
          <a:prstGeom prst="rect">
            <a:avLst/>
          </a:prstGeom>
          <a:noFill/>
        </p:spPr>
        <p:txBody>
          <a:bodyPr wrap="square">
            <a:spAutoFit/>
          </a:bodyPr>
          <a:lstStyle/>
          <a:p>
            <a:pPr algn="r">
              <a:defRPr sz="1000" b="0">
                <a:solidFill>
                  <a:srgbClr val="666666"/>
                </a:solidFill>
              </a:defRPr>
            </a:pPr>
            <a:r>
              <a:t>CTC Mobile Wishlist — Business Case</a:t>
            </a:r>
          </a:p>
        </p:txBody>
      </p:sp>
      <p:sp>
        <p:nvSpPr>
          <p:cNvPr id="7" name="Rectangle 6"/>
          <p:cNvSpPr/>
          <p:nvPr/>
        </p:nvSpPr>
        <p:spPr>
          <a:xfrm>
            <a:off x="457200" y="1188720"/>
            <a:ext cx="5486400" cy="45720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07008"/>
            <a:ext cx="5029200" cy="411480"/>
          </a:xfrm>
          <a:prstGeom prst="rect">
            <a:avLst/>
          </a:prstGeom>
          <a:noFill/>
        </p:spPr>
        <p:txBody>
          <a:bodyPr wrap="square">
            <a:spAutoFit/>
          </a:bodyPr>
          <a:lstStyle/>
          <a:p>
            <a:pPr algn="l">
              <a:defRPr sz="1600" b="1">
                <a:solidFill>
                  <a:srgbClr val="FFFFFF"/>
                </a:solidFill>
              </a:defRPr>
            </a:pPr>
            <a:r>
              <a:t>Traditional Development Model</a:t>
            </a:r>
          </a:p>
        </p:txBody>
      </p:sp>
      <p:sp>
        <p:nvSpPr>
          <p:cNvPr id="9" name="Rectangle 8"/>
          <p:cNvSpPr/>
          <p:nvPr/>
        </p:nvSpPr>
        <p:spPr>
          <a:xfrm>
            <a:off x="457200" y="1691640"/>
            <a:ext cx="5486400" cy="2926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691640"/>
            <a:ext cx="1828800" cy="274320"/>
          </a:xfrm>
          <a:prstGeom prst="rect">
            <a:avLst/>
          </a:prstGeom>
          <a:noFill/>
        </p:spPr>
        <p:txBody>
          <a:bodyPr wrap="square">
            <a:spAutoFit/>
          </a:bodyPr>
          <a:lstStyle/>
          <a:p>
            <a:pPr algn="l">
              <a:defRPr sz="800" b="1">
                <a:solidFill>
                  <a:srgbClr val="666666"/>
                </a:solidFill>
              </a:defRPr>
            </a:pPr>
            <a:r>
              <a:t>Role</a:t>
            </a:r>
          </a:p>
        </p:txBody>
      </p:sp>
      <p:sp>
        <p:nvSpPr>
          <p:cNvPr id="11" name="TextBox 10"/>
          <p:cNvSpPr txBox="1"/>
          <p:nvPr/>
        </p:nvSpPr>
        <p:spPr>
          <a:xfrm>
            <a:off x="2423160" y="1691640"/>
            <a:ext cx="320040" cy="274320"/>
          </a:xfrm>
          <a:prstGeom prst="rect">
            <a:avLst/>
          </a:prstGeom>
          <a:noFill/>
        </p:spPr>
        <p:txBody>
          <a:bodyPr wrap="square">
            <a:spAutoFit/>
          </a:bodyPr>
          <a:lstStyle/>
          <a:p>
            <a:pPr algn="l">
              <a:defRPr sz="800" b="1">
                <a:solidFill>
                  <a:srgbClr val="666666"/>
                </a:solidFill>
              </a:defRPr>
            </a:pPr>
            <a:r>
              <a:t>HC</a:t>
            </a:r>
          </a:p>
        </p:txBody>
      </p:sp>
      <p:sp>
        <p:nvSpPr>
          <p:cNvPr id="12" name="TextBox 11"/>
          <p:cNvSpPr txBox="1"/>
          <p:nvPr/>
        </p:nvSpPr>
        <p:spPr>
          <a:xfrm>
            <a:off x="2788920" y="1691640"/>
            <a:ext cx="502920" cy="274320"/>
          </a:xfrm>
          <a:prstGeom prst="rect">
            <a:avLst/>
          </a:prstGeom>
          <a:noFill/>
        </p:spPr>
        <p:txBody>
          <a:bodyPr wrap="square">
            <a:spAutoFit/>
          </a:bodyPr>
          <a:lstStyle/>
          <a:p>
            <a:pPr algn="l">
              <a:defRPr sz="800" b="1">
                <a:solidFill>
                  <a:srgbClr val="666666"/>
                </a:solidFill>
              </a:defRPr>
            </a:pPr>
            <a:r>
              <a:t>Shore</a:t>
            </a:r>
          </a:p>
        </p:txBody>
      </p:sp>
      <p:sp>
        <p:nvSpPr>
          <p:cNvPr id="13" name="TextBox 12"/>
          <p:cNvSpPr txBox="1"/>
          <p:nvPr/>
        </p:nvSpPr>
        <p:spPr>
          <a:xfrm>
            <a:off x="3337560" y="1691640"/>
            <a:ext cx="548640" cy="274320"/>
          </a:xfrm>
          <a:prstGeom prst="rect">
            <a:avLst/>
          </a:prstGeom>
          <a:noFill/>
        </p:spPr>
        <p:txBody>
          <a:bodyPr wrap="square">
            <a:spAutoFit/>
          </a:bodyPr>
          <a:lstStyle/>
          <a:p>
            <a:pPr algn="l">
              <a:defRPr sz="800" b="1">
                <a:solidFill>
                  <a:srgbClr val="666666"/>
                </a:solidFill>
              </a:defRPr>
            </a:pPr>
            <a:r>
              <a:t>Rate/h</a:t>
            </a:r>
          </a:p>
        </p:txBody>
      </p:sp>
      <p:sp>
        <p:nvSpPr>
          <p:cNvPr id="14" name="TextBox 13"/>
          <p:cNvSpPr txBox="1"/>
          <p:nvPr/>
        </p:nvSpPr>
        <p:spPr>
          <a:xfrm>
            <a:off x="3977639" y="1691640"/>
            <a:ext cx="731520" cy="274320"/>
          </a:xfrm>
          <a:prstGeom prst="rect">
            <a:avLst/>
          </a:prstGeom>
          <a:noFill/>
        </p:spPr>
        <p:txBody>
          <a:bodyPr wrap="square">
            <a:spAutoFit/>
          </a:bodyPr>
          <a:lstStyle/>
          <a:p>
            <a:pPr algn="l">
              <a:defRPr sz="800" b="1">
                <a:solidFill>
                  <a:srgbClr val="666666"/>
                </a:solidFill>
              </a:defRPr>
            </a:pPr>
            <a:r>
              <a:t>Duration</a:t>
            </a:r>
          </a:p>
        </p:txBody>
      </p:sp>
      <p:sp>
        <p:nvSpPr>
          <p:cNvPr id="15" name="TextBox 14"/>
          <p:cNvSpPr txBox="1"/>
          <p:nvPr/>
        </p:nvSpPr>
        <p:spPr>
          <a:xfrm>
            <a:off x="4754880" y="1691640"/>
            <a:ext cx="1097280" cy="274320"/>
          </a:xfrm>
          <a:prstGeom prst="rect">
            <a:avLst/>
          </a:prstGeom>
          <a:noFill/>
        </p:spPr>
        <p:txBody>
          <a:bodyPr wrap="square">
            <a:spAutoFit/>
          </a:bodyPr>
          <a:lstStyle/>
          <a:p>
            <a:pPr algn="l">
              <a:defRPr sz="800" b="1">
                <a:solidFill>
                  <a:srgbClr val="666666"/>
                </a:solidFill>
              </a:defRPr>
            </a:pPr>
            <a:r>
              <a:t>Cost CAD</a:t>
            </a:r>
          </a:p>
        </p:txBody>
      </p:sp>
      <p:sp>
        <p:nvSpPr>
          <p:cNvPr id="16" name="Rectangle 15"/>
          <p:cNvSpPr/>
          <p:nvPr/>
        </p:nvSpPr>
        <p:spPr>
          <a:xfrm>
            <a:off x="457200" y="2011680"/>
            <a:ext cx="5486400" cy="2743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2011680"/>
            <a:ext cx="1828800" cy="256032"/>
          </a:xfrm>
          <a:prstGeom prst="rect">
            <a:avLst/>
          </a:prstGeom>
          <a:noFill/>
        </p:spPr>
        <p:txBody>
          <a:bodyPr wrap="square">
            <a:spAutoFit/>
          </a:bodyPr>
          <a:lstStyle/>
          <a:p>
            <a:pPr algn="l">
              <a:defRPr sz="900" b="0">
                <a:solidFill>
                  <a:srgbClr val="333333"/>
                </a:solidFill>
              </a:defRPr>
            </a:pPr>
            <a:r>
              <a:t>Delivery Manager</a:t>
            </a:r>
          </a:p>
        </p:txBody>
      </p:sp>
      <p:sp>
        <p:nvSpPr>
          <p:cNvPr id="18" name="TextBox 17"/>
          <p:cNvSpPr txBox="1"/>
          <p:nvPr/>
        </p:nvSpPr>
        <p:spPr>
          <a:xfrm>
            <a:off x="2423160" y="2011680"/>
            <a:ext cx="320040" cy="256032"/>
          </a:xfrm>
          <a:prstGeom prst="rect">
            <a:avLst/>
          </a:prstGeom>
          <a:noFill/>
        </p:spPr>
        <p:txBody>
          <a:bodyPr wrap="square">
            <a:spAutoFit/>
          </a:bodyPr>
          <a:lstStyle/>
          <a:p>
            <a:pPr algn="l">
              <a:defRPr sz="900" b="0">
                <a:solidFill>
                  <a:srgbClr val="333333"/>
                </a:solidFill>
              </a:defRPr>
            </a:pPr>
            <a:r>
              <a:t>1</a:t>
            </a:r>
          </a:p>
        </p:txBody>
      </p:sp>
      <p:sp>
        <p:nvSpPr>
          <p:cNvPr id="19" name="TextBox 18"/>
          <p:cNvSpPr txBox="1"/>
          <p:nvPr/>
        </p:nvSpPr>
        <p:spPr>
          <a:xfrm>
            <a:off x="2788920" y="2011680"/>
            <a:ext cx="502920" cy="256032"/>
          </a:xfrm>
          <a:prstGeom prst="rect">
            <a:avLst/>
          </a:prstGeom>
          <a:noFill/>
        </p:spPr>
        <p:txBody>
          <a:bodyPr wrap="square">
            <a:spAutoFit/>
          </a:bodyPr>
          <a:lstStyle/>
          <a:p>
            <a:pPr algn="l">
              <a:defRPr sz="900" b="1">
                <a:solidFill>
                  <a:srgbClr val="D52B1E"/>
                </a:solidFill>
              </a:defRPr>
            </a:pPr>
            <a:r>
              <a:t>On</a:t>
            </a:r>
          </a:p>
        </p:txBody>
      </p:sp>
      <p:sp>
        <p:nvSpPr>
          <p:cNvPr id="20" name="TextBox 19"/>
          <p:cNvSpPr txBox="1"/>
          <p:nvPr/>
        </p:nvSpPr>
        <p:spPr>
          <a:xfrm>
            <a:off x="3337560" y="2011680"/>
            <a:ext cx="548640" cy="256032"/>
          </a:xfrm>
          <a:prstGeom prst="rect">
            <a:avLst/>
          </a:prstGeom>
          <a:noFill/>
        </p:spPr>
        <p:txBody>
          <a:bodyPr wrap="square">
            <a:spAutoFit/>
          </a:bodyPr>
          <a:lstStyle/>
          <a:p>
            <a:pPr algn="l">
              <a:defRPr sz="900" b="0">
                <a:solidFill>
                  <a:srgbClr val="333333"/>
                </a:solidFill>
              </a:defRPr>
            </a:pPr>
            <a:r>
              <a:t>$200</a:t>
            </a:r>
          </a:p>
        </p:txBody>
      </p:sp>
      <p:sp>
        <p:nvSpPr>
          <p:cNvPr id="21" name="TextBox 20"/>
          <p:cNvSpPr txBox="1"/>
          <p:nvPr/>
        </p:nvSpPr>
        <p:spPr>
          <a:xfrm>
            <a:off x="3977639" y="2011680"/>
            <a:ext cx="731520" cy="256032"/>
          </a:xfrm>
          <a:prstGeom prst="rect">
            <a:avLst/>
          </a:prstGeom>
          <a:noFill/>
        </p:spPr>
        <p:txBody>
          <a:bodyPr wrap="square">
            <a:spAutoFit/>
          </a:bodyPr>
          <a:lstStyle/>
          <a:p>
            <a:pPr algn="l">
              <a:defRPr sz="900" b="0">
                <a:solidFill>
                  <a:srgbClr val="333333"/>
                </a:solidFill>
              </a:defRPr>
            </a:pPr>
            <a:r>
              <a:t>6-9 mo</a:t>
            </a:r>
          </a:p>
        </p:txBody>
      </p:sp>
      <p:sp>
        <p:nvSpPr>
          <p:cNvPr id="22" name="TextBox 21"/>
          <p:cNvSpPr txBox="1"/>
          <p:nvPr/>
        </p:nvSpPr>
        <p:spPr>
          <a:xfrm>
            <a:off x="4754880" y="2011680"/>
            <a:ext cx="1097280" cy="256032"/>
          </a:xfrm>
          <a:prstGeom prst="rect">
            <a:avLst/>
          </a:prstGeom>
          <a:noFill/>
        </p:spPr>
        <p:txBody>
          <a:bodyPr wrap="square">
            <a:spAutoFit/>
          </a:bodyPr>
          <a:lstStyle/>
          <a:p>
            <a:pPr algn="l">
              <a:defRPr sz="900" b="0">
                <a:solidFill>
                  <a:srgbClr val="333333"/>
                </a:solidFill>
              </a:defRPr>
            </a:pPr>
            <a:r>
              <a:t>$192K-288K</a:t>
            </a:r>
          </a:p>
        </p:txBody>
      </p:sp>
      <p:sp>
        <p:nvSpPr>
          <p:cNvPr id="23" name="Rectangle 22"/>
          <p:cNvSpPr/>
          <p:nvPr/>
        </p:nvSpPr>
        <p:spPr>
          <a:xfrm>
            <a:off x="457200" y="2286000"/>
            <a:ext cx="548640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2286000"/>
            <a:ext cx="1828800" cy="256032"/>
          </a:xfrm>
          <a:prstGeom prst="rect">
            <a:avLst/>
          </a:prstGeom>
          <a:noFill/>
        </p:spPr>
        <p:txBody>
          <a:bodyPr wrap="square">
            <a:spAutoFit/>
          </a:bodyPr>
          <a:lstStyle/>
          <a:p>
            <a:pPr algn="l">
              <a:defRPr sz="900" b="0">
                <a:solidFill>
                  <a:srgbClr val="333333"/>
                </a:solidFill>
              </a:defRPr>
            </a:pPr>
            <a:r>
              <a:t>Business Analyst</a:t>
            </a:r>
          </a:p>
        </p:txBody>
      </p:sp>
      <p:sp>
        <p:nvSpPr>
          <p:cNvPr id="25" name="TextBox 24"/>
          <p:cNvSpPr txBox="1"/>
          <p:nvPr/>
        </p:nvSpPr>
        <p:spPr>
          <a:xfrm>
            <a:off x="2423160" y="2286000"/>
            <a:ext cx="320040" cy="256032"/>
          </a:xfrm>
          <a:prstGeom prst="rect">
            <a:avLst/>
          </a:prstGeom>
          <a:noFill/>
        </p:spPr>
        <p:txBody>
          <a:bodyPr wrap="square">
            <a:spAutoFit/>
          </a:bodyPr>
          <a:lstStyle/>
          <a:p>
            <a:pPr algn="l">
              <a:defRPr sz="900" b="0">
                <a:solidFill>
                  <a:srgbClr val="333333"/>
                </a:solidFill>
              </a:defRPr>
            </a:pPr>
            <a:r>
              <a:t>1</a:t>
            </a:r>
          </a:p>
        </p:txBody>
      </p:sp>
      <p:sp>
        <p:nvSpPr>
          <p:cNvPr id="26" name="TextBox 25"/>
          <p:cNvSpPr txBox="1"/>
          <p:nvPr/>
        </p:nvSpPr>
        <p:spPr>
          <a:xfrm>
            <a:off x="2788920" y="2286000"/>
            <a:ext cx="502920" cy="256032"/>
          </a:xfrm>
          <a:prstGeom prst="rect">
            <a:avLst/>
          </a:prstGeom>
          <a:noFill/>
        </p:spPr>
        <p:txBody>
          <a:bodyPr wrap="square">
            <a:spAutoFit/>
          </a:bodyPr>
          <a:lstStyle/>
          <a:p>
            <a:pPr algn="l">
              <a:defRPr sz="900" b="1">
                <a:solidFill>
                  <a:srgbClr val="D52B1E"/>
                </a:solidFill>
              </a:defRPr>
            </a:pPr>
            <a:r>
              <a:t>On</a:t>
            </a:r>
          </a:p>
        </p:txBody>
      </p:sp>
      <p:sp>
        <p:nvSpPr>
          <p:cNvPr id="27" name="TextBox 26"/>
          <p:cNvSpPr txBox="1"/>
          <p:nvPr/>
        </p:nvSpPr>
        <p:spPr>
          <a:xfrm>
            <a:off x="3337560" y="2286000"/>
            <a:ext cx="548640" cy="256032"/>
          </a:xfrm>
          <a:prstGeom prst="rect">
            <a:avLst/>
          </a:prstGeom>
          <a:noFill/>
        </p:spPr>
        <p:txBody>
          <a:bodyPr wrap="square">
            <a:spAutoFit/>
          </a:bodyPr>
          <a:lstStyle/>
          <a:p>
            <a:pPr algn="l">
              <a:defRPr sz="900" b="0">
                <a:solidFill>
                  <a:srgbClr val="333333"/>
                </a:solidFill>
              </a:defRPr>
            </a:pPr>
            <a:r>
              <a:t>$160</a:t>
            </a:r>
          </a:p>
        </p:txBody>
      </p:sp>
      <p:sp>
        <p:nvSpPr>
          <p:cNvPr id="28" name="TextBox 27"/>
          <p:cNvSpPr txBox="1"/>
          <p:nvPr/>
        </p:nvSpPr>
        <p:spPr>
          <a:xfrm>
            <a:off x="3977639" y="2286000"/>
            <a:ext cx="731520" cy="256032"/>
          </a:xfrm>
          <a:prstGeom prst="rect">
            <a:avLst/>
          </a:prstGeom>
          <a:noFill/>
        </p:spPr>
        <p:txBody>
          <a:bodyPr wrap="square">
            <a:spAutoFit/>
          </a:bodyPr>
          <a:lstStyle/>
          <a:p>
            <a:pPr algn="l">
              <a:defRPr sz="900" b="0">
                <a:solidFill>
                  <a:srgbClr val="333333"/>
                </a:solidFill>
              </a:defRPr>
            </a:pPr>
            <a:r>
              <a:t>2-3 mo</a:t>
            </a:r>
          </a:p>
        </p:txBody>
      </p:sp>
      <p:sp>
        <p:nvSpPr>
          <p:cNvPr id="29" name="TextBox 28"/>
          <p:cNvSpPr txBox="1"/>
          <p:nvPr/>
        </p:nvSpPr>
        <p:spPr>
          <a:xfrm>
            <a:off x="4754880" y="2286000"/>
            <a:ext cx="1097280" cy="256032"/>
          </a:xfrm>
          <a:prstGeom prst="rect">
            <a:avLst/>
          </a:prstGeom>
          <a:noFill/>
        </p:spPr>
        <p:txBody>
          <a:bodyPr wrap="square">
            <a:spAutoFit/>
          </a:bodyPr>
          <a:lstStyle/>
          <a:p>
            <a:pPr algn="l">
              <a:defRPr sz="900" b="0">
                <a:solidFill>
                  <a:srgbClr val="333333"/>
                </a:solidFill>
              </a:defRPr>
            </a:pPr>
            <a:r>
              <a:t>$51K-77K</a:t>
            </a:r>
          </a:p>
        </p:txBody>
      </p:sp>
      <p:sp>
        <p:nvSpPr>
          <p:cNvPr id="30" name="Rectangle 29"/>
          <p:cNvSpPr/>
          <p:nvPr/>
        </p:nvSpPr>
        <p:spPr>
          <a:xfrm>
            <a:off x="457200" y="2560320"/>
            <a:ext cx="5486400" cy="2743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2560320"/>
            <a:ext cx="1828800" cy="256032"/>
          </a:xfrm>
          <a:prstGeom prst="rect">
            <a:avLst/>
          </a:prstGeom>
          <a:noFill/>
        </p:spPr>
        <p:txBody>
          <a:bodyPr wrap="square">
            <a:spAutoFit/>
          </a:bodyPr>
          <a:lstStyle/>
          <a:p>
            <a:pPr algn="l">
              <a:defRPr sz="900" b="0">
                <a:solidFill>
                  <a:srgbClr val="333333"/>
                </a:solidFill>
              </a:defRPr>
            </a:pPr>
            <a:r>
              <a:t>Solution Architect</a:t>
            </a:r>
          </a:p>
        </p:txBody>
      </p:sp>
      <p:sp>
        <p:nvSpPr>
          <p:cNvPr id="32" name="TextBox 31"/>
          <p:cNvSpPr txBox="1"/>
          <p:nvPr/>
        </p:nvSpPr>
        <p:spPr>
          <a:xfrm>
            <a:off x="2423160" y="2560320"/>
            <a:ext cx="320040" cy="256032"/>
          </a:xfrm>
          <a:prstGeom prst="rect">
            <a:avLst/>
          </a:prstGeom>
          <a:noFill/>
        </p:spPr>
        <p:txBody>
          <a:bodyPr wrap="square">
            <a:spAutoFit/>
          </a:bodyPr>
          <a:lstStyle/>
          <a:p>
            <a:pPr algn="l">
              <a:defRPr sz="900" b="0">
                <a:solidFill>
                  <a:srgbClr val="333333"/>
                </a:solidFill>
              </a:defRPr>
            </a:pPr>
            <a:r>
              <a:t>1</a:t>
            </a:r>
          </a:p>
        </p:txBody>
      </p:sp>
      <p:sp>
        <p:nvSpPr>
          <p:cNvPr id="33" name="TextBox 32"/>
          <p:cNvSpPr txBox="1"/>
          <p:nvPr/>
        </p:nvSpPr>
        <p:spPr>
          <a:xfrm>
            <a:off x="2788920" y="2560320"/>
            <a:ext cx="502920" cy="256032"/>
          </a:xfrm>
          <a:prstGeom prst="rect">
            <a:avLst/>
          </a:prstGeom>
          <a:noFill/>
        </p:spPr>
        <p:txBody>
          <a:bodyPr wrap="square">
            <a:spAutoFit/>
          </a:bodyPr>
          <a:lstStyle/>
          <a:p>
            <a:pPr algn="l">
              <a:defRPr sz="900" b="1">
                <a:solidFill>
                  <a:srgbClr val="D52B1E"/>
                </a:solidFill>
              </a:defRPr>
            </a:pPr>
            <a:r>
              <a:t>On</a:t>
            </a:r>
          </a:p>
        </p:txBody>
      </p:sp>
      <p:sp>
        <p:nvSpPr>
          <p:cNvPr id="34" name="TextBox 33"/>
          <p:cNvSpPr txBox="1"/>
          <p:nvPr/>
        </p:nvSpPr>
        <p:spPr>
          <a:xfrm>
            <a:off x="3337560" y="2560320"/>
            <a:ext cx="548640" cy="256032"/>
          </a:xfrm>
          <a:prstGeom prst="rect">
            <a:avLst/>
          </a:prstGeom>
          <a:noFill/>
        </p:spPr>
        <p:txBody>
          <a:bodyPr wrap="square">
            <a:spAutoFit/>
          </a:bodyPr>
          <a:lstStyle/>
          <a:p>
            <a:pPr algn="l">
              <a:defRPr sz="900" b="0">
                <a:solidFill>
                  <a:srgbClr val="333333"/>
                </a:solidFill>
              </a:defRPr>
            </a:pPr>
            <a:r>
              <a:t>$190</a:t>
            </a:r>
          </a:p>
        </p:txBody>
      </p:sp>
      <p:sp>
        <p:nvSpPr>
          <p:cNvPr id="35" name="TextBox 34"/>
          <p:cNvSpPr txBox="1"/>
          <p:nvPr/>
        </p:nvSpPr>
        <p:spPr>
          <a:xfrm>
            <a:off x="3977639" y="2560320"/>
            <a:ext cx="731520" cy="256032"/>
          </a:xfrm>
          <a:prstGeom prst="rect">
            <a:avLst/>
          </a:prstGeom>
          <a:noFill/>
        </p:spPr>
        <p:txBody>
          <a:bodyPr wrap="square">
            <a:spAutoFit/>
          </a:bodyPr>
          <a:lstStyle/>
          <a:p>
            <a:pPr algn="l">
              <a:defRPr sz="900" b="0">
                <a:solidFill>
                  <a:srgbClr val="333333"/>
                </a:solidFill>
              </a:defRPr>
            </a:pPr>
            <a:r>
              <a:t>3-4 mo</a:t>
            </a:r>
          </a:p>
        </p:txBody>
      </p:sp>
      <p:sp>
        <p:nvSpPr>
          <p:cNvPr id="36" name="TextBox 35"/>
          <p:cNvSpPr txBox="1"/>
          <p:nvPr/>
        </p:nvSpPr>
        <p:spPr>
          <a:xfrm>
            <a:off x="4754880" y="2560320"/>
            <a:ext cx="1097280" cy="256032"/>
          </a:xfrm>
          <a:prstGeom prst="rect">
            <a:avLst/>
          </a:prstGeom>
          <a:noFill/>
        </p:spPr>
        <p:txBody>
          <a:bodyPr wrap="square">
            <a:spAutoFit/>
          </a:bodyPr>
          <a:lstStyle/>
          <a:p>
            <a:pPr algn="l">
              <a:defRPr sz="900" b="0">
                <a:solidFill>
                  <a:srgbClr val="333333"/>
                </a:solidFill>
              </a:defRPr>
            </a:pPr>
            <a:r>
              <a:t>$91K-122K</a:t>
            </a:r>
          </a:p>
        </p:txBody>
      </p:sp>
      <p:sp>
        <p:nvSpPr>
          <p:cNvPr id="37" name="Rectangle 36"/>
          <p:cNvSpPr/>
          <p:nvPr/>
        </p:nvSpPr>
        <p:spPr>
          <a:xfrm>
            <a:off x="457200" y="2834640"/>
            <a:ext cx="548640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48640" y="2834640"/>
            <a:ext cx="1828800" cy="256032"/>
          </a:xfrm>
          <a:prstGeom prst="rect">
            <a:avLst/>
          </a:prstGeom>
          <a:noFill/>
        </p:spPr>
        <p:txBody>
          <a:bodyPr wrap="square">
            <a:spAutoFit/>
          </a:bodyPr>
          <a:lstStyle/>
          <a:p>
            <a:pPr algn="l">
              <a:defRPr sz="900" b="0">
                <a:solidFill>
                  <a:srgbClr val="333333"/>
                </a:solidFill>
              </a:defRPr>
            </a:pPr>
            <a:r>
              <a:t>Sr Backend Developer</a:t>
            </a:r>
          </a:p>
        </p:txBody>
      </p:sp>
      <p:sp>
        <p:nvSpPr>
          <p:cNvPr id="39" name="TextBox 38"/>
          <p:cNvSpPr txBox="1"/>
          <p:nvPr/>
        </p:nvSpPr>
        <p:spPr>
          <a:xfrm>
            <a:off x="2423160" y="2834640"/>
            <a:ext cx="320040" cy="256032"/>
          </a:xfrm>
          <a:prstGeom prst="rect">
            <a:avLst/>
          </a:prstGeom>
          <a:noFill/>
        </p:spPr>
        <p:txBody>
          <a:bodyPr wrap="square">
            <a:spAutoFit/>
          </a:bodyPr>
          <a:lstStyle/>
          <a:p>
            <a:pPr algn="l">
              <a:defRPr sz="900" b="0">
                <a:solidFill>
                  <a:srgbClr val="333333"/>
                </a:solidFill>
              </a:defRPr>
            </a:pPr>
            <a:r>
              <a:t>2</a:t>
            </a:r>
          </a:p>
        </p:txBody>
      </p:sp>
      <p:sp>
        <p:nvSpPr>
          <p:cNvPr id="40" name="TextBox 39"/>
          <p:cNvSpPr txBox="1"/>
          <p:nvPr/>
        </p:nvSpPr>
        <p:spPr>
          <a:xfrm>
            <a:off x="2788920" y="2834640"/>
            <a:ext cx="502920" cy="256032"/>
          </a:xfrm>
          <a:prstGeom prst="rect">
            <a:avLst/>
          </a:prstGeom>
          <a:noFill/>
        </p:spPr>
        <p:txBody>
          <a:bodyPr wrap="square">
            <a:spAutoFit/>
          </a:bodyPr>
          <a:lstStyle/>
          <a:p>
            <a:pPr algn="l">
              <a:defRPr sz="900" b="0">
                <a:solidFill>
                  <a:srgbClr val="1565C0"/>
                </a:solidFill>
              </a:defRPr>
            </a:pPr>
            <a:r>
              <a:t>Off</a:t>
            </a:r>
          </a:p>
        </p:txBody>
      </p:sp>
      <p:sp>
        <p:nvSpPr>
          <p:cNvPr id="41" name="TextBox 40"/>
          <p:cNvSpPr txBox="1"/>
          <p:nvPr/>
        </p:nvSpPr>
        <p:spPr>
          <a:xfrm>
            <a:off x="3337560" y="2834640"/>
            <a:ext cx="548640" cy="256032"/>
          </a:xfrm>
          <a:prstGeom prst="rect">
            <a:avLst/>
          </a:prstGeom>
          <a:noFill/>
        </p:spPr>
        <p:txBody>
          <a:bodyPr wrap="square">
            <a:spAutoFit/>
          </a:bodyPr>
          <a:lstStyle/>
          <a:p>
            <a:pPr algn="l">
              <a:defRPr sz="900" b="0">
                <a:solidFill>
                  <a:srgbClr val="333333"/>
                </a:solidFill>
              </a:defRPr>
            </a:pPr>
            <a:r>
              <a:t>$72</a:t>
            </a:r>
          </a:p>
        </p:txBody>
      </p:sp>
      <p:sp>
        <p:nvSpPr>
          <p:cNvPr id="42" name="TextBox 41"/>
          <p:cNvSpPr txBox="1"/>
          <p:nvPr/>
        </p:nvSpPr>
        <p:spPr>
          <a:xfrm>
            <a:off x="3977639" y="2834640"/>
            <a:ext cx="731520" cy="256032"/>
          </a:xfrm>
          <a:prstGeom prst="rect">
            <a:avLst/>
          </a:prstGeom>
          <a:noFill/>
        </p:spPr>
        <p:txBody>
          <a:bodyPr wrap="square">
            <a:spAutoFit/>
          </a:bodyPr>
          <a:lstStyle/>
          <a:p>
            <a:pPr algn="l">
              <a:defRPr sz="900" b="0">
                <a:solidFill>
                  <a:srgbClr val="333333"/>
                </a:solidFill>
              </a:defRPr>
            </a:pPr>
            <a:r>
              <a:t>5-6 mo</a:t>
            </a:r>
          </a:p>
        </p:txBody>
      </p:sp>
      <p:sp>
        <p:nvSpPr>
          <p:cNvPr id="43" name="TextBox 42"/>
          <p:cNvSpPr txBox="1"/>
          <p:nvPr/>
        </p:nvSpPr>
        <p:spPr>
          <a:xfrm>
            <a:off x="4754880" y="2834640"/>
            <a:ext cx="1097280" cy="256032"/>
          </a:xfrm>
          <a:prstGeom prst="rect">
            <a:avLst/>
          </a:prstGeom>
          <a:noFill/>
        </p:spPr>
        <p:txBody>
          <a:bodyPr wrap="square">
            <a:spAutoFit/>
          </a:bodyPr>
          <a:lstStyle/>
          <a:p>
            <a:pPr algn="l">
              <a:defRPr sz="900" b="0">
                <a:solidFill>
                  <a:srgbClr val="333333"/>
                </a:solidFill>
              </a:defRPr>
            </a:pPr>
            <a:r>
              <a:t>$115K-138K</a:t>
            </a:r>
          </a:p>
        </p:txBody>
      </p:sp>
      <p:sp>
        <p:nvSpPr>
          <p:cNvPr id="44" name="Rectangle 43"/>
          <p:cNvSpPr/>
          <p:nvPr/>
        </p:nvSpPr>
        <p:spPr>
          <a:xfrm>
            <a:off x="457200" y="3108960"/>
            <a:ext cx="5486400" cy="2743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48640" y="3108960"/>
            <a:ext cx="1828800" cy="256032"/>
          </a:xfrm>
          <a:prstGeom prst="rect">
            <a:avLst/>
          </a:prstGeom>
          <a:noFill/>
        </p:spPr>
        <p:txBody>
          <a:bodyPr wrap="square">
            <a:spAutoFit/>
          </a:bodyPr>
          <a:lstStyle/>
          <a:p>
            <a:pPr algn="l">
              <a:defRPr sz="900" b="0">
                <a:solidFill>
                  <a:srgbClr val="333333"/>
                </a:solidFill>
              </a:defRPr>
            </a:pPr>
            <a:r>
              <a:t>Sr Mobile Developer</a:t>
            </a:r>
          </a:p>
        </p:txBody>
      </p:sp>
      <p:sp>
        <p:nvSpPr>
          <p:cNvPr id="46" name="TextBox 45"/>
          <p:cNvSpPr txBox="1"/>
          <p:nvPr/>
        </p:nvSpPr>
        <p:spPr>
          <a:xfrm>
            <a:off x="2423160" y="3108960"/>
            <a:ext cx="320040" cy="256032"/>
          </a:xfrm>
          <a:prstGeom prst="rect">
            <a:avLst/>
          </a:prstGeom>
          <a:noFill/>
        </p:spPr>
        <p:txBody>
          <a:bodyPr wrap="square">
            <a:spAutoFit/>
          </a:bodyPr>
          <a:lstStyle/>
          <a:p>
            <a:pPr algn="l">
              <a:defRPr sz="900" b="0">
                <a:solidFill>
                  <a:srgbClr val="333333"/>
                </a:solidFill>
              </a:defRPr>
            </a:pPr>
            <a:r>
              <a:t>2</a:t>
            </a:r>
          </a:p>
        </p:txBody>
      </p:sp>
      <p:sp>
        <p:nvSpPr>
          <p:cNvPr id="47" name="TextBox 46"/>
          <p:cNvSpPr txBox="1"/>
          <p:nvPr/>
        </p:nvSpPr>
        <p:spPr>
          <a:xfrm>
            <a:off x="2788920" y="3108960"/>
            <a:ext cx="502920" cy="256032"/>
          </a:xfrm>
          <a:prstGeom prst="rect">
            <a:avLst/>
          </a:prstGeom>
          <a:noFill/>
        </p:spPr>
        <p:txBody>
          <a:bodyPr wrap="square">
            <a:spAutoFit/>
          </a:bodyPr>
          <a:lstStyle/>
          <a:p>
            <a:pPr algn="l">
              <a:defRPr sz="900" b="0">
                <a:solidFill>
                  <a:srgbClr val="1565C0"/>
                </a:solidFill>
              </a:defRPr>
            </a:pPr>
            <a:r>
              <a:t>Off</a:t>
            </a:r>
          </a:p>
        </p:txBody>
      </p:sp>
      <p:sp>
        <p:nvSpPr>
          <p:cNvPr id="48" name="TextBox 47"/>
          <p:cNvSpPr txBox="1"/>
          <p:nvPr/>
        </p:nvSpPr>
        <p:spPr>
          <a:xfrm>
            <a:off x="3337560" y="3108960"/>
            <a:ext cx="548640" cy="256032"/>
          </a:xfrm>
          <a:prstGeom prst="rect">
            <a:avLst/>
          </a:prstGeom>
          <a:noFill/>
        </p:spPr>
        <p:txBody>
          <a:bodyPr wrap="square">
            <a:spAutoFit/>
          </a:bodyPr>
          <a:lstStyle/>
          <a:p>
            <a:pPr algn="l">
              <a:defRPr sz="900" b="0">
                <a:solidFill>
                  <a:srgbClr val="333333"/>
                </a:solidFill>
              </a:defRPr>
            </a:pPr>
            <a:r>
              <a:t>$72</a:t>
            </a:r>
          </a:p>
        </p:txBody>
      </p:sp>
      <p:sp>
        <p:nvSpPr>
          <p:cNvPr id="49" name="TextBox 48"/>
          <p:cNvSpPr txBox="1"/>
          <p:nvPr/>
        </p:nvSpPr>
        <p:spPr>
          <a:xfrm>
            <a:off x="3977639" y="3108960"/>
            <a:ext cx="731520" cy="256032"/>
          </a:xfrm>
          <a:prstGeom prst="rect">
            <a:avLst/>
          </a:prstGeom>
          <a:noFill/>
        </p:spPr>
        <p:txBody>
          <a:bodyPr wrap="square">
            <a:spAutoFit/>
          </a:bodyPr>
          <a:lstStyle/>
          <a:p>
            <a:pPr algn="l">
              <a:defRPr sz="900" b="0">
                <a:solidFill>
                  <a:srgbClr val="333333"/>
                </a:solidFill>
              </a:defRPr>
            </a:pPr>
            <a:r>
              <a:t>5-6 mo</a:t>
            </a:r>
          </a:p>
        </p:txBody>
      </p:sp>
      <p:sp>
        <p:nvSpPr>
          <p:cNvPr id="50" name="TextBox 49"/>
          <p:cNvSpPr txBox="1"/>
          <p:nvPr/>
        </p:nvSpPr>
        <p:spPr>
          <a:xfrm>
            <a:off x="4754880" y="3108960"/>
            <a:ext cx="1097280" cy="256032"/>
          </a:xfrm>
          <a:prstGeom prst="rect">
            <a:avLst/>
          </a:prstGeom>
          <a:noFill/>
        </p:spPr>
        <p:txBody>
          <a:bodyPr wrap="square">
            <a:spAutoFit/>
          </a:bodyPr>
          <a:lstStyle/>
          <a:p>
            <a:pPr algn="l">
              <a:defRPr sz="900" b="0">
                <a:solidFill>
                  <a:srgbClr val="333333"/>
                </a:solidFill>
              </a:defRPr>
            </a:pPr>
            <a:r>
              <a:t>$115K-138K</a:t>
            </a:r>
          </a:p>
        </p:txBody>
      </p:sp>
      <p:sp>
        <p:nvSpPr>
          <p:cNvPr id="51" name="Rectangle 50"/>
          <p:cNvSpPr/>
          <p:nvPr/>
        </p:nvSpPr>
        <p:spPr>
          <a:xfrm>
            <a:off x="457200" y="3383280"/>
            <a:ext cx="548640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48640" y="3383280"/>
            <a:ext cx="1828800" cy="256032"/>
          </a:xfrm>
          <a:prstGeom prst="rect">
            <a:avLst/>
          </a:prstGeom>
          <a:noFill/>
        </p:spPr>
        <p:txBody>
          <a:bodyPr wrap="square">
            <a:spAutoFit/>
          </a:bodyPr>
          <a:lstStyle/>
          <a:p>
            <a:pPr algn="l">
              <a:defRPr sz="900" b="0">
                <a:solidFill>
                  <a:srgbClr val="333333"/>
                </a:solidFill>
              </a:defRPr>
            </a:pPr>
            <a:r>
              <a:t>Functional Tester</a:t>
            </a:r>
          </a:p>
        </p:txBody>
      </p:sp>
      <p:sp>
        <p:nvSpPr>
          <p:cNvPr id="53" name="TextBox 52"/>
          <p:cNvSpPr txBox="1"/>
          <p:nvPr/>
        </p:nvSpPr>
        <p:spPr>
          <a:xfrm>
            <a:off x="2423160" y="3383280"/>
            <a:ext cx="320040" cy="256032"/>
          </a:xfrm>
          <a:prstGeom prst="rect">
            <a:avLst/>
          </a:prstGeom>
          <a:noFill/>
        </p:spPr>
        <p:txBody>
          <a:bodyPr wrap="square">
            <a:spAutoFit/>
          </a:bodyPr>
          <a:lstStyle/>
          <a:p>
            <a:pPr algn="l">
              <a:defRPr sz="900" b="0">
                <a:solidFill>
                  <a:srgbClr val="333333"/>
                </a:solidFill>
              </a:defRPr>
            </a:pPr>
            <a:r>
              <a:t>1</a:t>
            </a:r>
          </a:p>
        </p:txBody>
      </p:sp>
      <p:sp>
        <p:nvSpPr>
          <p:cNvPr id="54" name="TextBox 53"/>
          <p:cNvSpPr txBox="1"/>
          <p:nvPr/>
        </p:nvSpPr>
        <p:spPr>
          <a:xfrm>
            <a:off x="2788920" y="3383280"/>
            <a:ext cx="502920" cy="256032"/>
          </a:xfrm>
          <a:prstGeom prst="rect">
            <a:avLst/>
          </a:prstGeom>
          <a:noFill/>
        </p:spPr>
        <p:txBody>
          <a:bodyPr wrap="square">
            <a:spAutoFit/>
          </a:bodyPr>
          <a:lstStyle/>
          <a:p>
            <a:pPr algn="l">
              <a:defRPr sz="900" b="0">
                <a:solidFill>
                  <a:srgbClr val="1565C0"/>
                </a:solidFill>
              </a:defRPr>
            </a:pPr>
            <a:r>
              <a:t>Off</a:t>
            </a:r>
          </a:p>
        </p:txBody>
      </p:sp>
      <p:sp>
        <p:nvSpPr>
          <p:cNvPr id="55" name="TextBox 54"/>
          <p:cNvSpPr txBox="1"/>
          <p:nvPr/>
        </p:nvSpPr>
        <p:spPr>
          <a:xfrm>
            <a:off x="3337560" y="3383280"/>
            <a:ext cx="548640" cy="256032"/>
          </a:xfrm>
          <a:prstGeom prst="rect">
            <a:avLst/>
          </a:prstGeom>
          <a:noFill/>
        </p:spPr>
        <p:txBody>
          <a:bodyPr wrap="square">
            <a:spAutoFit/>
          </a:bodyPr>
          <a:lstStyle/>
          <a:p>
            <a:pPr algn="l">
              <a:defRPr sz="900" b="0">
                <a:solidFill>
                  <a:srgbClr val="333333"/>
                </a:solidFill>
              </a:defRPr>
            </a:pPr>
            <a:r>
              <a:t>$72</a:t>
            </a:r>
          </a:p>
        </p:txBody>
      </p:sp>
      <p:sp>
        <p:nvSpPr>
          <p:cNvPr id="56" name="TextBox 55"/>
          <p:cNvSpPr txBox="1"/>
          <p:nvPr/>
        </p:nvSpPr>
        <p:spPr>
          <a:xfrm>
            <a:off x="3977639" y="3383280"/>
            <a:ext cx="731520" cy="256032"/>
          </a:xfrm>
          <a:prstGeom prst="rect">
            <a:avLst/>
          </a:prstGeom>
          <a:noFill/>
        </p:spPr>
        <p:txBody>
          <a:bodyPr wrap="square">
            <a:spAutoFit/>
          </a:bodyPr>
          <a:lstStyle/>
          <a:p>
            <a:pPr algn="l">
              <a:defRPr sz="900" b="0">
                <a:solidFill>
                  <a:srgbClr val="333333"/>
                </a:solidFill>
              </a:defRPr>
            </a:pPr>
            <a:r>
              <a:t>3-4 mo</a:t>
            </a:r>
          </a:p>
        </p:txBody>
      </p:sp>
      <p:sp>
        <p:nvSpPr>
          <p:cNvPr id="57" name="TextBox 56"/>
          <p:cNvSpPr txBox="1"/>
          <p:nvPr/>
        </p:nvSpPr>
        <p:spPr>
          <a:xfrm>
            <a:off x="4754880" y="3383280"/>
            <a:ext cx="1097280" cy="256032"/>
          </a:xfrm>
          <a:prstGeom prst="rect">
            <a:avLst/>
          </a:prstGeom>
          <a:noFill/>
        </p:spPr>
        <p:txBody>
          <a:bodyPr wrap="square">
            <a:spAutoFit/>
          </a:bodyPr>
          <a:lstStyle/>
          <a:p>
            <a:pPr algn="l">
              <a:defRPr sz="900" b="0">
                <a:solidFill>
                  <a:srgbClr val="333333"/>
                </a:solidFill>
              </a:defRPr>
            </a:pPr>
            <a:r>
              <a:t>$35K-46K</a:t>
            </a:r>
          </a:p>
        </p:txBody>
      </p:sp>
      <p:sp>
        <p:nvSpPr>
          <p:cNvPr id="58" name="Rectangle 57"/>
          <p:cNvSpPr/>
          <p:nvPr/>
        </p:nvSpPr>
        <p:spPr>
          <a:xfrm>
            <a:off x="457200" y="3657600"/>
            <a:ext cx="5486400" cy="2743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48640" y="3657600"/>
            <a:ext cx="1828800" cy="256032"/>
          </a:xfrm>
          <a:prstGeom prst="rect">
            <a:avLst/>
          </a:prstGeom>
          <a:noFill/>
        </p:spPr>
        <p:txBody>
          <a:bodyPr wrap="square">
            <a:spAutoFit/>
          </a:bodyPr>
          <a:lstStyle/>
          <a:p>
            <a:pPr algn="l">
              <a:defRPr sz="900" b="0">
                <a:solidFill>
                  <a:srgbClr val="333333"/>
                </a:solidFill>
              </a:defRPr>
            </a:pPr>
            <a:r>
              <a:t>Automation Tester</a:t>
            </a:r>
          </a:p>
        </p:txBody>
      </p:sp>
      <p:sp>
        <p:nvSpPr>
          <p:cNvPr id="60" name="TextBox 59"/>
          <p:cNvSpPr txBox="1"/>
          <p:nvPr/>
        </p:nvSpPr>
        <p:spPr>
          <a:xfrm>
            <a:off x="2423160" y="3657600"/>
            <a:ext cx="320040" cy="256032"/>
          </a:xfrm>
          <a:prstGeom prst="rect">
            <a:avLst/>
          </a:prstGeom>
          <a:noFill/>
        </p:spPr>
        <p:txBody>
          <a:bodyPr wrap="square">
            <a:spAutoFit/>
          </a:bodyPr>
          <a:lstStyle/>
          <a:p>
            <a:pPr algn="l">
              <a:defRPr sz="900" b="0">
                <a:solidFill>
                  <a:srgbClr val="333333"/>
                </a:solidFill>
              </a:defRPr>
            </a:pPr>
            <a:r>
              <a:t>1</a:t>
            </a:r>
          </a:p>
        </p:txBody>
      </p:sp>
      <p:sp>
        <p:nvSpPr>
          <p:cNvPr id="61" name="TextBox 60"/>
          <p:cNvSpPr txBox="1"/>
          <p:nvPr/>
        </p:nvSpPr>
        <p:spPr>
          <a:xfrm>
            <a:off x="2788920" y="3657600"/>
            <a:ext cx="502920" cy="256032"/>
          </a:xfrm>
          <a:prstGeom prst="rect">
            <a:avLst/>
          </a:prstGeom>
          <a:noFill/>
        </p:spPr>
        <p:txBody>
          <a:bodyPr wrap="square">
            <a:spAutoFit/>
          </a:bodyPr>
          <a:lstStyle/>
          <a:p>
            <a:pPr algn="l">
              <a:defRPr sz="900" b="0">
                <a:solidFill>
                  <a:srgbClr val="1565C0"/>
                </a:solidFill>
              </a:defRPr>
            </a:pPr>
            <a:r>
              <a:t>Off</a:t>
            </a:r>
          </a:p>
        </p:txBody>
      </p:sp>
      <p:sp>
        <p:nvSpPr>
          <p:cNvPr id="62" name="TextBox 61"/>
          <p:cNvSpPr txBox="1"/>
          <p:nvPr/>
        </p:nvSpPr>
        <p:spPr>
          <a:xfrm>
            <a:off x="3337560" y="3657600"/>
            <a:ext cx="548640" cy="256032"/>
          </a:xfrm>
          <a:prstGeom prst="rect">
            <a:avLst/>
          </a:prstGeom>
          <a:noFill/>
        </p:spPr>
        <p:txBody>
          <a:bodyPr wrap="square">
            <a:spAutoFit/>
          </a:bodyPr>
          <a:lstStyle/>
          <a:p>
            <a:pPr algn="l">
              <a:defRPr sz="900" b="0">
                <a:solidFill>
                  <a:srgbClr val="333333"/>
                </a:solidFill>
              </a:defRPr>
            </a:pPr>
            <a:r>
              <a:t>$72</a:t>
            </a:r>
          </a:p>
        </p:txBody>
      </p:sp>
      <p:sp>
        <p:nvSpPr>
          <p:cNvPr id="63" name="TextBox 62"/>
          <p:cNvSpPr txBox="1"/>
          <p:nvPr/>
        </p:nvSpPr>
        <p:spPr>
          <a:xfrm>
            <a:off x="3977639" y="3657600"/>
            <a:ext cx="731520" cy="256032"/>
          </a:xfrm>
          <a:prstGeom prst="rect">
            <a:avLst/>
          </a:prstGeom>
          <a:noFill/>
        </p:spPr>
        <p:txBody>
          <a:bodyPr wrap="square">
            <a:spAutoFit/>
          </a:bodyPr>
          <a:lstStyle/>
          <a:p>
            <a:pPr algn="l">
              <a:defRPr sz="900" b="0">
                <a:solidFill>
                  <a:srgbClr val="333333"/>
                </a:solidFill>
              </a:defRPr>
            </a:pPr>
            <a:r>
              <a:t>3-4 mo</a:t>
            </a:r>
          </a:p>
        </p:txBody>
      </p:sp>
      <p:sp>
        <p:nvSpPr>
          <p:cNvPr id="64" name="TextBox 63"/>
          <p:cNvSpPr txBox="1"/>
          <p:nvPr/>
        </p:nvSpPr>
        <p:spPr>
          <a:xfrm>
            <a:off x="4754880" y="3657600"/>
            <a:ext cx="1097280" cy="256032"/>
          </a:xfrm>
          <a:prstGeom prst="rect">
            <a:avLst/>
          </a:prstGeom>
          <a:noFill/>
        </p:spPr>
        <p:txBody>
          <a:bodyPr wrap="square">
            <a:spAutoFit/>
          </a:bodyPr>
          <a:lstStyle/>
          <a:p>
            <a:pPr algn="l">
              <a:defRPr sz="900" b="0">
                <a:solidFill>
                  <a:srgbClr val="333333"/>
                </a:solidFill>
              </a:defRPr>
            </a:pPr>
            <a:r>
              <a:t>$35K-46K</a:t>
            </a:r>
          </a:p>
        </p:txBody>
      </p:sp>
      <p:sp>
        <p:nvSpPr>
          <p:cNvPr id="65" name="Rectangle 64"/>
          <p:cNvSpPr/>
          <p:nvPr/>
        </p:nvSpPr>
        <p:spPr>
          <a:xfrm>
            <a:off x="457200" y="3931920"/>
            <a:ext cx="548640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48640" y="3931920"/>
            <a:ext cx="1828800" cy="256032"/>
          </a:xfrm>
          <a:prstGeom prst="rect">
            <a:avLst/>
          </a:prstGeom>
          <a:noFill/>
        </p:spPr>
        <p:txBody>
          <a:bodyPr wrap="square">
            <a:spAutoFit/>
          </a:bodyPr>
          <a:lstStyle/>
          <a:p>
            <a:pPr algn="l">
              <a:defRPr sz="900" b="0">
                <a:solidFill>
                  <a:srgbClr val="333333"/>
                </a:solidFill>
              </a:defRPr>
            </a:pPr>
            <a:r>
              <a:t>DevOps / SRE</a:t>
            </a:r>
          </a:p>
        </p:txBody>
      </p:sp>
      <p:sp>
        <p:nvSpPr>
          <p:cNvPr id="67" name="TextBox 66"/>
          <p:cNvSpPr txBox="1"/>
          <p:nvPr/>
        </p:nvSpPr>
        <p:spPr>
          <a:xfrm>
            <a:off x="2423160" y="3931920"/>
            <a:ext cx="320040" cy="256032"/>
          </a:xfrm>
          <a:prstGeom prst="rect">
            <a:avLst/>
          </a:prstGeom>
          <a:noFill/>
        </p:spPr>
        <p:txBody>
          <a:bodyPr wrap="square">
            <a:spAutoFit/>
          </a:bodyPr>
          <a:lstStyle/>
          <a:p>
            <a:pPr algn="l">
              <a:defRPr sz="900" b="0">
                <a:solidFill>
                  <a:srgbClr val="333333"/>
                </a:solidFill>
              </a:defRPr>
            </a:pPr>
            <a:r>
              <a:t>1</a:t>
            </a:r>
          </a:p>
        </p:txBody>
      </p:sp>
      <p:sp>
        <p:nvSpPr>
          <p:cNvPr id="68" name="TextBox 67"/>
          <p:cNvSpPr txBox="1"/>
          <p:nvPr/>
        </p:nvSpPr>
        <p:spPr>
          <a:xfrm>
            <a:off x="2788920" y="3931920"/>
            <a:ext cx="502920" cy="256032"/>
          </a:xfrm>
          <a:prstGeom prst="rect">
            <a:avLst/>
          </a:prstGeom>
          <a:noFill/>
        </p:spPr>
        <p:txBody>
          <a:bodyPr wrap="square">
            <a:spAutoFit/>
          </a:bodyPr>
          <a:lstStyle/>
          <a:p>
            <a:pPr algn="l">
              <a:defRPr sz="900" b="0">
                <a:solidFill>
                  <a:srgbClr val="1565C0"/>
                </a:solidFill>
              </a:defRPr>
            </a:pPr>
            <a:r>
              <a:t>Off</a:t>
            </a:r>
          </a:p>
        </p:txBody>
      </p:sp>
      <p:sp>
        <p:nvSpPr>
          <p:cNvPr id="69" name="TextBox 68"/>
          <p:cNvSpPr txBox="1"/>
          <p:nvPr/>
        </p:nvSpPr>
        <p:spPr>
          <a:xfrm>
            <a:off x="3337560" y="3931920"/>
            <a:ext cx="548640" cy="256032"/>
          </a:xfrm>
          <a:prstGeom prst="rect">
            <a:avLst/>
          </a:prstGeom>
          <a:noFill/>
        </p:spPr>
        <p:txBody>
          <a:bodyPr wrap="square">
            <a:spAutoFit/>
          </a:bodyPr>
          <a:lstStyle/>
          <a:p>
            <a:pPr algn="l">
              <a:defRPr sz="900" b="0">
                <a:solidFill>
                  <a:srgbClr val="333333"/>
                </a:solidFill>
              </a:defRPr>
            </a:pPr>
            <a:r>
              <a:t>$72</a:t>
            </a:r>
          </a:p>
        </p:txBody>
      </p:sp>
      <p:sp>
        <p:nvSpPr>
          <p:cNvPr id="70" name="TextBox 69"/>
          <p:cNvSpPr txBox="1"/>
          <p:nvPr/>
        </p:nvSpPr>
        <p:spPr>
          <a:xfrm>
            <a:off x="3977639" y="3931920"/>
            <a:ext cx="731520" cy="256032"/>
          </a:xfrm>
          <a:prstGeom prst="rect">
            <a:avLst/>
          </a:prstGeom>
          <a:noFill/>
        </p:spPr>
        <p:txBody>
          <a:bodyPr wrap="square">
            <a:spAutoFit/>
          </a:bodyPr>
          <a:lstStyle/>
          <a:p>
            <a:pPr algn="l">
              <a:defRPr sz="900" b="0">
                <a:solidFill>
                  <a:srgbClr val="333333"/>
                </a:solidFill>
              </a:defRPr>
            </a:pPr>
            <a:r>
              <a:t>2.5-3 mo</a:t>
            </a:r>
          </a:p>
        </p:txBody>
      </p:sp>
      <p:sp>
        <p:nvSpPr>
          <p:cNvPr id="71" name="TextBox 70"/>
          <p:cNvSpPr txBox="1"/>
          <p:nvPr/>
        </p:nvSpPr>
        <p:spPr>
          <a:xfrm>
            <a:off x="4754880" y="3931920"/>
            <a:ext cx="1097280" cy="256032"/>
          </a:xfrm>
          <a:prstGeom prst="rect">
            <a:avLst/>
          </a:prstGeom>
          <a:noFill/>
        </p:spPr>
        <p:txBody>
          <a:bodyPr wrap="square">
            <a:spAutoFit/>
          </a:bodyPr>
          <a:lstStyle/>
          <a:p>
            <a:pPr algn="l">
              <a:defRPr sz="900" b="0">
                <a:solidFill>
                  <a:srgbClr val="333333"/>
                </a:solidFill>
              </a:defRPr>
            </a:pPr>
            <a:r>
              <a:t>$29K-35K</a:t>
            </a:r>
          </a:p>
        </p:txBody>
      </p:sp>
      <p:sp>
        <p:nvSpPr>
          <p:cNvPr id="72" name="Rectangle 71"/>
          <p:cNvSpPr/>
          <p:nvPr/>
        </p:nvSpPr>
        <p:spPr>
          <a:xfrm>
            <a:off x="457200" y="4251960"/>
            <a:ext cx="5486400" cy="36576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48640" y="4270248"/>
            <a:ext cx="1645920" cy="320040"/>
          </a:xfrm>
          <a:prstGeom prst="rect">
            <a:avLst/>
          </a:prstGeom>
          <a:noFill/>
        </p:spPr>
        <p:txBody>
          <a:bodyPr wrap="square">
            <a:spAutoFit/>
          </a:bodyPr>
          <a:lstStyle/>
          <a:p>
            <a:pPr algn="l">
              <a:defRPr sz="1100" b="1">
                <a:solidFill>
                  <a:srgbClr val="FFFFFF"/>
                </a:solidFill>
              </a:defRPr>
            </a:pPr>
            <a:r>
              <a:t>Total: 10 FTEs</a:t>
            </a:r>
          </a:p>
        </p:txBody>
      </p:sp>
      <p:sp>
        <p:nvSpPr>
          <p:cNvPr id="74" name="TextBox 73"/>
          <p:cNvSpPr txBox="1"/>
          <p:nvPr/>
        </p:nvSpPr>
        <p:spPr>
          <a:xfrm>
            <a:off x="2468880" y="4270248"/>
            <a:ext cx="1371600" cy="320040"/>
          </a:xfrm>
          <a:prstGeom prst="rect">
            <a:avLst/>
          </a:prstGeom>
          <a:noFill/>
        </p:spPr>
        <p:txBody>
          <a:bodyPr wrap="square">
            <a:spAutoFit/>
          </a:bodyPr>
          <a:lstStyle/>
          <a:p>
            <a:pPr algn="l">
              <a:defRPr sz="900" b="0">
                <a:solidFill>
                  <a:srgbClr val="CCCCCC"/>
                </a:solidFill>
              </a:defRPr>
            </a:pPr>
            <a:r>
              <a:t>3 onshore + 7 offshore</a:t>
            </a:r>
          </a:p>
        </p:txBody>
      </p:sp>
      <p:sp>
        <p:nvSpPr>
          <p:cNvPr id="75" name="TextBox 74"/>
          <p:cNvSpPr txBox="1"/>
          <p:nvPr/>
        </p:nvSpPr>
        <p:spPr>
          <a:xfrm>
            <a:off x="3977639" y="4270248"/>
            <a:ext cx="731520" cy="320040"/>
          </a:xfrm>
          <a:prstGeom prst="rect">
            <a:avLst/>
          </a:prstGeom>
          <a:noFill/>
        </p:spPr>
        <p:txBody>
          <a:bodyPr wrap="square">
            <a:spAutoFit/>
          </a:bodyPr>
          <a:lstStyle/>
          <a:p>
            <a:pPr algn="l">
              <a:defRPr sz="1100" b="1">
                <a:solidFill>
                  <a:srgbClr val="FFFFFF"/>
                </a:solidFill>
              </a:defRPr>
            </a:pPr>
            <a:r>
              <a:t>6-9 months</a:t>
            </a:r>
          </a:p>
        </p:txBody>
      </p:sp>
      <p:sp>
        <p:nvSpPr>
          <p:cNvPr id="76" name="TextBox 75"/>
          <p:cNvSpPr txBox="1"/>
          <p:nvPr/>
        </p:nvSpPr>
        <p:spPr>
          <a:xfrm>
            <a:off x="4754880" y="4270248"/>
            <a:ext cx="1097280" cy="320040"/>
          </a:xfrm>
          <a:prstGeom prst="rect">
            <a:avLst/>
          </a:prstGeom>
          <a:noFill/>
        </p:spPr>
        <p:txBody>
          <a:bodyPr wrap="square">
            <a:spAutoFit/>
          </a:bodyPr>
          <a:lstStyle/>
          <a:p>
            <a:pPr algn="l">
              <a:defRPr sz="1100" b="1">
                <a:solidFill>
                  <a:srgbClr val="FFFFFF"/>
                </a:solidFill>
              </a:defRPr>
            </a:pPr>
            <a:r>
              <a:t>$663K-890K</a:t>
            </a:r>
          </a:p>
        </p:txBody>
      </p:sp>
      <p:sp>
        <p:nvSpPr>
          <p:cNvPr id="77" name="TextBox 76"/>
          <p:cNvSpPr txBox="1"/>
          <p:nvPr/>
        </p:nvSpPr>
        <p:spPr>
          <a:xfrm>
            <a:off x="548640" y="4754880"/>
            <a:ext cx="5029200" cy="228600"/>
          </a:xfrm>
          <a:prstGeom prst="rect">
            <a:avLst/>
          </a:prstGeom>
          <a:noFill/>
        </p:spPr>
        <p:txBody>
          <a:bodyPr wrap="square">
            <a:spAutoFit/>
          </a:bodyPr>
          <a:lstStyle/>
          <a:p>
            <a:pPr algn="l">
              <a:defRPr sz="900" b="0">
                <a:solidFill>
                  <a:srgbClr val="666666"/>
                </a:solidFill>
              </a:defRPr>
            </a:pPr>
            <a:r>
              <a:t>Sequential — each phase waits for the previous:</a:t>
            </a:r>
          </a:p>
        </p:txBody>
      </p:sp>
      <p:sp>
        <p:nvSpPr>
          <p:cNvPr id="78" name="Rectangle 77"/>
          <p:cNvSpPr/>
          <p:nvPr/>
        </p:nvSpPr>
        <p:spPr>
          <a:xfrm>
            <a:off x="548640" y="5029200"/>
            <a:ext cx="914400" cy="27432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48640" y="5029200"/>
            <a:ext cx="914400" cy="274320"/>
          </a:xfrm>
          <a:prstGeom prst="rect">
            <a:avLst/>
          </a:prstGeom>
          <a:noFill/>
        </p:spPr>
        <p:txBody>
          <a:bodyPr wrap="square">
            <a:spAutoFit/>
          </a:bodyPr>
          <a:lstStyle/>
          <a:p>
            <a:pPr algn="ctr">
              <a:defRPr sz="800" b="1">
                <a:solidFill>
                  <a:srgbClr val="FFFFFF"/>
                </a:solidFill>
              </a:defRPr>
            </a:pPr>
            <a:r>
              <a:t>Arch</a:t>
            </a:r>
          </a:p>
        </p:txBody>
      </p:sp>
      <p:sp>
        <p:nvSpPr>
          <p:cNvPr id="80" name="Rectangle 79"/>
          <p:cNvSpPr/>
          <p:nvPr/>
        </p:nvSpPr>
        <p:spPr>
          <a:xfrm>
            <a:off x="1499616" y="5029200"/>
            <a:ext cx="1828800" cy="27432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499616" y="5029200"/>
            <a:ext cx="1828800" cy="274320"/>
          </a:xfrm>
          <a:prstGeom prst="rect">
            <a:avLst/>
          </a:prstGeom>
          <a:noFill/>
        </p:spPr>
        <p:txBody>
          <a:bodyPr wrap="square">
            <a:spAutoFit/>
          </a:bodyPr>
          <a:lstStyle/>
          <a:p>
            <a:pPr algn="ctr">
              <a:defRPr sz="800" b="1">
                <a:solidFill>
                  <a:srgbClr val="FFFFFF"/>
                </a:solidFill>
              </a:defRPr>
            </a:pPr>
            <a:r>
              <a:t>Backend</a:t>
            </a:r>
          </a:p>
        </p:txBody>
      </p:sp>
      <p:sp>
        <p:nvSpPr>
          <p:cNvPr id="82" name="Rectangle 81"/>
          <p:cNvSpPr/>
          <p:nvPr/>
        </p:nvSpPr>
        <p:spPr>
          <a:xfrm>
            <a:off x="3364992" y="5029200"/>
            <a:ext cx="1828800" cy="274320"/>
          </a:xfrm>
          <a:prstGeom prst="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3364992" y="5029200"/>
            <a:ext cx="1828800" cy="274320"/>
          </a:xfrm>
          <a:prstGeom prst="rect">
            <a:avLst/>
          </a:prstGeom>
          <a:noFill/>
        </p:spPr>
        <p:txBody>
          <a:bodyPr wrap="square">
            <a:spAutoFit/>
          </a:bodyPr>
          <a:lstStyle/>
          <a:p>
            <a:pPr algn="ctr">
              <a:defRPr sz="800" b="1">
                <a:solidFill>
                  <a:srgbClr val="FFFFFF"/>
                </a:solidFill>
              </a:defRPr>
            </a:pPr>
            <a:r>
              <a:t>Mobile</a:t>
            </a:r>
          </a:p>
        </p:txBody>
      </p:sp>
      <p:sp>
        <p:nvSpPr>
          <p:cNvPr id="84" name="Rectangle 83"/>
          <p:cNvSpPr/>
          <p:nvPr/>
        </p:nvSpPr>
        <p:spPr>
          <a:xfrm>
            <a:off x="5230368" y="5029200"/>
            <a:ext cx="1005840" cy="2743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5230368" y="5029200"/>
            <a:ext cx="1005840" cy="274320"/>
          </a:xfrm>
          <a:prstGeom prst="rect">
            <a:avLst/>
          </a:prstGeom>
          <a:noFill/>
        </p:spPr>
        <p:txBody>
          <a:bodyPr wrap="square">
            <a:spAutoFit/>
          </a:bodyPr>
          <a:lstStyle/>
          <a:p>
            <a:pPr algn="ctr">
              <a:defRPr sz="800" b="1">
                <a:solidFill>
                  <a:srgbClr val="FFFFFF"/>
                </a:solidFill>
              </a:defRPr>
            </a:pPr>
            <a:r>
              <a:t>QA</a:t>
            </a:r>
          </a:p>
        </p:txBody>
      </p:sp>
      <p:sp>
        <p:nvSpPr>
          <p:cNvPr id="86" name="Rectangle 85"/>
          <p:cNvSpPr/>
          <p:nvPr/>
        </p:nvSpPr>
        <p:spPr>
          <a:xfrm>
            <a:off x="6272784" y="5029200"/>
            <a:ext cx="594360" cy="27432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272784" y="5029200"/>
            <a:ext cx="594360" cy="274320"/>
          </a:xfrm>
          <a:prstGeom prst="rect">
            <a:avLst/>
          </a:prstGeom>
          <a:noFill/>
        </p:spPr>
        <p:txBody>
          <a:bodyPr wrap="square">
            <a:spAutoFit/>
          </a:bodyPr>
          <a:lstStyle/>
          <a:p>
            <a:pPr algn="ctr">
              <a:defRPr sz="800" b="1">
                <a:solidFill>
                  <a:srgbClr val="FFFFFF"/>
                </a:solidFill>
              </a:defRPr>
            </a:pPr>
            <a:r>
              <a:t>Launch</a:t>
            </a:r>
          </a:p>
        </p:txBody>
      </p:sp>
      <p:sp>
        <p:nvSpPr>
          <p:cNvPr id="88" name="Rectangle 87"/>
          <p:cNvSpPr/>
          <p:nvPr/>
        </p:nvSpPr>
        <p:spPr>
          <a:xfrm>
            <a:off x="6217920" y="1188720"/>
            <a:ext cx="5486400" cy="45720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6400800" y="1207008"/>
            <a:ext cx="5029200" cy="411480"/>
          </a:xfrm>
          <a:prstGeom prst="rect">
            <a:avLst/>
          </a:prstGeom>
          <a:noFill/>
        </p:spPr>
        <p:txBody>
          <a:bodyPr wrap="square">
            <a:spAutoFit/>
          </a:bodyPr>
          <a:lstStyle/>
          <a:p>
            <a:pPr algn="l">
              <a:defRPr sz="1600" b="1">
                <a:solidFill>
                  <a:srgbClr val="FFFFFF"/>
                </a:solidFill>
              </a:defRPr>
            </a:pPr>
            <a:r>
              <a:t>EPAM EliteA Agentic AI Model</a:t>
            </a:r>
          </a:p>
        </p:txBody>
      </p:sp>
      <p:sp>
        <p:nvSpPr>
          <p:cNvPr id="90" name="Rectangle 89"/>
          <p:cNvSpPr/>
          <p:nvPr/>
        </p:nvSpPr>
        <p:spPr>
          <a:xfrm>
            <a:off x="6217920" y="1691640"/>
            <a:ext cx="5486400" cy="2926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6309360" y="1691640"/>
            <a:ext cx="1828800" cy="274320"/>
          </a:xfrm>
          <a:prstGeom prst="rect">
            <a:avLst/>
          </a:prstGeom>
          <a:noFill/>
        </p:spPr>
        <p:txBody>
          <a:bodyPr wrap="square">
            <a:spAutoFit/>
          </a:bodyPr>
          <a:lstStyle/>
          <a:p>
            <a:pPr algn="l">
              <a:defRPr sz="800" b="1">
                <a:solidFill>
                  <a:srgbClr val="666666"/>
                </a:solidFill>
              </a:defRPr>
            </a:pPr>
            <a:r>
              <a:t>Role</a:t>
            </a:r>
          </a:p>
        </p:txBody>
      </p:sp>
      <p:sp>
        <p:nvSpPr>
          <p:cNvPr id="92" name="TextBox 91"/>
          <p:cNvSpPr txBox="1"/>
          <p:nvPr/>
        </p:nvSpPr>
        <p:spPr>
          <a:xfrm>
            <a:off x="8183879" y="1691640"/>
            <a:ext cx="731520" cy="274320"/>
          </a:xfrm>
          <a:prstGeom prst="rect">
            <a:avLst/>
          </a:prstGeom>
          <a:noFill/>
        </p:spPr>
        <p:txBody>
          <a:bodyPr wrap="square">
            <a:spAutoFit/>
          </a:bodyPr>
          <a:lstStyle/>
          <a:p>
            <a:pPr algn="l">
              <a:defRPr sz="800" b="1">
                <a:solidFill>
                  <a:srgbClr val="666666"/>
                </a:solidFill>
              </a:defRPr>
            </a:pPr>
            <a:r>
              <a:t>HC</a:t>
            </a:r>
          </a:p>
        </p:txBody>
      </p:sp>
      <p:sp>
        <p:nvSpPr>
          <p:cNvPr id="93" name="TextBox 92"/>
          <p:cNvSpPr txBox="1"/>
          <p:nvPr/>
        </p:nvSpPr>
        <p:spPr>
          <a:xfrm>
            <a:off x="8961120" y="1691640"/>
            <a:ext cx="457200" cy="274320"/>
          </a:xfrm>
          <a:prstGeom prst="rect">
            <a:avLst/>
          </a:prstGeom>
          <a:noFill/>
        </p:spPr>
        <p:txBody>
          <a:bodyPr wrap="square">
            <a:spAutoFit/>
          </a:bodyPr>
          <a:lstStyle/>
          <a:p>
            <a:pPr algn="l">
              <a:defRPr sz="800" b="1">
                <a:solidFill>
                  <a:srgbClr val="666666"/>
                </a:solidFill>
              </a:defRPr>
            </a:pPr>
            <a:r>
              <a:t>Shore</a:t>
            </a:r>
          </a:p>
        </p:txBody>
      </p:sp>
      <p:sp>
        <p:nvSpPr>
          <p:cNvPr id="94" name="TextBox 93"/>
          <p:cNvSpPr txBox="1"/>
          <p:nvPr/>
        </p:nvSpPr>
        <p:spPr>
          <a:xfrm>
            <a:off x="9464040" y="1691640"/>
            <a:ext cx="502920" cy="274320"/>
          </a:xfrm>
          <a:prstGeom prst="rect">
            <a:avLst/>
          </a:prstGeom>
          <a:noFill/>
        </p:spPr>
        <p:txBody>
          <a:bodyPr wrap="square">
            <a:spAutoFit/>
          </a:bodyPr>
          <a:lstStyle/>
          <a:p>
            <a:pPr algn="l">
              <a:defRPr sz="800" b="1">
                <a:solidFill>
                  <a:srgbClr val="666666"/>
                </a:solidFill>
              </a:defRPr>
            </a:pPr>
            <a:r>
              <a:t>Rate/h</a:t>
            </a:r>
          </a:p>
        </p:txBody>
      </p:sp>
      <p:sp>
        <p:nvSpPr>
          <p:cNvPr id="95" name="TextBox 94"/>
          <p:cNvSpPr txBox="1"/>
          <p:nvPr/>
        </p:nvSpPr>
        <p:spPr>
          <a:xfrm>
            <a:off x="10012680" y="1691640"/>
            <a:ext cx="685800" cy="274320"/>
          </a:xfrm>
          <a:prstGeom prst="rect">
            <a:avLst/>
          </a:prstGeom>
          <a:noFill/>
        </p:spPr>
        <p:txBody>
          <a:bodyPr wrap="square">
            <a:spAutoFit/>
          </a:bodyPr>
          <a:lstStyle/>
          <a:p>
            <a:pPr algn="l">
              <a:defRPr sz="800" b="1">
                <a:solidFill>
                  <a:srgbClr val="666666"/>
                </a:solidFill>
              </a:defRPr>
            </a:pPr>
            <a:r>
              <a:t>Duration</a:t>
            </a:r>
          </a:p>
        </p:txBody>
      </p:sp>
      <p:sp>
        <p:nvSpPr>
          <p:cNvPr id="96" name="TextBox 95"/>
          <p:cNvSpPr txBox="1"/>
          <p:nvPr/>
        </p:nvSpPr>
        <p:spPr>
          <a:xfrm>
            <a:off x="10744200" y="1691640"/>
            <a:ext cx="914400" cy="274320"/>
          </a:xfrm>
          <a:prstGeom prst="rect">
            <a:avLst/>
          </a:prstGeom>
          <a:noFill/>
        </p:spPr>
        <p:txBody>
          <a:bodyPr wrap="square">
            <a:spAutoFit/>
          </a:bodyPr>
          <a:lstStyle/>
          <a:p>
            <a:pPr algn="l">
              <a:defRPr sz="800" b="1">
                <a:solidFill>
                  <a:srgbClr val="666666"/>
                </a:solidFill>
              </a:defRPr>
            </a:pPr>
            <a:r>
              <a:t>Cost CAD</a:t>
            </a:r>
          </a:p>
        </p:txBody>
      </p:sp>
      <p:sp>
        <p:nvSpPr>
          <p:cNvPr id="97" name="Rectangle 96"/>
          <p:cNvSpPr/>
          <p:nvPr/>
        </p:nvSpPr>
        <p:spPr>
          <a:xfrm>
            <a:off x="6217920" y="2011680"/>
            <a:ext cx="5486400" cy="24688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6309360" y="2011680"/>
            <a:ext cx="1828800" cy="237744"/>
          </a:xfrm>
          <a:prstGeom prst="rect">
            <a:avLst/>
          </a:prstGeom>
          <a:noFill/>
        </p:spPr>
        <p:txBody>
          <a:bodyPr wrap="square">
            <a:spAutoFit/>
          </a:bodyPr>
          <a:lstStyle/>
          <a:p>
            <a:pPr algn="l">
              <a:defRPr sz="800" b="0">
                <a:solidFill>
                  <a:srgbClr val="333333"/>
                </a:solidFill>
              </a:defRPr>
            </a:pPr>
            <a:r>
              <a:t>Delivery Manager</a:t>
            </a:r>
          </a:p>
        </p:txBody>
      </p:sp>
      <p:sp>
        <p:nvSpPr>
          <p:cNvPr id="99" name="TextBox 98"/>
          <p:cNvSpPr txBox="1"/>
          <p:nvPr/>
        </p:nvSpPr>
        <p:spPr>
          <a:xfrm>
            <a:off x="8183879" y="2011680"/>
            <a:ext cx="731520" cy="237744"/>
          </a:xfrm>
          <a:prstGeom prst="rect">
            <a:avLst/>
          </a:prstGeom>
          <a:noFill/>
        </p:spPr>
        <p:txBody>
          <a:bodyPr wrap="square">
            <a:spAutoFit/>
          </a:bodyPr>
          <a:lstStyle/>
          <a:p>
            <a:pPr algn="l">
              <a:defRPr sz="800" b="0">
                <a:solidFill>
                  <a:srgbClr val="333333"/>
                </a:solidFill>
              </a:defRPr>
            </a:pPr>
            <a:r>
              <a:t>1</a:t>
            </a:r>
          </a:p>
        </p:txBody>
      </p:sp>
      <p:sp>
        <p:nvSpPr>
          <p:cNvPr id="100" name="TextBox 99"/>
          <p:cNvSpPr txBox="1"/>
          <p:nvPr/>
        </p:nvSpPr>
        <p:spPr>
          <a:xfrm>
            <a:off x="8961120" y="2011680"/>
            <a:ext cx="457200" cy="237744"/>
          </a:xfrm>
          <a:prstGeom prst="rect">
            <a:avLst/>
          </a:prstGeom>
          <a:noFill/>
        </p:spPr>
        <p:txBody>
          <a:bodyPr wrap="square">
            <a:spAutoFit/>
          </a:bodyPr>
          <a:lstStyle/>
          <a:p>
            <a:pPr algn="l">
              <a:defRPr sz="800" b="0">
                <a:solidFill>
                  <a:srgbClr val="D52B1E"/>
                </a:solidFill>
              </a:defRPr>
            </a:pPr>
            <a:r>
              <a:t>On</a:t>
            </a:r>
          </a:p>
        </p:txBody>
      </p:sp>
      <p:sp>
        <p:nvSpPr>
          <p:cNvPr id="101" name="TextBox 100"/>
          <p:cNvSpPr txBox="1"/>
          <p:nvPr/>
        </p:nvSpPr>
        <p:spPr>
          <a:xfrm>
            <a:off x="9464040" y="2011680"/>
            <a:ext cx="502920" cy="237744"/>
          </a:xfrm>
          <a:prstGeom prst="rect">
            <a:avLst/>
          </a:prstGeom>
          <a:noFill/>
        </p:spPr>
        <p:txBody>
          <a:bodyPr wrap="square">
            <a:spAutoFit/>
          </a:bodyPr>
          <a:lstStyle/>
          <a:p>
            <a:pPr algn="l">
              <a:defRPr sz="800" b="0">
                <a:solidFill>
                  <a:srgbClr val="333333"/>
                </a:solidFill>
              </a:defRPr>
            </a:pPr>
            <a:r>
              <a:t>$200</a:t>
            </a:r>
          </a:p>
        </p:txBody>
      </p:sp>
      <p:sp>
        <p:nvSpPr>
          <p:cNvPr id="102" name="TextBox 101"/>
          <p:cNvSpPr txBox="1"/>
          <p:nvPr/>
        </p:nvSpPr>
        <p:spPr>
          <a:xfrm>
            <a:off x="10012680" y="2011680"/>
            <a:ext cx="685800" cy="237744"/>
          </a:xfrm>
          <a:prstGeom prst="rect">
            <a:avLst/>
          </a:prstGeom>
          <a:noFill/>
        </p:spPr>
        <p:txBody>
          <a:bodyPr wrap="square">
            <a:spAutoFit/>
          </a:bodyPr>
          <a:lstStyle/>
          <a:p>
            <a:pPr algn="l">
              <a:defRPr sz="800" b="0">
                <a:solidFill>
                  <a:srgbClr val="333333"/>
                </a:solidFill>
              </a:defRPr>
            </a:pPr>
            <a:r>
              <a:t>15 wks</a:t>
            </a:r>
          </a:p>
        </p:txBody>
      </p:sp>
      <p:sp>
        <p:nvSpPr>
          <p:cNvPr id="103" name="TextBox 102"/>
          <p:cNvSpPr txBox="1"/>
          <p:nvPr/>
        </p:nvSpPr>
        <p:spPr>
          <a:xfrm>
            <a:off x="10744200" y="2011680"/>
            <a:ext cx="914400" cy="237744"/>
          </a:xfrm>
          <a:prstGeom prst="rect">
            <a:avLst/>
          </a:prstGeom>
          <a:noFill/>
        </p:spPr>
        <p:txBody>
          <a:bodyPr wrap="square">
            <a:spAutoFit/>
          </a:bodyPr>
          <a:lstStyle/>
          <a:p>
            <a:pPr algn="l">
              <a:defRPr sz="800" b="0">
                <a:solidFill>
                  <a:srgbClr val="333333"/>
                </a:solidFill>
              </a:defRPr>
            </a:pPr>
            <a:r>
              <a:t>$120K</a:t>
            </a:r>
          </a:p>
        </p:txBody>
      </p:sp>
      <p:sp>
        <p:nvSpPr>
          <p:cNvPr id="104" name="Rectangle 103"/>
          <p:cNvSpPr/>
          <p:nvPr/>
        </p:nvSpPr>
        <p:spPr>
          <a:xfrm>
            <a:off x="6217920" y="2258568"/>
            <a:ext cx="5486400" cy="2468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6309360" y="2258568"/>
            <a:ext cx="1828800" cy="237744"/>
          </a:xfrm>
          <a:prstGeom prst="rect">
            <a:avLst/>
          </a:prstGeom>
          <a:noFill/>
        </p:spPr>
        <p:txBody>
          <a:bodyPr wrap="square">
            <a:spAutoFit/>
          </a:bodyPr>
          <a:lstStyle/>
          <a:p>
            <a:pPr algn="l">
              <a:defRPr sz="800" b="0">
                <a:solidFill>
                  <a:srgbClr val="333333"/>
                </a:solidFill>
              </a:defRPr>
            </a:pPr>
            <a:r>
              <a:t>Business Analyst</a:t>
            </a:r>
          </a:p>
        </p:txBody>
      </p:sp>
      <p:sp>
        <p:nvSpPr>
          <p:cNvPr id="106" name="TextBox 105"/>
          <p:cNvSpPr txBox="1"/>
          <p:nvPr/>
        </p:nvSpPr>
        <p:spPr>
          <a:xfrm>
            <a:off x="8183879" y="2258568"/>
            <a:ext cx="731520" cy="237744"/>
          </a:xfrm>
          <a:prstGeom prst="rect">
            <a:avLst/>
          </a:prstGeom>
          <a:noFill/>
        </p:spPr>
        <p:txBody>
          <a:bodyPr wrap="square">
            <a:spAutoFit/>
          </a:bodyPr>
          <a:lstStyle/>
          <a:p>
            <a:pPr algn="l">
              <a:defRPr sz="800" b="0">
                <a:solidFill>
                  <a:srgbClr val="333333"/>
                </a:solidFill>
              </a:defRPr>
            </a:pPr>
            <a:r>
              <a:t>1 (PT)</a:t>
            </a:r>
          </a:p>
        </p:txBody>
      </p:sp>
      <p:sp>
        <p:nvSpPr>
          <p:cNvPr id="107" name="TextBox 106"/>
          <p:cNvSpPr txBox="1"/>
          <p:nvPr/>
        </p:nvSpPr>
        <p:spPr>
          <a:xfrm>
            <a:off x="8961120" y="2258568"/>
            <a:ext cx="457200" cy="237744"/>
          </a:xfrm>
          <a:prstGeom prst="rect">
            <a:avLst/>
          </a:prstGeom>
          <a:noFill/>
        </p:spPr>
        <p:txBody>
          <a:bodyPr wrap="square">
            <a:spAutoFit/>
          </a:bodyPr>
          <a:lstStyle/>
          <a:p>
            <a:pPr algn="l">
              <a:defRPr sz="800" b="0">
                <a:solidFill>
                  <a:srgbClr val="D52B1E"/>
                </a:solidFill>
              </a:defRPr>
            </a:pPr>
            <a:r>
              <a:t>On</a:t>
            </a:r>
          </a:p>
        </p:txBody>
      </p:sp>
      <p:sp>
        <p:nvSpPr>
          <p:cNvPr id="108" name="TextBox 107"/>
          <p:cNvSpPr txBox="1"/>
          <p:nvPr/>
        </p:nvSpPr>
        <p:spPr>
          <a:xfrm>
            <a:off x="9464040" y="2258568"/>
            <a:ext cx="502920" cy="237744"/>
          </a:xfrm>
          <a:prstGeom prst="rect">
            <a:avLst/>
          </a:prstGeom>
          <a:noFill/>
        </p:spPr>
        <p:txBody>
          <a:bodyPr wrap="square">
            <a:spAutoFit/>
          </a:bodyPr>
          <a:lstStyle/>
          <a:p>
            <a:pPr algn="l">
              <a:defRPr sz="800" b="0">
                <a:solidFill>
                  <a:srgbClr val="333333"/>
                </a:solidFill>
              </a:defRPr>
            </a:pPr>
            <a:r>
              <a:t>$160</a:t>
            </a:r>
          </a:p>
        </p:txBody>
      </p:sp>
      <p:sp>
        <p:nvSpPr>
          <p:cNvPr id="109" name="TextBox 108"/>
          <p:cNvSpPr txBox="1"/>
          <p:nvPr/>
        </p:nvSpPr>
        <p:spPr>
          <a:xfrm>
            <a:off x="10012680" y="2258568"/>
            <a:ext cx="685800" cy="237744"/>
          </a:xfrm>
          <a:prstGeom prst="rect">
            <a:avLst/>
          </a:prstGeom>
          <a:noFill/>
        </p:spPr>
        <p:txBody>
          <a:bodyPr wrap="square">
            <a:spAutoFit/>
          </a:bodyPr>
          <a:lstStyle/>
          <a:p>
            <a:pPr algn="l">
              <a:defRPr sz="800" b="0">
                <a:solidFill>
                  <a:srgbClr val="333333"/>
                </a:solidFill>
              </a:defRPr>
            </a:pPr>
            <a:r>
              <a:t>4 wks</a:t>
            </a:r>
          </a:p>
        </p:txBody>
      </p:sp>
      <p:sp>
        <p:nvSpPr>
          <p:cNvPr id="110" name="TextBox 109"/>
          <p:cNvSpPr txBox="1"/>
          <p:nvPr/>
        </p:nvSpPr>
        <p:spPr>
          <a:xfrm>
            <a:off x="10744200" y="2258568"/>
            <a:ext cx="914400" cy="237744"/>
          </a:xfrm>
          <a:prstGeom prst="rect">
            <a:avLst/>
          </a:prstGeom>
          <a:noFill/>
        </p:spPr>
        <p:txBody>
          <a:bodyPr wrap="square">
            <a:spAutoFit/>
          </a:bodyPr>
          <a:lstStyle/>
          <a:p>
            <a:pPr algn="l">
              <a:defRPr sz="800" b="0">
                <a:solidFill>
                  <a:srgbClr val="333333"/>
                </a:solidFill>
              </a:defRPr>
            </a:pPr>
            <a:r>
              <a:t>$26K</a:t>
            </a:r>
          </a:p>
        </p:txBody>
      </p:sp>
      <p:sp>
        <p:nvSpPr>
          <p:cNvPr id="111" name="Rectangle 110"/>
          <p:cNvSpPr/>
          <p:nvPr/>
        </p:nvSpPr>
        <p:spPr>
          <a:xfrm>
            <a:off x="6217920" y="2505456"/>
            <a:ext cx="5486400" cy="24688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6309360" y="2505456"/>
            <a:ext cx="1828800" cy="237744"/>
          </a:xfrm>
          <a:prstGeom prst="rect">
            <a:avLst/>
          </a:prstGeom>
          <a:noFill/>
        </p:spPr>
        <p:txBody>
          <a:bodyPr wrap="square">
            <a:spAutoFit/>
          </a:bodyPr>
          <a:lstStyle/>
          <a:p>
            <a:pPr algn="l">
              <a:defRPr sz="800" b="0">
                <a:solidFill>
                  <a:srgbClr val="333333"/>
                </a:solidFill>
              </a:defRPr>
            </a:pPr>
            <a:r>
              <a:t>Solution Architect</a:t>
            </a:r>
          </a:p>
        </p:txBody>
      </p:sp>
      <p:sp>
        <p:nvSpPr>
          <p:cNvPr id="113" name="TextBox 112"/>
          <p:cNvSpPr txBox="1"/>
          <p:nvPr/>
        </p:nvSpPr>
        <p:spPr>
          <a:xfrm>
            <a:off x="8183879" y="2505456"/>
            <a:ext cx="731520" cy="237744"/>
          </a:xfrm>
          <a:prstGeom prst="rect">
            <a:avLst/>
          </a:prstGeom>
          <a:noFill/>
        </p:spPr>
        <p:txBody>
          <a:bodyPr wrap="square">
            <a:spAutoFit/>
          </a:bodyPr>
          <a:lstStyle/>
          <a:p>
            <a:pPr algn="l">
              <a:defRPr sz="800" b="0">
                <a:solidFill>
                  <a:srgbClr val="333333"/>
                </a:solidFill>
              </a:defRPr>
            </a:pPr>
            <a:r>
              <a:t>1</a:t>
            </a:r>
          </a:p>
        </p:txBody>
      </p:sp>
      <p:sp>
        <p:nvSpPr>
          <p:cNvPr id="114" name="TextBox 113"/>
          <p:cNvSpPr txBox="1"/>
          <p:nvPr/>
        </p:nvSpPr>
        <p:spPr>
          <a:xfrm>
            <a:off x="8961120" y="2505456"/>
            <a:ext cx="457200" cy="237744"/>
          </a:xfrm>
          <a:prstGeom prst="rect">
            <a:avLst/>
          </a:prstGeom>
          <a:noFill/>
        </p:spPr>
        <p:txBody>
          <a:bodyPr wrap="square">
            <a:spAutoFit/>
          </a:bodyPr>
          <a:lstStyle/>
          <a:p>
            <a:pPr algn="l">
              <a:defRPr sz="800" b="0">
                <a:solidFill>
                  <a:srgbClr val="D52B1E"/>
                </a:solidFill>
              </a:defRPr>
            </a:pPr>
            <a:r>
              <a:t>On</a:t>
            </a:r>
          </a:p>
        </p:txBody>
      </p:sp>
      <p:sp>
        <p:nvSpPr>
          <p:cNvPr id="115" name="TextBox 114"/>
          <p:cNvSpPr txBox="1"/>
          <p:nvPr/>
        </p:nvSpPr>
        <p:spPr>
          <a:xfrm>
            <a:off x="9464040" y="2505456"/>
            <a:ext cx="502920" cy="237744"/>
          </a:xfrm>
          <a:prstGeom prst="rect">
            <a:avLst/>
          </a:prstGeom>
          <a:noFill/>
        </p:spPr>
        <p:txBody>
          <a:bodyPr wrap="square">
            <a:spAutoFit/>
          </a:bodyPr>
          <a:lstStyle/>
          <a:p>
            <a:pPr algn="l">
              <a:defRPr sz="800" b="0">
                <a:solidFill>
                  <a:srgbClr val="333333"/>
                </a:solidFill>
              </a:defRPr>
            </a:pPr>
            <a:r>
              <a:t>$190</a:t>
            </a:r>
          </a:p>
        </p:txBody>
      </p:sp>
      <p:sp>
        <p:nvSpPr>
          <p:cNvPr id="116" name="TextBox 115"/>
          <p:cNvSpPr txBox="1"/>
          <p:nvPr/>
        </p:nvSpPr>
        <p:spPr>
          <a:xfrm>
            <a:off x="10012680" y="2505456"/>
            <a:ext cx="685800" cy="237744"/>
          </a:xfrm>
          <a:prstGeom prst="rect">
            <a:avLst/>
          </a:prstGeom>
          <a:noFill/>
        </p:spPr>
        <p:txBody>
          <a:bodyPr wrap="square">
            <a:spAutoFit/>
          </a:bodyPr>
          <a:lstStyle/>
          <a:p>
            <a:pPr algn="l">
              <a:defRPr sz="800" b="0">
                <a:solidFill>
                  <a:srgbClr val="333333"/>
                </a:solidFill>
              </a:defRPr>
            </a:pPr>
            <a:r>
              <a:t>6 wks</a:t>
            </a:r>
          </a:p>
        </p:txBody>
      </p:sp>
      <p:sp>
        <p:nvSpPr>
          <p:cNvPr id="117" name="TextBox 116"/>
          <p:cNvSpPr txBox="1"/>
          <p:nvPr/>
        </p:nvSpPr>
        <p:spPr>
          <a:xfrm>
            <a:off x="10744200" y="2505456"/>
            <a:ext cx="914400" cy="237744"/>
          </a:xfrm>
          <a:prstGeom prst="rect">
            <a:avLst/>
          </a:prstGeom>
          <a:noFill/>
        </p:spPr>
        <p:txBody>
          <a:bodyPr wrap="square">
            <a:spAutoFit/>
          </a:bodyPr>
          <a:lstStyle/>
          <a:p>
            <a:pPr algn="l">
              <a:defRPr sz="800" b="0">
                <a:solidFill>
                  <a:srgbClr val="333333"/>
                </a:solidFill>
              </a:defRPr>
            </a:pPr>
            <a:r>
              <a:t>$46K</a:t>
            </a:r>
          </a:p>
        </p:txBody>
      </p:sp>
      <p:sp>
        <p:nvSpPr>
          <p:cNvPr id="118" name="Rectangle 117"/>
          <p:cNvSpPr/>
          <p:nvPr/>
        </p:nvSpPr>
        <p:spPr>
          <a:xfrm>
            <a:off x="6217920" y="2752344"/>
            <a:ext cx="5486400" cy="2468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6309360" y="2752344"/>
            <a:ext cx="1828800" cy="237744"/>
          </a:xfrm>
          <a:prstGeom prst="rect">
            <a:avLst/>
          </a:prstGeom>
          <a:noFill/>
        </p:spPr>
        <p:txBody>
          <a:bodyPr wrap="square">
            <a:spAutoFit/>
          </a:bodyPr>
          <a:lstStyle/>
          <a:p>
            <a:pPr algn="l">
              <a:defRPr sz="800" b="0">
                <a:solidFill>
                  <a:srgbClr val="333333"/>
                </a:solidFill>
              </a:defRPr>
            </a:pPr>
            <a:r>
              <a:t>Sr Full-Stack Engineer</a:t>
            </a:r>
          </a:p>
        </p:txBody>
      </p:sp>
      <p:sp>
        <p:nvSpPr>
          <p:cNvPr id="120" name="TextBox 119"/>
          <p:cNvSpPr txBox="1"/>
          <p:nvPr/>
        </p:nvSpPr>
        <p:spPr>
          <a:xfrm>
            <a:off x="8183879" y="2752344"/>
            <a:ext cx="731520" cy="237744"/>
          </a:xfrm>
          <a:prstGeom prst="rect">
            <a:avLst/>
          </a:prstGeom>
          <a:noFill/>
        </p:spPr>
        <p:txBody>
          <a:bodyPr wrap="square">
            <a:spAutoFit/>
          </a:bodyPr>
          <a:lstStyle/>
          <a:p>
            <a:pPr algn="l">
              <a:defRPr sz="800" b="0">
                <a:solidFill>
                  <a:srgbClr val="333333"/>
                </a:solidFill>
              </a:defRPr>
            </a:pPr>
            <a:r>
              <a:t>1</a:t>
            </a:r>
          </a:p>
        </p:txBody>
      </p:sp>
      <p:sp>
        <p:nvSpPr>
          <p:cNvPr id="121" name="TextBox 120"/>
          <p:cNvSpPr txBox="1"/>
          <p:nvPr/>
        </p:nvSpPr>
        <p:spPr>
          <a:xfrm>
            <a:off x="8961120" y="2752344"/>
            <a:ext cx="457200" cy="237744"/>
          </a:xfrm>
          <a:prstGeom prst="rect">
            <a:avLst/>
          </a:prstGeom>
          <a:noFill/>
        </p:spPr>
        <p:txBody>
          <a:bodyPr wrap="square">
            <a:spAutoFit/>
          </a:bodyPr>
          <a:lstStyle/>
          <a:p>
            <a:pPr algn="l">
              <a:defRPr sz="800" b="0">
                <a:solidFill>
                  <a:srgbClr val="1565C0"/>
                </a:solidFill>
              </a:defRPr>
            </a:pPr>
            <a:r>
              <a:t>Off</a:t>
            </a:r>
          </a:p>
        </p:txBody>
      </p:sp>
      <p:sp>
        <p:nvSpPr>
          <p:cNvPr id="122" name="TextBox 121"/>
          <p:cNvSpPr txBox="1"/>
          <p:nvPr/>
        </p:nvSpPr>
        <p:spPr>
          <a:xfrm>
            <a:off x="9464040" y="2752344"/>
            <a:ext cx="502920" cy="237744"/>
          </a:xfrm>
          <a:prstGeom prst="rect">
            <a:avLst/>
          </a:prstGeom>
          <a:noFill/>
        </p:spPr>
        <p:txBody>
          <a:bodyPr wrap="square">
            <a:spAutoFit/>
          </a:bodyPr>
          <a:lstStyle/>
          <a:p>
            <a:pPr algn="l">
              <a:defRPr sz="800" b="0">
                <a:solidFill>
                  <a:srgbClr val="333333"/>
                </a:solidFill>
              </a:defRPr>
            </a:pPr>
            <a:r>
              <a:t>$72</a:t>
            </a:r>
          </a:p>
        </p:txBody>
      </p:sp>
      <p:sp>
        <p:nvSpPr>
          <p:cNvPr id="123" name="TextBox 122"/>
          <p:cNvSpPr txBox="1"/>
          <p:nvPr/>
        </p:nvSpPr>
        <p:spPr>
          <a:xfrm>
            <a:off x="10012680" y="2752344"/>
            <a:ext cx="685800" cy="237744"/>
          </a:xfrm>
          <a:prstGeom prst="rect">
            <a:avLst/>
          </a:prstGeom>
          <a:noFill/>
        </p:spPr>
        <p:txBody>
          <a:bodyPr wrap="square">
            <a:spAutoFit/>
          </a:bodyPr>
          <a:lstStyle/>
          <a:p>
            <a:pPr algn="l">
              <a:defRPr sz="800" b="0">
                <a:solidFill>
                  <a:srgbClr val="333333"/>
                </a:solidFill>
              </a:defRPr>
            </a:pPr>
            <a:r>
              <a:t>12 wks</a:t>
            </a:r>
          </a:p>
        </p:txBody>
      </p:sp>
      <p:sp>
        <p:nvSpPr>
          <p:cNvPr id="124" name="TextBox 123"/>
          <p:cNvSpPr txBox="1"/>
          <p:nvPr/>
        </p:nvSpPr>
        <p:spPr>
          <a:xfrm>
            <a:off x="10744200" y="2752344"/>
            <a:ext cx="914400" cy="237744"/>
          </a:xfrm>
          <a:prstGeom prst="rect">
            <a:avLst/>
          </a:prstGeom>
          <a:noFill/>
        </p:spPr>
        <p:txBody>
          <a:bodyPr wrap="square">
            <a:spAutoFit/>
          </a:bodyPr>
          <a:lstStyle/>
          <a:p>
            <a:pPr algn="l">
              <a:defRPr sz="800" b="0">
                <a:solidFill>
                  <a:srgbClr val="333333"/>
                </a:solidFill>
              </a:defRPr>
            </a:pPr>
            <a:r>
              <a:t>$35K</a:t>
            </a:r>
          </a:p>
        </p:txBody>
      </p:sp>
      <p:sp>
        <p:nvSpPr>
          <p:cNvPr id="125" name="Rectangle 124"/>
          <p:cNvSpPr/>
          <p:nvPr/>
        </p:nvSpPr>
        <p:spPr>
          <a:xfrm>
            <a:off x="6217920" y="2999232"/>
            <a:ext cx="5486400" cy="24688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6309360" y="2999232"/>
            <a:ext cx="1828800" cy="237744"/>
          </a:xfrm>
          <a:prstGeom prst="rect">
            <a:avLst/>
          </a:prstGeom>
          <a:noFill/>
        </p:spPr>
        <p:txBody>
          <a:bodyPr wrap="square">
            <a:spAutoFit/>
          </a:bodyPr>
          <a:lstStyle/>
          <a:p>
            <a:pPr algn="l">
              <a:defRPr sz="800" b="0">
                <a:solidFill>
                  <a:srgbClr val="333333"/>
                </a:solidFill>
              </a:defRPr>
            </a:pPr>
            <a:r>
              <a:t>Sr Mobile Engineer</a:t>
            </a:r>
          </a:p>
        </p:txBody>
      </p:sp>
      <p:sp>
        <p:nvSpPr>
          <p:cNvPr id="127" name="TextBox 126"/>
          <p:cNvSpPr txBox="1"/>
          <p:nvPr/>
        </p:nvSpPr>
        <p:spPr>
          <a:xfrm>
            <a:off x="8183879" y="2999232"/>
            <a:ext cx="731520" cy="237744"/>
          </a:xfrm>
          <a:prstGeom prst="rect">
            <a:avLst/>
          </a:prstGeom>
          <a:noFill/>
        </p:spPr>
        <p:txBody>
          <a:bodyPr wrap="square">
            <a:spAutoFit/>
          </a:bodyPr>
          <a:lstStyle/>
          <a:p>
            <a:pPr algn="l">
              <a:defRPr sz="800" b="0">
                <a:solidFill>
                  <a:srgbClr val="333333"/>
                </a:solidFill>
              </a:defRPr>
            </a:pPr>
            <a:r>
              <a:t>1</a:t>
            </a:r>
          </a:p>
        </p:txBody>
      </p:sp>
      <p:sp>
        <p:nvSpPr>
          <p:cNvPr id="128" name="TextBox 127"/>
          <p:cNvSpPr txBox="1"/>
          <p:nvPr/>
        </p:nvSpPr>
        <p:spPr>
          <a:xfrm>
            <a:off x="8961120" y="2999232"/>
            <a:ext cx="457200" cy="237744"/>
          </a:xfrm>
          <a:prstGeom prst="rect">
            <a:avLst/>
          </a:prstGeom>
          <a:noFill/>
        </p:spPr>
        <p:txBody>
          <a:bodyPr wrap="square">
            <a:spAutoFit/>
          </a:bodyPr>
          <a:lstStyle/>
          <a:p>
            <a:pPr algn="l">
              <a:defRPr sz="800" b="0">
                <a:solidFill>
                  <a:srgbClr val="1565C0"/>
                </a:solidFill>
              </a:defRPr>
            </a:pPr>
            <a:r>
              <a:t>Off</a:t>
            </a:r>
          </a:p>
        </p:txBody>
      </p:sp>
      <p:sp>
        <p:nvSpPr>
          <p:cNvPr id="129" name="TextBox 128"/>
          <p:cNvSpPr txBox="1"/>
          <p:nvPr/>
        </p:nvSpPr>
        <p:spPr>
          <a:xfrm>
            <a:off x="9464040" y="2999232"/>
            <a:ext cx="502920" cy="237744"/>
          </a:xfrm>
          <a:prstGeom prst="rect">
            <a:avLst/>
          </a:prstGeom>
          <a:noFill/>
        </p:spPr>
        <p:txBody>
          <a:bodyPr wrap="square">
            <a:spAutoFit/>
          </a:bodyPr>
          <a:lstStyle/>
          <a:p>
            <a:pPr algn="l">
              <a:defRPr sz="800" b="0">
                <a:solidFill>
                  <a:srgbClr val="333333"/>
                </a:solidFill>
              </a:defRPr>
            </a:pPr>
            <a:r>
              <a:t>$72</a:t>
            </a:r>
          </a:p>
        </p:txBody>
      </p:sp>
      <p:sp>
        <p:nvSpPr>
          <p:cNvPr id="130" name="TextBox 129"/>
          <p:cNvSpPr txBox="1"/>
          <p:nvPr/>
        </p:nvSpPr>
        <p:spPr>
          <a:xfrm>
            <a:off x="10012680" y="2999232"/>
            <a:ext cx="685800" cy="237744"/>
          </a:xfrm>
          <a:prstGeom prst="rect">
            <a:avLst/>
          </a:prstGeom>
          <a:noFill/>
        </p:spPr>
        <p:txBody>
          <a:bodyPr wrap="square">
            <a:spAutoFit/>
          </a:bodyPr>
          <a:lstStyle/>
          <a:p>
            <a:pPr algn="l">
              <a:defRPr sz="800" b="0">
                <a:solidFill>
                  <a:srgbClr val="333333"/>
                </a:solidFill>
              </a:defRPr>
            </a:pPr>
            <a:r>
              <a:t>10 wks</a:t>
            </a:r>
          </a:p>
        </p:txBody>
      </p:sp>
      <p:sp>
        <p:nvSpPr>
          <p:cNvPr id="131" name="TextBox 130"/>
          <p:cNvSpPr txBox="1"/>
          <p:nvPr/>
        </p:nvSpPr>
        <p:spPr>
          <a:xfrm>
            <a:off x="10744200" y="2999232"/>
            <a:ext cx="914400" cy="237744"/>
          </a:xfrm>
          <a:prstGeom prst="rect">
            <a:avLst/>
          </a:prstGeom>
          <a:noFill/>
        </p:spPr>
        <p:txBody>
          <a:bodyPr wrap="square">
            <a:spAutoFit/>
          </a:bodyPr>
          <a:lstStyle/>
          <a:p>
            <a:pPr algn="l">
              <a:defRPr sz="800" b="0">
                <a:solidFill>
                  <a:srgbClr val="333333"/>
                </a:solidFill>
              </a:defRPr>
            </a:pPr>
            <a:r>
              <a:t>$29K</a:t>
            </a:r>
          </a:p>
        </p:txBody>
      </p:sp>
      <p:sp>
        <p:nvSpPr>
          <p:cNvPr id="132" name="Rectangle 131"/>
          <p:cNvSpPr/>
          <p:nvPr/>
        </p:nvSpPr>
        <p:spPr>
          <a:xfrm>
            <a:off x="6217920" y="3246120"/>
            <a:ext cx="5486400" cy="2468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6309360" y="3246120"/>
            <a:ext cx="1828800" cy="237744"/>
          </a:xfrm>
          <a:prstGeom prst="rect">
            <a:avLst/>
          </a:prstGeom>
          <a:noFill/>
        </p:spPr>
        <p:txBody>
          <a:bodyPr wrap="square">
            <a:spAutoFit/>
          </a:bodyPr>
          <a:lstStyle/>
          <a:p>
            <a:pPr algn="l">
              <a:defRPr sz="800" b="1">
                <a:solidFill>
                  <a:srgbClr val="D52B1E"/>
                </a:solidFill>
              </a:defRPr>
            </a:pPr>
            <a:r>
              <a:t>AI Agent Cluster (Dev)</a:t>
            </a:r>
          </a:p>
        </p:txBody>
      </p:sp>
      <p:sp>
        <p:nvSpPr>
          <p:cNvPr id="134" name="TextBox 133"/>
          <p:cNvSpPr txBox="1"/>
          <p:nvPr/>
        </p:nvSpPr>
        <p:spPr>
          <a:xfrm>
            <a:off x="8183879" y="3246120"/>
            <a:ext cx="731520" cy="237744"/>
          </a:xfrm>
          <a:prstGeom prst="rect">
            <a:avLst/>
          </a:prstGeom>
          <a:noFill/>
        </p:spPr>
        <p:txBody>
          <a:bodyPr wrap="square">
            <a:spAutoFit/>
          </a:bodyPr>
          <a:lstStyle/>
          <a:p>
            <a:pPr algn="l">
              <a:defRPr sz="800" b="1">
                <a:solidFill>
                  <a:srgbClr val="D52B1E"/>
                </a:solidFill>
              </a:defRPr>
            </a:pPr>
            <a:r>
              <a:t>5-8 agents</a:t>
            </a:r>
          </a:p>
        </p:txBody>
      </p:sp>
      <p:sp>
        <p:nvSpPr>
          <p:cNvPr id="135" name="TextBox 134"/>
          <p:cNvSpPr txBox="1"/>
          <p:nvPr/>
        </p:nvSpPr>
        <p:spPr>
          <a:xfrm>
            <a:off x="8961120" y="3246120"/>
            <a:ext cx="457200" cy="237744"/>
          </a:xfrm>
          <a:prstGeom prst="rect">
            <a:avLst/>
          </a:prstGeom>
          <a:noFill/>
        </p:spPr>
        <p:txBody>
          <a:bodyPr wrap="square">
            <a:spAutoFit/>
          </a:bodyPr>
          <a:lstStyle/>
          <a:p>
            <a:pPr algn="l">
              <a:defRPr sz="800" b="1">
                <a:solidFill>
                  <a:srgbClr val="D52B1E"/>
                </a:solidFill>
              </a:defRPr>
            </a:pPr>
            <a:r>
              <a:t>AI</a:t>
            </a:r>
          </a:p>
        </p:txBody>
      </p:sp>
      <p:sp>
        <p:nvSpPr>
          <p:cNvPr id="136" name="TextBox 135"/>
          <p:cNvSpPr txBox="1"/>
          <p:nvPr/>
        </p:nvSpPr>
        <p:spPr>
          <a:xfrm>
            <a:off x="9464040" y="3246120"/>
            <a:ext cx="502920" cy="237744"/>
          </a:xfrm>
          <a:prstGeom prst="rect">
            <a:avLst/>
          </a:prstGeom>
          <a:noFill/>
        </p:spPr>
        <p:txBody>
          <a:bodyPr wrap="square">
            <a:spAutoFit/>
          </a:bodyPr>
          <a:lstStyle/>
          <a:p>
            <a:pPr algn="l">
              <a:defRPr sz="800" b="1">
                <a:solidFill>
                  <a:srgbClr val="333333"/>
                </a:solidFill>
              </a:defRPr>
            </a:pPr>
            <a:r>
              <a:t>—</a:t>
            </a:r>
          </a:p>
        </p:txBody>
      </p:sp>
      <p:sp>
        <p:nvSpPr>
          <p:cNvPr id="137" name="TextBox 136"/>
          <p:cNvSpPr txBox="1"/>
          <p:nvPr/>
        </p:nvSpPr>
        <p:spPr>
          <a:xfrm>
            <a:off x="10012680" y="3246120"/>
            <a:ext cx="685800" cy="237744"/>
          </a:xfrm>
          <a:prstGeom prst="rect">
            <a:avLst/>
          </a:prstGeom>
          <a:noFill/>
        </p:spPr>
        <p:txBody>
          <a:bodyPr wrap="square">
            <a:spAutoFit/>
          </a:bodyPr>
          <a:lstStyle/>
          <a:p>
            <a:pPr algn="l">
              <a:defRPr sz="800" b="1">
                <a:solidFill>
                  <a:srgbClr val="333333"/>
                </a:solidFill>
              </a:defRPr>
            </a:pPr>
            <a:r>
              <a:t>4-6 wks</a:t>
            </a:r>
          </a:p>
        </p:txBody>
      </p:sp>
      <p:sp>
        <p:nvSpPr>
          <p:cNvPr id="138" name="TextBox 137"/>
          <p:cNvSpPr txBox="1"/>
          <p:nvPr/>
        </p:nvSpPr>
        <p:spPr>
          <a:xfrm>
            <a:off x="10744200" y="3246120"/>
            <a:ext cx="914400" cy="237744"/>
          </a:xfrm>
          <a:prstGeom prst="rect">
            <a:avLst/>
          </a:prstGeom>
          <a:noFill/>
        </p:spPr>
        <p:txBody>
          <a:bodyPr wrap="square">
            <a:spAutoFit/>
          </a:bodyPr>
          <a:lstStyle/>
          <a:p>
            <a:pPr algn="l">
              <a:defRPr sz="800" b="1">
                <a:solidFill>
                  <a:srgbClr val="333333"/>
                </a:solidFill>
              </a:defRPr>
            </a:pPr>
            <a:r>
              <a:t>$45K</a:t>
            </a:r>
          </a:p>
        </p:txBody>
      </p:sp>
      <p:sp>
        <p:nvSpPr>
          <p:cNvPr id="139" name="Rectangle 138"/>
          <p:cNvSpPr/>
          <p:nvPr/>
        </p:nvSpPr>
        <p:spPr>
          <a:xfrm>
            <a:off x="6217920" y="3493008"/>
            <a:ext cx="5486400" cy="24688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6309360" y="3493008"/>
            <a:ext cx="1828800" cy="237744"/>
          </a:xfrm>
          <a:prstGeom prst="rect">
            <a:avLst/>
          </a:prstGeom>
          <a:noFill/>
        </p:spPr>
        <p:txBody>
          <a:bodyPr wrap="square">
            <a:spAutoFit/>
          </a:bodyPr>
          <a:lstStyle/>
          <a:p>
            <a:pPr algn="l">
              <a:defRPr sz="800" b="1">
                <a:solidFill>
                  <a:srgbClr val="D52B1E"/>
                </a:solidFill>
              </a:defRPr>
            </a:pPr>
            <a:r>
              <a:t>AI Agent Cluster (QA)</a:t>
            </a:r>
          </a:p>
        </p:txBody>
      </p:sp>
      <p:sp>
        <p:nvSpPr>
          <p:cNvPr id="141" name="TextBox 140"/>
          <p:cNvSpPr txBox="1"/>
          <p:nvPr/>
        </p:nvSpPr>
        <p:spPr>
          <a:xfrm>
            <a:off x="8183879" y="3493008"/>
            <a:ext cx="731520" cy="237744"/>
          </a:xfrm>
          <a:prstGeom prst="rect">
            <a:avLst/>
          </a:prstGeom>
          <a:noFill/>
        </p:spPr>
        <p:txBody>
          <a:bodyPr wrap="square">
            <a:spAutoFit/>
          </a:bodyPr>
          <a:lstStyle/>
          <a:p>
            <a:pPr algn="l">
              <a:defRPr sz="800" b="1">
                <a:solidFill>
                  <a:srgbClr val="D52B1E"/>
                </a:solidFill>
              </a:defRPr>
            </a:pPr>
            <a:r>
              <a:t>2-3 agents</a:t>
            </a:r>
          </a:p>
        </p:txBody>
      </p:sp>
      <p:sp>
        <p:nvSpPr>
          <p:cNvPr id="142" name="TextBox 141"/>
          <p:cNvSpPr txBox="1"/>
          <p:nvPr/>
        </p:nvSpPr>
        <p:spPr>
          <a:xfrm>
            <a:off x="8961120" y="3493008"/>
            <a:ext cx="457200" cy="237744"/>
          </a:xfrm>
          <a:prstGeom prst="rect">
            <a:avLst/>
          </a:prstGeom>
          <a:noFill/>
        </p:spPr>
        <p:txBody>
          <a:bodyPr wrap="square">
            <a:spAutoFit/>
          </a:bodyPr>
          <a:lstStyle/>
          <a:p>
            <a:pPr algn="l">
              <a:defRPr sz="800" b="1">
                <a:solidFill>
                  <a:srgbClr val="D52B1E"/>
                </a:solidFill>
              </a:defRPr>
            </a:pPr>
            <a:r>
              <a:t>AI</a:t>
            </a:r>
          </a:p>
        </p:txBody>
      </p:sp>
      <p:sp>
        <p:nvSpPr>
          <p:cNvPr id="143" name="TextBox 142"/>
          <p:cNvSpPr txBox="1"/>
          <p:nvPr/>
        </p:nvSpPr>
        <p:spPr>
          <a:xfrm>
            <a:off x="9464040" y="3493008"/>
            <a:ext cx="502920" cy="237744"/>
          </a:xfrm>
          <a:prstGeom prst="rect">
            <a:avLst/>
          </a:prstGeom>
          <a:noFill/>
        </p:spPr>
        <p:txBody>
          <a:bodyPr wrap="square">
            <a:spAutoFit/>
          </a:bodyPr>
          <a:lstStyle/>
          <a:p>
            <a:pPr algn="l">
              <a:defRPr sz="800" b="1">
                <a:solidFill>
                  <a:srgbClr val="333333"/>
                </a:solidFill>
              </a:defRPr>
            </a:pPr>
            <a:r>
              <a:t>—</a:t>
            </a:r>
          </a:p>
        </p:txBody>
      </p:sp>
      <p:sp>
        <p:nvSpPr>
          <p:cNvPr id="144" name="TextBox 143"/>
          <p:cNvSpPr txBox="1"/>
          <p:nvPr/>
        </p:nvSpPr>
        <p:spPr>
          <a:xfrm>
            <a:off x="10012680" y="3493008"/>
            <a:ext cx="685800" cy="237744"/>
          </a:xfrm>
          <a:prstGeom prst="rect">
            <a:avLst/>
          </a:prstGeom>
          <a:noFill/>
        </p:spPr>
        <p:txBody>
          <a:bodyPr wrap="square">
            <a:spAutoFit/>
          </a:bodyPr>
          <a:lstStyle/>
          <a:p>
            <a:pPr algn="l">
              <a:defRPr sz="800" b="1">
                <a:solidFill>
                  <a:srgbClr val="333333"/>
                </a:solidFill>
              </a:defRPr>
            </a:pPr>
            <a:r>
              <a:t>2-3 wks</a:t>
            </a:r>
          </a:p>
        </p:txBody>
      </p:sp>
      <p:sp>
        <p:nvSpPr>
          <p:cNvPr id="145" name="TextBox 144"/>
          <p:cNvSpPr txBox="1"/>
          <p:nvPr/>
        </p:nvSpPr>
        <p:spPr>
          <a:xfrm>
            <a:off x="10744200" y="3493008"/>
            <a:ext cx="914400" cy="237744"/>
          </a:xfrm>
          <a:prstGeom prst="rect">
            <a:avLst/>
          </a:prstGeom>
          <a:noFill/>
        </p:spPr>
        <p:txBody>
          <a:bodyPr wrap="square">
            <a:spAutoFit/>
          </a:bodyPr>
          <a:lstStyle/>
          <a:p>
            <a:pPr algn="l">
              <a:defRPr sz="800" b="1">
                <a:solidFill>
                  <a:srgbClr val="333333"/>
                </a:solidFill>
              </a:defRPr>
            </a:pPr>
            <a:r>
              <a:t>$20K</a:t>
            </a:r>
          </a:p>
        </p:txBody>
      </p:sp>
      <p:sp>
        <p:nvSpPr>
          <p:cNvPr id="146" name="Rectangle 145"/>
          <p:cNvSpPr/>
          <p:nvPr/>
        </p:nvSpPr>
        <p:spPr>
          <a:xfrm>
            <a:off x="6217920" y="3739896"/>
            <a:ext cx="5486400" cy="2468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6309360" y="3739896"/>
            <a:ext cx="1828800" cy="237744"/>
          </a:xfrm>
          <a:prstGeom prst="rect">
            <a:avLst/>
          </a:prstGeom>
          <a:noFill/>
        </p:spPr>
        <p:txBody>
          <a:bodyPr wrap="square">
            <a:spAutoFit/>
          </a:bodyPr>
          <a:lstStyle/>
          <a:p>
            <a:pPr algn="l">
              <a:defRPr sz="800" b="0">
                <a:solidFill>
                  <a:srgbClr val="333333"/>
                </a:solidFill>
              </a:defRPr>
            </a:pPr>
            <a:r>
              <a:t>Human QA Reviewer</a:t>
            </a:r>
          </a:p>
        </p:txBody>
      </p:sp>
      <p:sp>
        <p:nvSpPr>
          <p:cNvPr id="148" name="TextBox 147"/>
          <p:cNvSpPr txBox="1"/>
          <p:nvPr/>
        </p:nvSpPr>
        <p:spPr>
          <a:xfrm>
            <a:off x="8183879" y="3739896"/>
            <a:ext cx="731520" cy="237744"/>
          </a:xfrm>
          <a:prstGeom prst="rect">
            <a:avLst/>
          </a:prstGeom>
          <a:noFill/>
        </p:spPr>
        <p:txBody>
          <a:bodyPr wrap="square">
            <a:spAutoFit/>
          </a:bodyPr>
          <a:lstStyle/>
          <a:p>
            <a:pPr algn="l">
              <a:defRPr sz="800" b="0">
                <a:solidFill>
                  <a:srgbClr val="333333"/>
                </a:solidFill>
              </a:defRPr>
            </a:pPr>
            <a:r>
              <a:t>1 (PT)</a:t>
            </a:r>
          </a:p>
        </p:txBody>
      </p:sp>
      <p:sp>
        <p:nvSpPr>
          <p:cNvPr id="149" name="TextBox 148"/>
          <p:cNvSpPr txBox="1"/>
          <p:nvPr/>
        </p:nvSpPr>
        <p:spPr>
          <a:xfrm>
            <a:off x="8961120" y="3739896"/>
            <a:ext cx="457200" cy="237744"/>
          </a:xfrm>
          <a:prstGeom prst="rect">
            <a:avLst/>
          </a:prstGeom>
          <a:noFill/>
        </p:spPr>
        <p:txBody>
          <a:bodyPr wrap="square">
            <a:spAutoFit/>
          </a:bodyPr>
          <a:lstStyle/>
          <a:p>
            <a:pPr algn="l">
              <a:defRPr sz="800" b="0">
                <a:solidFill>
                  <a:srgbClr val="1565C0"/>
                </a:solidFill>
              </a:defRPr>
            </a:pPr>
            <a:r>
              <a:t>Off</a:t>
            </a:r>
          </a:p>
        </p:txBody>
      </p:sp>
      <p:sp>
        <p:nvSpPr>
          <p:cNvPr id="150" name="TextBox 149"/>
          <p:cNvSpPr txBox="1"/>
          <p:nvPr/>
        </p:nvSpPr>
        <p:spPr>
          <a:xfrm>
            <a:off x="9464040" y="3739896"/>
            <a:ext cx="502920" cy="237744"/>
          </a:xfrm>
          <a:prstGeom prst="rect">
            <a:avLst/>
          </a:prstGeom>
          <a:noFill/>
        </p:spPr>
        <p:txBody>
          <a:bodyPr wrap="square">
            <a:spAutoFit/>
          </a:bodyPr>
          <a:lstStyle/>
          <a:p>
            <a:pPr algn="l">
              <a:defRPr sz="800" b="0">
                <a:solidFill>
                  <a:srgbClr val="333333"/>
                </a:solidFill>
              </a:defRPr>
            </a:pPr>
            <a:r>
              <a:t>$72</a:t>
            </a:r>
          </a:p>
        </p:txBody>
      </p:sp>
      <p:sp>
        <p:nvSpPr>
          <p:cNvPr id="151" name="TextBox 150"/>
          <p:cNvSpPr txBox="1"/>
          <p:nvPr/>
        </p:nvSpPr>
        <p:spPr>
          <a:xfrm>
            <a:off x="10012680" y="3739896"/>
            <a:ext cx="685800" cy="237744"/>
          </a:xfrm>
          <a:prstGeom prst="rect">
            <a:avLst/>
          </a:prstGeom>
          <a:noFill/>
        </p:spPr>
        <p:txBody>
          <a:bodyPr wrap="square">
            <a:spAutoFit/>
          </a:bodyPr>
          <a:lstStyle/>
          <a:p>
            <a:pPr algn="l">
              <a:defRPr sz="800" b="0">
                <a:solidFill>
                  <a:srgbClr val="333333"/>
                </a:solidFill>
              </a:defRPr>
            </a:pPr>
            <a:r>
              <a:t>5 wks</a:t>
            </a:r>
          </a:p>
        </p:txBody>
      </p:sp>
      <p:sp>
        <p:nvSpPr>
          <p:cNvPr id="152" name="TextBox 151"/>
          <p:cNvSpPr txBox="1"/>
          <p:nvPr/>
        </p:nvSpPr>
        <p:spPr>
          <a:xfrm>
            <a:off x="10744200" y="3739896"/>
            <a:ext cx="914400" cy="237744"/>
          </a:xfrm>
          <a:prstGeom prst="rect">
            <a:avLst/>
          </a:prstGeom>
          <a:noFill/>
        </p:spPr>
        <p:txBody>
          <a:bodyPr wrap="square">
            <a:spAutoFit/>
          </a:bodyPr>
          <a:lstStyle/>
          <a:p>
            <a:pPr algn="l">
              <a:defRPr sz="800" b="0">
                <a:solidFill>
                  <a:srgbClr val="333333"/>
                </a:solidFill>
              </a:defRPr>
            </a:pPr>
            <a:r>
              <a:t>$14K</a:t>
            </a:r>
          </a:p>
        </p:txBody>
      </p:sp>
      <p:sp>
        <p:nvSpPr>
          <p:cNvPr id="153" name="Rectangle 152"/>
          <p:cNvSpPr/>
          <p:nvPr/>
        </p:nvSpPr>
        <p:spPr>
          <a:xfrm>
            <a:off x="6217920" y="3986784"/>
            <a:ext cx="5486400" cy="24688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6309360" y="3986784"/>
            <a:ext cx="1828800" cy="237744"/>
          </a:xfrm>
          <a:prstGeom prst="rect">
            <a:avLst/>
          </a:prstGeom>
          <a:noFill/>
        </p:spPr>
        <p:txBody>
          <a:bodyPr wrap="square">
            <a:spAutoFit/>
          </a:bodyPr>
          <a:lstStyle/>
          <a:p>
            <a:pPr algn="l">
              <a:defRPr sz="800" b="0">
                <a:solidFill>
                  <a:srgbClr val="333333"/>
                </a:solidFill>
              </a:defRPr>
            </a:pPr>
            <a:r>
              <a:t>DevOps (human + AI)</a:t>
            </a:r>
          </a:p>
        </p:txBody>
      </p:sp>
      <p:sp>
        <p:nvSpPr>
          <p:cNvPr id="155" name="TextBox 154"/>
          <p:cNvSpPr txBox="1"/>
          <p:nvPr/>
        </p:nvSpPr>
        <p:spPr>
          <a:xfrm>
            <a:off x="8183879" y="3986784"/>
            <a:ext cx="731520" cy="237744"/>
          </a:xfrm>
          <a:prstGeom prst="rect">
            <a:avLst/>
          </a:prstGeom>
          <a:noFill/>
        </p:spPr>
        <p:txBody>
          <a:bodyPr wrap="square">
            <a:spAutoFit/>
          </a:bodyPr>
          <a:lstStyle/>
          <a:p>
            <a:pPr algn="l">
              <a:defRPr sz="800" b="0">
                <a:solidFill>
                  <a:srgbClr val="333333"/>
                </a:solidFill>
              </a:defRPr>
            </a:pPr>
            <a:r>
              <a:t>0.5 + AI</a:t>
            </a:r>
          </a:p>
        </p:txBody>
      </p:sp>
      <p:sp>
        <p:nvSpPr>
          <p:cNvPr id="156" name="TextBox 155"/>
          <p:cNvSpPr txBox="1"/>
          <p:nvPr/>
        </p:nvSpPr>
        <p:spPr>
          <a:xfrm>
            <a:off x="8961120" y="3986784"/>
            <a:ext cx="457200" cy="237744"/>
          </a:xfrm>
          <a:prstGeom prst="rect">
            <a:avLst/>
          </a:prstGeom>
          <a:noFill/>
        </p:spPr>
        <p:txBody>
          <a:bodyPr wrap="square">
            <a:spAutoFit/>
          </a:bodyPr>
          <a:lstStyle/>
          <a:p>
            <a:pPr algn="l">
              <a:defRPr sz="800" b="0">
                <a:solidFill>
                  <a:srgbClr val="1565C0"/>
                </a:solidFill>
              </a:defRPr>
            </a:pPr>
            <a:r>
              <a:t>Off</a:t>
            </a:r>
          </a:p>
        </p:txBody>
      </p:sp>
      <p:sp>
        <p:nvSpPr>
          <p:cNvPr id="157" name="TextBox 156"/>
          <p:cNvSpPr txBox="1"/>
          <p:nvPr/>
        </p:nvSpPr>
        <p:spPr>
          <a:xfrm>
            <a:off x="9464040" y="3986784"/>
            <a:ext cx="502920" cy="237744"/>
          </a:xfrm>
          <a:prstGeom prst="rect">
            <a:avLst/>
          </a:prstGeom>
          <a:noFill/>
        </p:spPr>
        <p:txBody>
          <a:bodyPr wrap="square">
            <a:spAutoFit/>
          </a:bodyPr>
          <a:lstStyle/>
          <a:p>
            <a:pPr algn="l">
              <a:defRPr sz="800" b="0">
                <a:solidFill>
                  <a:srgbClr val="333333"/>
                </a:solidFill>
              </a:defRPr>
            </a:pPr>
            <a:r>
              <a:t>$72</a:t>
            </a:r>
          </a:p>
        </p:txBody>
      </p:sp>
      <p:sp>
        <p:nvSpPr>
          <p:cNvPr id="158" name="TextBox 157"/>
          <p:cNvSpPr txBox="1"/>
          <p:nvPr/>
        </p:nvSpPr>
        <p:spPr>
          <a:xfrm>
            <a:off x="10012680" y="3986784"/>
            <a:ext cx="685800" cy="237744"/>
          </a:xfrm>
          <a:prstGeom prst="rect">
            <a:avLst/>
          </a:prstGeom>
          <a:noFill/>
        </p:spPr>
        <p:txBody>
          <a:bodyPr wrap="square">
            <a:spAutoFit/>
          </a:bodyPr>
          <a:lstStyle/>
          <a:p>
            <a:pPr algn="l">
              <a:defRPr sz="800" b="0">
                <a:solidFill>
                  <a:srgbClr val="333333"/>
                </a:solidFill>
              </a:defRPr>
            </a:pPr>
            <a:r>
              <a:t>3 wks</a:t>
            </a:r>
          </a:p>
        </p:txBody>
      </p:sp>
      <p:sp>
        <p:nvSpPr>
          <p:cNvPr id="159" name="TextBox 158"/>
          <p:cNvSpPr txBox="1"/>
          <p:nvPr/>
        </p:nvSpPr>
        <p:spPr>
          <a:xfrm>
            <a:off x="10744200" y="3986784"/>
            <a:ext cx="914400" cy="237744"/>
          </a:xfrm>
          <a:prstGeom prst="rect">
            <a:avLst/>
          </a:prstGeom>
          <a:noFill/>
        </p:spPr>
        <p:txBody>
          <a:bodyPr wrap="square">
            <a:spAutoFit/>
          </a:bodyPr>
          <a:lstStyle/>
          <a:p>
            <a:pPr algn="l">
              <a:defRPr sz="800" b="0">
                <a:solidFill>
                  <a:srgbClr val="333333"/>
                </a:solidFill>
              </a:defRPr>
            </a:pPr>
            <a:r>
              <a:t>$9K</a:t>
            </a:r>
          </a:p>
        </p:txBody>
      </p:sp>
      <p:sp>
        <p:nvSpPr>
          <p:cNvPr id="160" name="Rectangle 159"/>
          <p:cNvSpPr/>
          <p:nvPr/>
        </p:nvSpPr>
        <p:spPr>
          <a:xfrm>
            <a:off x="6217920" y="4251960"/>
            <a:ext cx="5486400" cy="36576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6309360" y="4270248"/>
            <a:ext cx="1645920" cy="320040"/>
          </a:xfrm>
          <a:prstGeom prst="rect">
            <a:avLst/>
          </a:prstGeom>
          <a:noFill/>
        </p:spPr>
        <p:txBody>
          <a:bodyPr wrap="square">
            <a:spAutoFit/>
          </a:bodyPr>
          <a:lstStyle/>
          <a:p>
            <a:pPr algn="l">
              <a:defRPr sz="1100" b="1">
                <a:solidFill>
                  <a:srgbClr val="FFFFFF"/>
                </a:solidFill>
              </a:defRPr>
            </a:pPr>
            <a:r>
              <a:t>5 humans + AI</a:t>
            </a:r>
          </a:p>
        </p:txBody>
      </p:sp>
      <p:sp>
        <p:nvSpPr>
          <p:cNvPr id="162" name="TextBox 161"/>
          <p:cNvSpPr txBox="1"/>
          <p:nvPr/>
        </p:nvSpPr>
        <p:spPr>
          <a:xfrm>
            <a:off x="7955279" y="4270248"/>
            <a:ext cx="1371600" cy="320040"/>
          </a:xfrm>
          <a:prstGeom prst="rect">
            <a:avLst/>
          </a:prstGeom>
          <a:noFill/>
        </p:spPr>
        <p:txBody>
          <a:bodyPr wrap="square">
            <a:spAutoFit/>
          </a:bodyPr>
          <a:lstStyle/>
          <a:p>
            <a:pPr algn="l">
              <a:defRPr sz="900" b="0">
                <a:solidFill>
                  <a:srgbClr val="FFCCCC"/>
                </a:solidFill>
              </a:defRPr>
            </a:pPr>
            <a:r>
              <a:t>3 onshore + 2 offshore</a:t>
            </a:r>
          </a:p>
        </p:txBody>
      </p:sp>
      <p:sp>
        <p:nvSpPr>
          <p:cNvPr id="163" name="TextBox 162"/>
          <p:cNvSpPr txBox="1"/>
          <p:nvPr/>
        </p:nvSpPr>
        <p:spPr>
          <a:xfrm>
            <a:off x="10012680" y="4270248"/>
            <a:ext cx="685800" cy="320040"/>
          </a:xfrm>
          <a:prstGeom prst="rect">
            <a:avLst/>
          </a:prstGeom>
          <a:noFill/>
        </p:spPr>
        <p:txBody>
          <a:bodyPr wrap="square">
            <a:spAutoFit/>
          </a:bodyPr>
          <a:lstStyle/>
          <a:p>
            <a:pPr algn="l">
              <a:defRPr sz="1100" b="1">
                <a:solidFill>
                  <a:srgbClr val="FFFFFF"/>
                </a:solidFill>
              </a:defRPr>
            </a:pPr>
            <a:r>
              <a:t>8-15 wks</a:t>
            </a:r>
          </a:p>
        </p:txBody>
      </p:sp>
      <p:sp>
        <p:nvSpPr>
          <p:cNvPr id="164" name="TextBox 163"/>
          <p:cNvSpPr txBox="1"/>
          <p:nvPr/>
        </p:nvSpPr>
        <p:spPr>
          <a:xfrm>
            <a:off x="10744200" y="4270248"/>
            <a:ext cx="914400" cy="320040"/>
          </a:xfrm>
          <a:prstGeom prst="rect">
            <a:avLst/>
          </a:prstGeom>
          <a:noFill/>
        </p:spPr>
        <p:txBody>
          <a:bodyPr wrap="square">
            <a:spAutoFit/>
          </a:bodyPr>
          <a:lstStyle/>
          <a:p>
            <a:pPr algn="l">
              <a:defRPr sz="1100" b="1">
                <a:solidFill>
                  <a:srgbClr val="FFFFFF"/>
                </a:solidFill>
              </a:defRPr>
            </a:pPr>
            <a:r>
              <a:t>$344K</a:t>
            </a:r>
          </a:p>
        </p:txBody>
      </p:sp>
      <p:sp>
        <p:nvSpPr>
          <p:cNvPr id="165" name="TextBox 164"/>
          <p:cNvSpPr txBox="1"/>
          <p:nvPr/>
        </p:nvSpPr>
        <p:spPr>
          <a:xfrm>
            <a:off x="6309360" y="4754880"/>
            <a:ext cx="5029200" cy="228600"/>
          </a:xfrm>
          <a:prstGeom prst="rect">
            <a:avLst/>
          </a:prstGeom>
          <a:noFill/>
        </p:spPr>
        <p:txBody>
          <a:bodyPr wrap="square">
            <a:spAutoFit/>
          </a:bodyPr>
          <a:lstStyle/>
          <a:p>
            <a:pPr algn="l">
              <a:defRPr sz="900" b="0">
                <a:solidFill>
                  <a:srgbClr val="666666"/>
                </a:solidFill>
              </a:defRPr>
            </a:pPr>
            <a:r>
              <a:t>Parallel — AI agents run concurrently with human supervision:</a:t>
            </a:r>
          </a:p>
        </p:txBody>
      </p:sp>
      <p:sp>
        <p:nvSpPr>
          <p:cNvPr id="166" name="Rectangle 165"/>
          <p:cNvSpPr/>
          <p:nvPr/>
        </p:nvSpPr>
        <p:spPr>
          <a:xfrm>
            <a:off x="6309360" y="5029200"/>
            <a:ext cx="594360" cy="27432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6309360" y="5029200"/>
            <a:ext cx="594360" cy="274320"/>
          </a:xfrm>
          <a:prstGeom prst="rect">
            <a:avLst/>
          </a:prstGeom>
          <a:noFill/>
        </p:spPr>
        <p:txBody>
          <a:bodyPr wrap="square">
            <a:spAutoFit/>
          </a:bodyPr>
          <a:lstStyle/>
          <a:p>
            <a:pPr algn="ctr">
              <a:defRPr sz="800" b="1">
                <a:solidFill>
                  <a:srgbClr val="FFFFFF"/>
                </a:solidFill>
              </a:defRPr>
            </a:pPr>
            <a:r>
              <a:t>Arch</a:t>
            </a:r>
          </a:p>
        </p:txBody>
      </p:sp>
      <p:sp>
        <p:nvSpPr>
          <p:cNvPr id="168" name="Rectangle 167"/>
          <p:cNvSpPr/>
          <p:nvPr/>
        </p:nvSpPr>
        <p:spPr>
          <a:xfrm>
            <a:off x="6940296" y="5029200"/>
            <a:ext cx="2743200" cy="27432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6940296" y="5029200"/>
            <a:ext cx="2743200" cy="274320"/>
          </a:xfrm>
          <a:prstGeom prst="rect">
            <a:avLst/>
          </a:prstGeom>
          <a:noFill/>
        </p:spPr>
        <p:txBody>
          <a:bodyPr wrap="square">
            <a:spAutoFit/>
          </a:bodyPr>
          <a:lstStyle/>
          <a:p>
            <a:pPr algn="ctr">
              <a:defRPr sz="800" b="1">
                <a:solidFill>
                  <a:srgbClr val="FFFFFF"/>
                </a:solidFill>
              </a:defRPr>
            </a:pPr>
            <a:r>
              <a:t>Backend + Mobile + QA (parallel)</a:t>
            </a:r>
          </a:p>
        </p:txBody>
      </p:sp>
      <p:sp>
        <p:nvSpPr>
          <p:cNvPr id="170" name="Rectangle 169"/>
          <p:cNvSpPr/>
          <p:nvPr/>
        </p:nvSpPr>
        <p:spPr>
          <a:xfrm>
            <a:off x="9720072" y="5029200"/>
            <a:ext cx="822960" cy="274320"/>
          </a:xfrm>
          <a:prstGeom prst="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9720072" y="5029200"/>
            <a:ext cx="822960" cy="274320"/>
          </a:xfrm>
          <a:prstGeom prst="rect">
            <a:avLst/>
          </a:prstGeom>
          <a:noFill/>
        </p:spPr>
        <p:txBody>
          <a:bodyPr wrap="square">
            <a:spAutoFit/>
          </a:bodyPr>
          <a:lstStyle/>
          <a:p>
            <a:pPr algn="ctr">
              <a:defRPr sz="800" b="1">
                <a:solidFill>
                  <a:srgbClr val="FFFFFF"/>
                </a:solidFill>
              </a:defRPr>
            </a:pPr>
            <a:r>
              <a:t>Integrate</a:t>
            </a:r>
          </a:p>
        </p:txBody>
      </p:sp>
      <p:sp>
        <p:nvSpPr>
          <p:cNvPr id="172" name="Rectangle 171"/>
          <p:cNvSpPr/>
          <p:nvPr/>
        </p:nvSpPr>
        <p:spPr>
          <a:xfrm>
            <a:off x="10579608" y="5029200"/>
            <a:ext cx="502920" cy="27432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10579608" y="5029200"/>
            <a:ext cx="502920" cy="274320"/>
          </a:xfrm>
          <a:prstGeom prst="rect">
            <a:avLst/>
          </a:prstGeom>
          <a:noFill/>
        </p:spPr>
        <p:txBody>
          <a:bodyPr wrap="square">
            <a:spAutoFit/>
          </a:bodyPr>
          <a:lstStyle/>
          <a:p>
            <a:pPr algn="ctr">
              <a:defRPr sz="800" b="1">
                <a:solidFill>
                  <a:srgbClr val="FFFFFF"/>
                </a:solidFill>
              </a:defRPr>
            </a:pPr>
            <a:r>
              <a:t>Launch</a:t>
            </a:r>
          </a:p>
        </p:txBody>
      </p:sp>
      <p:sp>
        <p:nvSpPr>
          <p:cNvPr id="174" name="Rectangle 173"/>
          <p:cNvSpPr/>
          <p:nvPr/>
        </p:nvSpPr>
        <p:spPr>
          <a:xfrm>
            <a:off x="457200" y="5486400"/>
            <a:ext cx="11247120"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640080" y="5486400"/>
            <a:ext cx="10789920" cy="301752"/>
          </a:xfrm>
          <a:prstGeom prst="rect">
            <a:avLst/>
          </a:prstGeom>
          <a:noFill/>
        </p:spPr>
        <p:txBody>
          <a:bodyPr wrap="square">
            <a:spAutoFit/>
          </a:bodyPr>
          <a:lstStyle/>
          <a:p>
            <a:pPr algn="ctr">
              <a:defRPr sz="1100" b="1">
                <a:solidFill>
                  <a:srgbClr val="D52B1E"/>
                </a:solidFill>
              </a:defRPr>
            </a:pPr>
            <a:r>
              <a:t>EliteA saves $320K-550K CAD (48-61%)  |  50% fewer human FTEs (5 vs 10)  |  4-6 months faster  |  AI handles ~70% of code, tests, and docs</a:t>
            </a:r>
          </a:p>
        </p:txBody>
      </p:sp>
      <p:sp>
        <p:nvSpPr>
          <p:cNvPr id="176" name="TextBox 175"/>
          <p:cNvSpPr txBox="1"/>
          <p:nvPr/>
        </p:nvSpPr>
        <p:spPr>
          <a:xfrm>
            <a:off x="640080" y="5897880"/>
            <a:ext cx="10789920" cy="320040"/>
          </a:xfrm>
          <a:prstGeom prst="rect">
            <a:avLst/>
          </a:prstGeom>
          <a:noFill/>
        </p:spPr>
        <p:txBody>
          <a:bodyPr wrap="square">
            <a:spAutoFit/>
          </a:bodyPr>
          <a:lstStyle/>
          <a:p>
            <a:pPr algn="ctr">
              <a:defRPr sz="900" b="0">
                <a:solidFill>
                  <a:srgbClr val="666666"/>
                </a:solidFill>
              </a:defRPr>
            </a:pPr>
            <a:r>
              <a:t>On = Onshore (Canada)  |  Off = Offshore/Nearshore  |  AI = EPAM EliteA agent compute  |  PT = Part-time  |  All rates in CAD/hour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640080"/>
          </a:xfrm>
          <a:prstGeom prst="rect">
            <a:avLst/>
          </a:prstGeom>
          <a:noFill/>
        </p:spPr>
        <p:txBody>
          <a:bodyPr wrap="square">
            <a:spAutoFit/>
          </a:bodyPr>
          <a:lstStyle/>
          <a:p>
            <a:pPr algn="l">
              <a:defRPr sz="3200" b="1">
                <a:solidFill>
                  <a:srgbClr val="FFFFFF"/>
                </a:solidFill>
              </a:defRPr>
            </a:pPr>
            <a:r>
              <a:t>Investment &amp; ROI</a:t>
            </a:r>
          </a:p>
        </p:txBody>
      </p:sp>
      <p:sp>
        <p:nvSpPr>
          <p:cNvPr id="4" name="TextBox 3"/>
          <p:cNvSpPr txBox="1"/>
          <p:nvPr/>
        </p:nvSpPr>
        <p:spPr>
          <a:xfrm>
            <a:off x="548640" y="594360"/>
            <a:ext cx="9144000" cy="365760"/>
          </a:xfrm>
          <a:prstGeom prst="rect">
            <a:avLst/>
          </a:prstGeom>
          <a:noFill/>
        </p:spPr>
        <p:txBody>
          <a:bodyPr wrap="square">
            <a:spAutoFit/>
          </a:bodyPr>
          <a:lstStyle/>
          <a:p>
            <a:pPr algn="l">
              <a:defRPr sz="1600" b="0">
                <a:solidFill>
                  <a:srgbClr val="FFCCCC"/>
                </a:solidFill>
              </a:defRPr>
            </a:pPr>
            <a:r>
              <a:t>All amounts in CAD  |  Agentic AI SDLC reduces cost by ~50% and timeline by ~50%</a:t>
            </a:r>
          </a:p>
        </p:txBody>
      </p:sp>
      <p:sp>
        <p:nvSpPr>
          <p:cNvPr id="5" name="TextBox 4"/>
          <p:cNvSpPr txBox="1"/>
          <p:nvPr/>
        </p:nvSpPr>
        <p:spPr>
          <a:xfrm>
            <a:off x="548640" y="6400800"/>
            <a:ext cx="4572000" cy="365760"/>
          </a:xfrm>
          <a:prstGeom prst="rect">
            <a:avLst/>
          </a:prstGeom>
          <a:noFill/>
        </p:spPr>
        <p:txBody>
          <a:bodyPr wrap="square">
            <a:spAutoFit/>
          </a:bodyPr>
          <a:lstStyle/>
          <a:p>
            <a:pPr algn="l">
              <a:defRPr sz="1000" b="0">
                <a:solidFill>
                  <a:srgbClr val="666666"/>
                </a:solidFill>
              </a:defRPr>
            </a:pPr>
            <a:r>
              <a:t>EPAM Systems | Confidential</a:t>
            </a:r>
          </a:p>
        </p:txBody>
      </p:sp>
      <p:sp>
        <p:nvSpPr>
          <p:cNvPr id="6" name="TextBox 5"/>
          <p:cNvSpPr txBox="1"/>
          <p:nvPr/>
        </p:nvSpPr>
        <p:spPr>
          <a:xfrm>
            <a:off x="8229600" y="6400800"/>
            <a:ext cx="3657600" cy="365760"/>
          </a:xfrm>
          <a:prstGeom prst="rect">
            <a:avLst/>
          </a:prstGeom>
          <a:noFill/>
        </p:spPr>
        <p:txBody>
          <a:bodyPr wrap="square">
            <a:spAutoFit/>
          </a:bodyPr>
          <a:lstStyle/>
          <a:p>
            <a:pPr algn="r">
              <a:defRPr sz="1000" b="0">
                <a:solidFill>
                  <a:srgbClr val="666666"/>
                </a:solidFill>
              </a:defRPr>
            </a:pPr>
            <a:r>
              <a:t>CTC Mobile Wishlist — Business Case</a:t>
            </a:r>
          </a:p>
        </p:txBody>
      </p:sp>
      <p:sp>
        <p:nvSpPr>
          <p:cNvPr id="7" name="TextBox 6"/>
          <p:cNvSpPr txBox="1"/>
          <p:nvPr/>
        </p:nvSpPr>
        <p:spPr>
          <a:xfrm>
            <a:off x="731520" y="1188720"/>
            <a:ext cx="5029200" cy="457200"/>
          </a:xfrm>
          <a:prstGeom prst="rect">
            <a:avLst/>
          </a:prstGeom>
          <a:noFill/>
        </p:spPr>
        <p:txBody>
          <a:bodyPr wrap="square">
            <a:spAutoFit/>
          </a:bodyPr>
          <a:lstStyle/>
          <a:p>
            <a:pPr algn="l">
              <a:defRPr sz="1800" b="1">
                <a:solidFill>
                  <a:srgbClr val="333333"/>
                </a:solidFill>
              </a:defRPr>
            </a:pPr>
            <a:r>
              <a:t>Implementation Cost Comparison (CAD)</a:t>
            </a:r>
          </a:p>
        </p:txBody>
      </p:sp>
      <p:sp>
        <p:nvSpPr>
          <p:cNvPr id="8" name="TextBox 7"/>
          <p:cNvSpPr txBox="1"/>
          <p:nvPr/>
        </p:nvSpPr>
        <p:spPr>
          <a:xfrm>
            <a:off x="731520" y="1737360"/>
            <a:ext cx="5029200" cy="320040"/>
          </a:xfrm>
          <a:prstGeom prst="rect">
            <a:avLst/>
          </a:prstGeom>
          <a:noFill/>
        </p:spPr>
        <p:txBody>
          <a:bodyPr wrap="square">
            <a:spAutoFit/>
          </a:bodyPr>
          <a:lstStyle/>
          <a:p>
            <a:pPr algn="l">
              <a:defRPr sz="1400" b="1">
                <a:solidFill>
                  <a:srgbClr val="666666"/>
                </a:solidFill>
              </a:defRPr>
            </a:pPr>
            <a:r>
              <a:t>Traditional SDLC</a:t>
            </a:r>
          </a:p>
        </p:txBody>
      </p:sp>
      <p:sp>
        <p:nvSpPr>
          <p:cNvPr id="9" name="TextBox 8"/>
          <p:cNvSpPr txBox="1"/>
          <p:nvPr/>
        </p:nvSpPr>
        <p:spPr>
          <a:xfrm>
            <a:off x="731520" y="2103120"/>
            <a:ext cx="2286000" cy="292608"/>
          </a:xfrm>
          <a:prstGeom prst="rect">
            <a:avLst/>
          </a:prstGeom>
          <a:noFill/>
        </p:spPr>
        <p:txBody>
          <a:bodyPr wrap="square">
            <a:spAutoFit/>
          </a:bodyPr>
          <a:lstStyle/>
          <a:p>
            <a:pPr algn="l">
              <a:defRPr sz="1100" b="0">
                <a:solidFill>
                  <a:srgbClr val="333333"/>
                </a:solidFill>
              </a:defRPr>
            </a:pPr>
            <a:r>
              <a:t>Design &amp; Architecture</a:t>
            </a:r>
          </a:p>
        </p:txBody>
      </p:sp>
      <p:sp>
        <p:nvSpPr>
          <p:cNvPr id="10" name="TextBox 9"/>
          <p:cNvSpPr txBox="1"/>
          <p:nvPr/>
        </p:nvSpPr>
        <p:spPr>
          <a:xfrm>
            <a:off x="3017520" y="2103120"/>
            <a:ext cx="1097280" cy="292608"/>
          </a:xfrm>
          <a:prstGeom prst="rect">
            <a:avLst/>
          </a:prstGeom>
          <a:noFill/>
        </p:spPr>
        <p:txBody>
          <a:bodyPr wrap="square">
            <a:spAutoFit/>
          </a:bodyPr>
          <a:lstStyle/>
          <a:p>
            <a:pPr algn="r">
              <a:defRPr sz="1100" b="0">
                <a:solidFill>
                  <a:srgbClr val="666666"/>
                </a:solidFill>
              </a:defRPr>
            </a:pPr>
            <a:r>
              <a:t>$142K-199K</a:t>
            </a:r>
          </a:p>
        </p:txBody>
      </p:sp>
      <p:sp>
        <p:nvSpPr>
          <p:cNvPr id="11" name="TextBox 10"/>
          <p:cNvSpPr txBox="1"/>
          <p:nvPr/>
        </p:nvSpPr>
        <p:spPr>
          <a:xfrm>
            <a:off x="4206240" y="2103120"/>
            <a:ext cx="1097280" cy="292608"/>
          </a:xfrm>
          <a:prstGeom prst="rect">
            <a:avLst/>
          </a:prstGeom>
          <a:noFill/>
        </p:spPr>
        <p:txBody>
          <a:bodyPr wrap="square">
            <a:spAutoFit/>
          </a:bodyPr>
          <a:lstStyle/>
          <a:p>
            <a:pPr algn="l">
              <a:defRPr sz="1100" b="0">
                <a:solidFill>
                  <a:srgbClr val="666666"/>
                </a:solidFill>
              </a:defRPr>
            </a:pPr>
            <a:r>
              <a:t>4-6 weeks</a:t>
            </a:r>
          </a:p>
        </p:txBody>
      </p:sp>
      <p:sp>
        <p:nvSpPr>
          <p:cNvPr id="12" name="TextBox 11"/>
          <p:cNvSpPr txBox="1"/>
          <p:nvPr/>
        </p:nvSpPr>
        <p:spPr>
          <a:xfrm>
            <a:off x="731520" y="2423160"/>
            <a:ext cx="2286000" cy="292608"/>
          </a:xfrm>
          <a:prstGeom prst="rect">
            <a:avLst/>
          </a:prstGeom>
          <a:noFill/>
        </p:spPr>
        <p:txBody>
          <a:bodyPr wrap="square">
            <a:spAutoFit/>
          </a:bodyPr>
          <a:lstStyle/>
          <a:p>
            <a:pPr algn="l">
              <a:defRPr sz="1100" b="0">
                <a:solidFill>
                  <a:srgbClr val="333333"/>
                </a:solidFill>
              </a:defRPr>
            </a:pPr>
            <a:r>
              <a:t>Backend Development</a:t>
            </a:r>
          </a:p>
        </p:txBody>
      </p:sp>
      <p:sp>
        <p:nvSpPr>
          <p:cNvPr id="13" name="TextBox 12"/>
          <p:cNvSpPr txBox="1"/>
          <p:nvPr/>
        </p:nvSpPr>
        <p:spPr>
          <a:xfrm>
            <a:off x="3017520" y="2423160"/>
            <a:ext cx="1097280" cy="292608"/>
          </a:xfrm>
          <a:prstGeom prst="rect">
            <a:avLst/>
          </a:prstGeom>
          <a:noFill/>
        </p:spPr>
        <p:txBody>
          <a:bodyPr wrap="square">
            <a:spAutoFit/>
          </a:bodyPr>
          <a:lstStyle/>
          <a:p>
            <a:pPr algn="r">
              <a:defRPr sz="1100" b="0">
                <a:solidFill>
                  <a:srgbClr val="666666"/>
                </a:solidFill>
              </a:defRPr>
            </a:pPr>
            <a:r>
              <a:t>$146K-176K</a:t>
            </a:r>
          </a:p>
        </p:txBody>
      </p:sp>
      <p:sp>
        <p:nvSpPr>
          <p:cNvPr id="14" name="TextBox 13"/>
          <p:cNvSpPr txBox="1"/>
          <p:nvPr/>
        </p:nvSpPr>
        <p:spPr>
          <a:xfrm>
            <a:off x="4206240" y="2423160"/>
            <a:ext cx="1097280" cy="292608"/>
          </a:xfrm>
          <a:prstGeom prst="rect">
            <a:avLst/>
          </a:prstGeom>
          <a:noFill/>
        </p:spPr>
        <p:txBody>
          <a:bodyPr wrap="square">
            <a:spAutoFit/>
          </a:bodyPr>
          <a:lstStyle/>
          <a:p>
            <a:pPr algn="l">
              <a:defRPr sz="1100" b="0">
                <a:solidFill>
                  <a:srgbClr val="666666"/>
                </a:solidFill>
              </a:defRPr>
            </a:pPr>
            <a:r>
              <a:t>8-12 weeks</a:t>
            </a:r>
          </a:p>
        </p:txBody>
      </p:sp>
      <p:sp>
        <p:nvSpPr>
          <p:cNvPr id="15" name="TextBox 14"/>
          <p:cNvSpPr txBox="1"/>
          <p:nvPr/>
        </p:nvSpPr>
        <p:spPr>
          <a:xfrm>
            <a:off x="731520" y="2743200"/>
            <a:ext cx="2286000" cy="292608"/>
          </a:xfrm>
          <a:prstGeom prst="rect">
            <a:avLst/>
          </a:prstGeom>
          <a:noFill/>
        </p:spPr>
        <p:txBody>
          <a:bodyPr wrap="square">
            <a:spAutoFit/>
          </a:bodyPr>
          <a:lstStyle/>
          <a:p>
            <a:pPr algn="l">
              <a:defRPr sz="1100" b="0">
                <a:solidFill>
                  <a:srgbClr val="333333"/>
                </a:solidFill>
              </a:defRPr>
            </a:pPr>
            <a:r>
              <a:t>Mobile Development</a:t>
            </a:r>
          </a:p>
        </p:txBody>
      </p:sp>
      <p:sp>
        <p:nvSpPr>
          <p:cNvPr id="16" name="TextBox 15"/>
          <p:cNvSpPr txBox="1"/>
          <p:nvPr/>
        </p:nvSpPr>
        <p:spPr>
          <a:xfrm>
            <a:off x="3017520" y="2743200"/>
            <a:ext cx="1097280" cy="292608"/>
          </a:xfrm>
          <a:prstGeom prst="rect">
            <a:avLst/>
          </a:prstGeom>
          <a:noFill/>
        </p:spPr>
        <p:txBody>
          <a:bodyPr wrap="square">
            <a:spAutoFit/>
          </a:bodyPr>
          <a:lstStyle/>
          <a:p>
            <a:pPr algn="r">
              <a:defRPr sz="1100" b="0">
                <a:solidFill>
                  <a:srgbClr val="666666"/>
                </a:solidFill>
              </a:defRPr>
            </a:pPr>
            <a:r>
              <a:t>$146K-176K</a:t>
            </a:r>
          </a:p>
        </p:txBody>
      </p:sp>
      <p:sp>
        <p:nvSpPr>
          <p:cNvPr id="17" name="TextBox 16"/>
          <p:cNvSpPr txBox="1"/>
          <p:nvPr/>
        </p:nvSpPr>
        <p:spPr>
          <a:xfrm>
            <a:off x="4206240" y="2743200"/>
            <a:ext cx="1097280" cy="292608"/>
          </a:xfrm>
          <a:prstGeom prst="rect">
            <a:avLst/>
          </a:prstGeom>
          <a:noFill/>
        </p:spPr>
        <p:txBody>
          <a:bodyPr wrap="square">
            <a:spAutoFit/>
          </a:bodyPr>
          <a:lstStyle/>
          <a:p>
            <a:pPr algn="l">
              <a:defRPr sz="1100" b="0">
                <a:solidFill>
                  <a:srgbClr val="666666"/>
                </a:solidFill>
              </a:defRPr>
            </a:pPr>
            <a:r>
              <a:t>8-12 weeks</a:t>
            </a:r>
          </a:p>
        </p:txBody>
      </p:sp>
      <p:sp>
        <p:nvSpPr>
          <p:cNvPr id="18" name="TextBox 17"/>
          <p:cNvSpPr txBox="1"/>
          <p:nvPr/>
        </p:nvSpPr>
        <p:spPr>
          <a:xfrm>
            <a:off x="731520" y="3063239"/>
            <a:ext cx="2286000" cy="292608"/>
          </a:xfrm>
          <a:prstGeom prst="rect">
            <a:avLst/>
          </a:prstGeom>
          <a:noFill/>
        </p:spPr>
        <p:txBody>
          <a:bodyPr wrap="square">
            <a:spAutoFit/>
          </a:bodyPr>
          <a:lstStyle/>
          <a:p>
            <a:pPr algn="l">
              <a:defRPr sz="1100" b="0">
                <a:solidFill>
                  <a:srgbClr val="333333"/>
                </a:solidFill>
              </a:defRPr>
            </a:pPr>
            <a:r>
              <a:t>QA (Functional + Automation)</a:t>
            </a:r>
          </a:p>
        </p:txBody>
      </p:sp>
      <p:sp>
        <p:nvSpPr>
          <p:cNvPr id="19" name="TextBox 18"/>
          <p:cNvSpPr txBox="1"/>
          <p:nvPr/>
        </p:nvSpPr>
        <p:spPr>
          <a:xfrm>
            <a:off x="3017520" y="3063239"/>
            <a:ext cx="1097280" cy="292608"/>
          </a:xfrm>
          <a:prstGeom prst="rect">
            <a:avLst/>
          </a:prstGeom>
          <a:noFill/>
        </p:spPr>
        <p:txBody>
          <a:bodyPr wrap="square">
            <a:spAutoFit/>
          </a:bodyPr>
          <a:lstStyle/>
          <a:p>
            <a:pPr algn="r">
              <a:defRPr sz="1100" b="0">
                <a:solidFill>
                  <a:srgbClr val="666666"/>
                </a:solidFill>
              </a:defRPr>
            </a:pPr>
            <a:r>
              <a:t>$70K-92K</a:t>
            </a:r>
          </a:p>
        </p:txBody>
      </p:sp>
      <p:sp>
        <p:nvSpPr>
          <p:cNvPr id="20" name="TextBox 19"/>
          <p:cNvSpPr txBox="1"/>
          <p:nvPr/>
        </p:nvSpPr>
        <p:spPr>
          <a:xfrm>
            <a:off x="4206240" y="3063239"/>
            <a:ext cx="1097280" cy="292608"/>
          </a:xfrm>
          <a:prstGeom prst="rect">
            <a:avLst/>
          </a:prstGeom>
          <a:noFill/>
        </p:spPr>
        <p:txBody>
          <a:bodyPr wrap="square">
            <a:spAutoFit/>
          </a:bodyPr>
          <a:lstStyle/>
          <a:p>
            <a:pPr algn="l">
              <a:defRPr sz="1100" b="0">
                <a:solidFill>
                  <a:srgbClr val="666666"/>
                </a:solidFill>
              </a:defRPr>
            </a:pPr>
            <a:r>
              <a:t>4-6 weeks</a:t>
            </a:r>
          </a:p>
        </p:txBody>
      </p:sp>
      <p:sp>
        <p:nvSpPr>
          <p:cNvPr id="21" name="TextBox 20"/>
          <p:cNvSpPr txBox="1"/>
          <p:nvPr/>
        </p:nvSpPr>
        <p:spPr>
          <a:xfrm>
            <a:off x="731520" y="3383279"/>
            <a:ext cx="2286000" cy="292608"/>
          </a:xfrm>
          <a:prstGeom prst="rect">
            <a:avLst/>
          </a:prstGeom>
          <a:noFill/>
        </p:spPr>
        <p:txBody>
          <a:bodyPr wrap="square">
            <a:spAutoFit/>
          </a:bodyPr>
          <a:lstStyle/>
          <a:p>
            <a:pPr algn="l">
              <a:defRPr sz="1100" b="0">
                <a:solidFill>
                  <a:srgbClr val="333333"/>
                </a:solidFill>
              </a:defRPr>
            </a:pPr>
            <a:r>
              <a:t>DevOps / Launch</a:t>
            </a:r>
          </a:p>
        </p:txBody>
      </p:sp>
      <p:sp>
        <p:nvSpPr>
          <p:cNvPr id="22" name="TextBox 21"/>
          <p:cNvSpPr txBox="1"/>
          <p:nvPr/>
        </p:nvSpPr>
        <p:spPr>
          <a:xfrm>
            <a:off x="3017520" y="3383279"/>
            <a:ext cx="1097280" cy="292608"/>
          </a:xfrm>
          <a:prstGeom prst="rect">
            <a:avLst/>
          </a:prstGeom>
          <a:noFill/>
        </p:spPr>
        <p:txBody>
          <a:bodyPr wrap="square">
            <a:spAutoFit/>
          </a:bodyPr>
          <a:lstStyle/>
          <a:p>
            <a:pPr algn="r">
              <a:defRPr sz="1100" b="0">
                <a:solidFill>
                  <a:srgbClr val="666666"/>
                </a:solidFill>
              </a:defRPr>
            </a:pPr>
            <a:r>
              <a:t>$29K-35K</a:t>
            </a:r>
          </a:p>
        </p:txBody>
      </p:sp>
      <p:sp>
        <p:nvSpPr>
          <p:cNvPr id="23" name="TextBox 22"/>
          <p:cNvSpPr txBox="1"/>
          <p:nvPr/>
        </p:nvSpPr>
        <p:spPr>
          <a:xfrm>
            <a:off x="4206240" y="3383279"/>
            <a:ext cx="1097280" cy="292608"/>
          </a:xfrm>
          <a:prstGeom prst="rect">
            <a:avLst/>
          </a:prstGeom>
          <a:noFill/>
        </p:spPr>
        <p:txBody>
          <a:bodyPr wrap="square">
            <a:spAutoFit/>
          </a:bodyPr>
          <a:lstStyle/>
          <a:p>
            <a:pPr algn="l">
              <a:defRPr sz="1100" b="0">
                <a:solidFill>
                  <a:srgbClr val="666666"/>
                </a:solidFill>
              </a:defRPr>
            </a:pPr>
            <a:r>
              <a:t>2-4 weeks</a:t>
            </a:r>
          </a:p>
        </p:txBody>
      </p:sp>
      <p:sp>
        <p:nvSpPr>
          <p:cNvPr id="24" name="TextBox 23"/>
          <p:cNvSpPr txBox="1"/>
          <p:nvPr/>
        </p:nvSpPr>
        <p:spPr>
          <a:xfrm>
            <a:off x="731520" y="3703320"/>
            <a:ext cx="2286000" cy="292608"/>
          </a:xfrm>
          <a:prstGeom prst="rect">
            <a:avLst/>
          </a:prstGeom>
          <a:noFill/>
        </p:spPr>
        <p:txBody>
          <a:bodyPr wrap="square">
            <a:spAutoFit/>
          </a:bodyPr>
          <a:lstStyle/>
          <a:p>
            <a:pPr algn="l">
              <a:defRPr sz="1100" b="0">
                <a:solidFill>
                  <a:srgbClr val="333333"/>
                </a:solidFill>
              </a:defRPr>
            </a:pPr>
            <a:r>
              <a:t>DM + BA Oversight</a:t>
            </a:r>
          </a:p>
        </p:txBody>
      </p:sp>
      <p:sp>
        <p:nvSpPr>
          <p:cNvPr id="25" name="TextBox 24"/>
          <p:cNvSpPr txBox="1"/>
          <p:nvPr/>
        </p:nvSpPr>
        <p:spPr>
          <a:xfrm>
            <a:off x="3017520" y="3703320"/>
            <a:ext cx="1097280" cy="292608"/>
          </a:xfrm>
          <a:prstGeom prst="rect">
            <a:avLst/>
          </a:prstGeom>
          <a:noFill/>
        </p:spPr>
        <p:txBody>
          <a:bodyPr wrap="square">
            <a:spAutoFit/>
          </a:bodyPr>
          <a:lstStyle/>
          <a:p>
            <a:pPr algn="r">
              <a:defRPr sz="1100" b="0">
                <a:solidFill>
                  <a:srgbClr val="666666"/>
                </a:solidFill>
              </a:defRPr>
            </a:pPr>
            <a:r>
              <a:t>$243K-365K</a:t>
            </a:r>
          </a:p>
        </p:txBody>
      </p:sp>
      <p:sp>
        <p:nvSpPr>
          <p:cNvPr id="26" name="TextBox 25"/>
          <p:cNvSpPr txBox="1"/>
          <p:nvPr/>
        </p:nvSpPr>
        <p:spPr>
          <a:xfrm>
            <a:off x="4206240" y="3703320"/>
            <a:ext cx="1097280" cy="292608"/>
          </a:xfrm>
          <a:prstGeom prst="rect">
            <a:avLst/>
          </a:prstGeom>
          <a:noFill/>
        </p:spPr>
        <p:txBody>
          <a:bodyPr wrap="square">
            <a:spAutoFit/>
          </a:bodyPr>
          <a:lstStyle/>
          <a:p>
            <a:pPr algn="l">
              <a:defRPr sz="1100" b="0">
                <a:solidFill>
                  <a:srgbClr val="666666"/>
                </a:solidFill>
              </a:defRPr>
            </a:pPr>
            <a:r>
              <a:t>Full duration</a:t>
            </a:r>
          </a:p>
        </p:txBody>
      </p:sp>
      <p:sp>
        <p:nvSpPr>
          <p:cNvPr id="27" name="Rectangle 26"/>
          <p:cNvSpPr/>
          <p:nvPr/>
        </p:nvSpPr>
        <p:spPr>
          <a:xfrm>
            <a:off x="731520" y="4069080"/>
            <a:ext cx="4572000" cy="365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4087368"/>
            <a:ext cx="2286000" cy="320040"/>
          </a:xfrm>
          <a:prstGeom prst="rect">
            <a:avLst/>
          </a:prstGeom>
          <a:noFill/>
        </p:spPr>
        <p:txBody>
          <a:bodyPr wrap="square">
            <a:spAutoFit/>
          </a:bodyPr>
          <a:lstStyle/>
          <a:p>
            <a:pPr algn="l">
              <a:defRPr sz="1300" b="1">
                <a:solidFill>
                  <a:srgbClr val="333333"/>
                </a:solidFill>
              </a:defRPr>
            </a:pPr>
            <a:r>
              <a:t>Traditional Total:</a:t>
            </a:r>
          </a:p>
        </p:txBody>
      </p:sp>
      <p:sp>
        <p:nvSpPr>
          <p:cNvPr id="29" name="TextBox 28"/>
          <p:cNvSpPr txBox="1"/>
          <p:nvPr/>
        </p:nvSpPr>
        <p:spPr>
          <a:xfrm>
            <a:off x="3017520" y="4087368"/>
            <a:ext cx="1097280" cy="320040"/>
          </a:xfrm>
          <a:prstGeom prst="rect">
            <a:avLst/>
          </a:prstGeom>
          <a:noFill/>
        </p:spPr>
        <p:txBody>
          <a:bodyPr wrap="square">
            <a:spAutoFit/>
          </a:bodyPr>
          <a:lstStyle/>
          <a:p>
            <a:pPr algn="r">
              <a:defRPr sz="1300" b="1">
                <a:solidFill>
                  <a:srgbClr val="333333"/>
                </a:solidFill>
              </a:defRPr>
            </a:pPr>
            <a:r>
              <a:t>$663K-890K</a:t>
            </a:r>
          </a:p>
        </p:txBody>
      </p:sp>
      <p:sp>
        <p:nvSpPr>
          <p:cNvPr id="30" name="TextBox 29"/>
          <p:cNvSpPr txBox="1"/>
          <p:nvPr/>
        </p:nvSpPr>
        <p:spPr>
          <a:xfrm>
            <a:off x="4206240" y="4087368"/>
            <a:ext cx="1097280" cy="320040"/>
          </a:xfrm>
          <a:prstGeom prst="rect">
            <a:avLst/>
          </a:prstGeom>
          <a:noFill/>
        </p:spPr>
        <p:txBody>
          <a:bodyPr wrap="square">
            <a:spAutoFit/>
          </a:bodyPr>
          <a:lstStyle/>
          <a:p>
            <a:pPr algn="l">
              <a:defRPr sz="1300" b="1">
                <a:solidFill>
                  <a:srgbClr val="333333"/>
                </a:solidFill>
              </a:defRPr>
            </a:pPr>
            <a:r>
              <a:t>6-9 months</a:t>
            </a:r>
          </a:p>
        </p:txBody>
      </p:sp>
      <p:sp>
        <p:nvSpPr>
          <p:cNvPr id="31" name="TextBox 30"/>
          <p:cNvSpPr txBox="1"/>
          <p:nvPr/>
        </p:nvSpPr>
        <p:spPr>
          <a:xfrm>
            <a:off x="731520" y="4663440"/>
            <a:ext cx="5029200" cy="320040"/>
          </a:xfrm>
          <a:prstGeom prst="rect">
            <a:avLst/>
          </a:prstGeom>
          <a:noFill/>
        </p:spPr>
        <p:txBody>
          <a:bodyPr wrap="square">
            <a:spAutoFit/>
          </a:bodyPr>
          <a:lstStyle/>
          <a:p>
            <a:pPr algn="l">
              <a:defRPr sz="1400" b="1">
                <a:solidFill>
                  <a:srgbClr val="D52B1E"/>
                </a:solidFill>
              </a:defRPr>
            </a:pPr>
            <a:r>
              <a:t>EPAM EliteA Agentic AI SDLC</a:t>
            </a:r>
          </a:p>
        </p:txBody>
      </p:sp>
      <p:sp>
        <p:nvSpPr>
          <p:cNvPr id="32" name="TextBox 31"/>
          <p:cNvSpPr txBox="1"/>
          <p:nvPr/>
        </p:nvSpPr>
        <p:spPr>
          <a:xfrm>
            <a:off x="731520" y="5029200"/>
            <a:ext cx="2286000" cy="274320"/>
          </a:xfrm>
          <a:prstGeom prst="rect">
            <a:avLst/>
          </a:prstGeom>
          <a:noFill/>
        </p:spPr>
        <p:txBody>
          <a:bodyPr wrap="square">
            <a:spAutoFit/>
          </a:bodyPr>
          <a:lstStyle/>
          <a:p>
            <a:pPr algn="l">
              <a:defRPr sz="1100" b="0">
                <a:solidFill>
                  <a:srgbClr val="333333"/>
                </a:solidFill>
              </a:defRPr>
            </a:pPr>
            <a:r>
              <a:t>Onshore (DM + BA + SA)</a:t>
            </a:r>
          </a:p>
        </p:txBody>
      </p:sp>
      <p:sp>
        <p:nvSpPr>
          <p:cNvPr id="33" name="TextBox 32"/>
          <p:cNvSpPr txBox="1"/>
          <p:nvPr/>
        </p:nvSpPr>
        <p:spPr>
          <a:xfrm>
            <a:off x="3017520" y="5029200"/>
            <a:ext cx="1097280" cy="274320"/>
          </a:xfrm>
          <a:prstGeom prst="rect">
            <a:avLst/>
          </a:prstGeom>
          <a:noFill/>
        </p:spPr>
        <p:txBody>
          <a:bodyPr wrap="square">
            <a:spAutoFit/>
          </a:bodyPr>
          <a:lstStyle/>
          <a:p>
            <a:pPr algn="r">
              <a:defRPr sz="1100" b="0">
                <a:solidFill>
                  <a:srgbClr val="2E7D32"/>
                </a:solidFill>
              </a:defRPr>
            </a:pPr>
            <a:r>
              <a:t>$192K</a:t>
            </a:r>
          </a:p>
        </p:txBody>
      </p:sp>
      <p:sp>
        <p:nvSpPr>
          <p:cNvPr id="34" name="TextBox 33"/>
          <p:cNvSpPr txBox="1"/>
          <p:nvPr/>
        </p:nvSpPr>
        <p:spPr>
          <a:xfrm>
            <a:off x="4206240" y="5029200"/>
            <a:ext cx="1097280" cy="274320"/>
          </a:xfrm>
          <a:prstGeom prst="rect">
            <a:avLst/>
          </a:prstGeom>
          <a:noFill/>
        </p:spPr>
        <p:txBody>
          <a:bodyPr wrap="square">
            <a:spAutoFit/>
          </a:bodyPr>
          <a:lstStyle/>
          <a:p>
            <a:pPr algn="l">
              <a:defRPr sz="1100" b="0">
                <a:solidFill>
                  <a:srgbClr val="2E7D32"/>
                </a:solidFill>
              </a:defRPr>
            </a:pPr>
            <a:r>
              <a:t>Full / partial</a:t>
            </a:r>
          </a:p>
        </p:txBody>
      </p:sp>
      <p:sp>
        <p:nvSpPr>
          <p:cNvPr id="35" name="TextBox 34"/>
          <p:cNvSpPr txBox="1"/>
          <p:nvPr/>
        </p:nvSpPr>
        <p:spPr>
          <a:xfrm>
            <a:off x="731520" y="5321808"/>
            <a:ext cx="2286000" cy="274320"/>
          </a:xfrm>
          <a:prstGeom prst="rect">
            <a:avLst/>
          </a:prstGeom>
          <a:noFill/>
        </p:spPr>
        <p:txBody>
          <a:bodyPr wrap="square">
            <a:spAutoFit/>
          </a:bodyPr>
          <a:lstStyle/>
          <a:p>
            <a:pPr algn="l">
              <a:defRPr sz="1100" b="0">
                <a:solidFill>
                  <a:srgbClr val="333333"/>
                </a:solidFill>
              </a:defRPr>
            </a:pPr>
            <a:r>
              <a:t>Offshore Engineers (2)</a:t>
            </a:r>
          </a:p>
        </p:txBody>
      </p:sp>
      <p:sp>
        <p:nvSpPr>
          <p:cNvPr id="36" name="TextBox 35"/>
          <p:cNvSpPr txBox="1"/>
          <p:nvPr/>
        </p:nvSpPr>
        <p:spPr>
          <a:xfrm>
            <a:off x="3017520" y="5321808"/>
            <a:ext cx="1097280" cy="274320"/>
          </a:xfrm>
          <a:prstGeom prst="rect">
            <a:avLst/>
          </a:prstGeom>
          <a:noFill/>
        </p:spPr>
        <p:txBody>
          <a:bodyPr wrap="square">
            <a:spAutoFit/>
          </a:bodyPr>
          <a:lstStyle/>
          <a:p>
            <a:pPr algn="r">
              <a:defRPr sz="1100" b="0">
                <a:solidFill>
                  <a:srgbClr val="2E7D32"/>
                </a:solidFill>
              </a:defRPr>
            </a:pPr>
            <a:r>
              <a:t>$64K</a:t>
            </a:r>
          </a:p>
        </p:txBody>
      </p:sp>
      <p:sp>
        <p:nvSpPr>
          <p:cNvPr id="37" name="TextBox 36"/>
          <p:cNvSpPr txBox="1"/>
          <p:nvPr/>
        </p:nvSpPr>
        <p:spPr>
          <a:xfrm>
            <a:off x="4206240" y="5321808"/>
            <a:ext cx="1097280" cy="274320"/>
          </a:xfrm>
          <a:prstGeom prst="rect">
            <a:avLst/>
          </a:prstGeom>
          <a:noFill/>
        </p:spPr>
        <p:txBody>
          <a:bodyPr wrap="square">
            <a:spAutoFit/>
          </a:bodyPr>
          <a:lstStyle/>
          <a:p>
            <a:pPr algn="l">
              <a:defRPr sz="1100" b="0">
                <a:solidFill>
                  <a:srgbClr val="2E7D32"/>
                </a:solidFill>
              </a:defRPr>
            </a:pPr>
            <a:r>
              <a:t>10-12 weeks</a:t>
            </a:r>
          </a:p>
        </p:txBody>
      </p:sp>
      <p:sp>
        <p:nvSpPr>
          <p:cNvPr id="38" name="TextBox 37"/>
          <p:cNvSpPr txBox="1"/>
          <p:nvPr/>
        </p:nvSpPr>
        <p:spPr>
          <a:xfrm>
            <a:off x="731520" y="5614416"/>
            <a:ext cx="2286000" cy="274320"/>
          </a:xfrm>
          <a:prstGeom prst="rect">
            <a:avLst/>
          </a:prstGeom>
          <a:noFill/>
        </p:spPr>
        <p:txBody>
          <a:bodyPr wrap="square">
            <a:spAutoFit/>
          </a:bodyPr>
          <a:lstStyle/>
          <a:p>
            <a:pPr algn="l">
              <a:defRPr sz="1100" b="0">
                <a:solidFill>
                  <a:srgbClr val="333333"/>
                </a:solidFill>
              </a:defRPr>
            </a:pPr>
            <a:r>
              <a:t>AI Agent Compute</a:t>
            </a:r>
          </a:p>
        </p:txBody>
      </p:sp>
      <p:sp>
        <p:nvSpPr>
          <p:cNvPr id="39" name="TextBox 38"/>
          <p:cNvSpPr txBox="1"/>
          <p:nvPr/>
        </p:nvSpPr>
        <p:spPr>
          <a:xfrm>
            <a:off x="3017520" y="5614416"/>
            <a:ext cx="1097280" cy="274320"/>
          </a:xfrm>
          <a:prstGeom prst="rect">
            <a:avLst/>
          </a:prstGeom>
          <a:noFill/>
        </p:spPr>
        <p:txBody>
          <a:bodyPr wrap="square">
            <a:spAutoFit/>
          </a:bodyPr>
          <a:lstStyle/>
          <a:p>
            <a:pPr algn="r">
              <a:defRPr sz="1100" b="0">
                <a:solidFill>
                  <a:srgbClr val="2E7D32"/>
                </a:solidFill>
              </a:defRPr>
            </a:pPr>
            <a:r>
              <a:t>$65K</a:t>
            </a:r>
          </a:p>
        </p:txBody>
      </p:sp>
      <p:sp>
        <p:nvSpPr>
          <p:cNvPr id="40" name="TextBox 39"/>
          <p:cNvSpPr txBox="1"/>
          <p:nvPr/>
        </p:nvSpPr>
        <p:spPr>
          <a:xfrm>
            <a:off x="4206240" y="5614416"/>
            <a:ext cx="1097280" cy="274320"/>
          </a:xfrm>
          <a:prstGeom prst="rect">
            <a:avLst/>
          </a:prstGeom>
          <a:noFill/>
        </p:spPr>
        <p:txBody>
          <a:bodyPr wrap="square">
            <a:spAutoFit/>
          </a:bodyPr>
          <a:lstStyle/>
          <a:p>
            <a:pPr algn="l">
              <a:defRPr sz="1100" b="0">
                <a:solidFill>
                  <a:srgbClr val="2E7D32"/>
                </a:solidFill>
              </a:defRPr>
            </a:pPr>
            <a:r>
              <a:t>4-6 weeks</a:t>
            </a:r>
          </a:p>
        </p:txBody>
      </p:sp>
      <p:sp>
        <p:nvSpPr>
          <p:cNvPr id="41" name="TextBox 40"/>
          <p:cNvSpPr txBox="1"/>
          <p:nvPr/>
        </p:nvSpPr>
        <p:spPr>
          <a:xfrm>
            <a:off x="731520" y="5907024"/>
            <a:ext cx="2286000" cy="274320"/>
          </a:xfrm>
          <a:prstGeom prst="rect">
            <a:avLst/>
          </a:prstGeom>
          <a:noFill/>
        </p:spPr>
        <p:txBody>
          <a:bodyPr wrap="square">
            <a:spAutoFit/>
          </a:bodyPr>
          <a:lstStyle/>
          <a:p>
            <a:pPr algn="l">
              <a:defRPr sz="1100" b="0">
                <a:solidFill>
                  <a:srgbClr val="333333"/>
                </a:solidFill>
              </a:defRPr>
            </a:pPr>
            <a:r>
              <a:t>Human QA + DevOps</a:t>
            </a:r>
          </a:p>
        </p:txBody>
      </p:sp>
      <p:sp>
        <p:nvSpPr>
          <p:cNvPr id="42" name="TextBox 41"/>
          <p:cNvSpPr txBox="1"/>
          <p:nvPr/>
        </p:nvSpPr>
        <p:spPr>
          <a:xfrm>
            <a:off x="3017520" y="5907024"/>
            <a:ext cx="1097280" cy="274320"/>
          </a:xfrm>
          <a:prstGeom prst="rect">
            <a:avLst/>
          </a:prstGeom>
          <a:noFill/>
        </p:spPr>
        <p:txBody>
          <a:bodyPr wrap="square">
            <a:spAutoFit/>
          </a:bodyPr>
          <a:lstStyle/>
          <a:p>
            <a:pPr algn="r">
              <a:defRPr sz="1100" b="0">
                <a:solidFill>
                  <a:srgbClr val="2E7D32"/>
                </a:solidFill>
              </a:defRPr>
            </a:pPr>
            <a:r>
              <a:t>$23K</a:t>
            </a:r>
          </a:p>
        </p:txBody>
      </p:sp>
      <p:sp>
        <p:nvSpPr>
          <p:cNvPr id="43" name="TextBox 42"/>
          <p:cNvSpPr txBox="1"/>
          <p:nvPr/>
        </p:nvSpPr>
        <p:spPr>
          <a:xfrm>
            <a:off x="4206240" y="5907024"/>
            <a:ext cx="1097280" cy="274320"/>
          </a:xfrm>
          <a:prstGeom prst="rect">
            <a:avLst/>
          </a:prstGeom>
          <a:noFill/>
        </p:spPr>
        <p:txBody>
          <a:bodyPr wrap="square">
            <a:spAutoFit/>
          </a:bodyPr>
          <a:lstStyle/>
          <a:p>
            <a:pPr algn="l">
              <a:defRPr sz="1100" b="0">
                <a:solidFill>
                  <a:srgbClr val="2E7D32"/>
                </a:solidFill>
              </a:defRPr>
            </a:pPr>
            <a:r>
              <a:t>3-5 weeks</a:t>
            </a:r>
          </a:p>
        </p:txBody>
      </p:sp>
      <p:sp>
        <p:nvSpPr>
          <p:cNvPr id="44" name="Rectangle 43"/>
          <p:cNvSpPr/>
          <p:nvPr/>
        </p:nvSpPr>
        <p:spPr>
          <a:xfrm>
            <a:off x="731520" y="6217920"/>
            <a:ext cx="4572000" cy="36576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31520" y="6236208"/>
            <a:ext cx="2286000" cy="320040"/>
          </a:xfrm>
          <a:prstGeom prst="rect">
            <a:avLst/>
          </a:prstGeom>
          <a:noFill/>
        </p:spPr>
        <p:txBody>
          <a:bodyPr wrap="square">
            <a:spAutoFit/>
          </a:bodyPr>
          <a:lstStyle/>
          <a:p>
            <a:pPr algn="l">
              <a:defRPr sz="1300" b="1">
                <a:solidFill>
                  <a:srgbClr val="FFFFFF"/>
                </a:solidFill>
              </a:defRPr>
            </a:pPr>
            <a:r>
              <a:t>EliteA Total:</a:t>
            </a:r>
          </a:p>
        </p:txBody>
      </p:sp>
      <p:sp>
        <p:nvSpPr>
          <p:cNvPr id="46" name="TextBox 45"/>
          <p:cNvSpPr txBox="1"/>
          <p:nvPr/>
        </p:nvSpPr>
        <p:spPr>
          <a:xfrm>
            <a:off x="3017520" y="6236208"/>
            <a:ext cx="1097280" cy="320040"/>
          </a:xfrm>
          <a:prstGeom prst="rect">
            <a:avLst/>
          </a:prstGeom>
          <a:noFill/>
        </p:spPr>
        <p:txBody>
          <a:bodyPr wrap="square">
            <a:spAutoFit/>
          </a:bodyPr>
          <a:lstStyle/>
          <a:p>
            <a:pPr algn="r">
              <a:defRPr sz="1300" b="1">
                <a:solidFill>
                  <a:srgbClr val="FFFFFF"/>
                </a:solidFill>
              </a:defRPr>
            </a:pPr>
            <a:r>
              <a:t>$344K</a:t>
            </a:r>
          </a:p>
        </p:txBody>
      </p:sp>
      <p:sp>
        <p:nvSpPr>
          <p:cNvPr id="47" name="TextBox 46"/>
          <p:cNvSpPr txBox="1"/>
          <p:nvPr/>
        </p:nvSpPr>
        <p:spPr>
          <a:xfrm>
            <a:off x="4206240" y="6236208"/>
            <a:ext cx="1097280" cy="320040"/>
          </a:xfrm>
          <a:prstGeom prst="rect">
            <a:avLst/>
          </a:prstGeom>
          <a:noFill/>
        </p:spPr>
        <p:txBody>
          <a:bodyPr wrap="square">
            <a:spAutoFit/>
          </a:bodyPr>
          <a:lstStyle/>
          <a:p>
            <a:pPr algn="l">
              <a:defRPr sz="1300" b="1">
                <a:solidFill>
                  <a:srgbClr val="FFFFFF"/>
                </a:solidFill>
              </a:defRPr>
            </a:pPr>
            <a:r>
              <a:t>8-15 weeks</a:t>
            </a:r>
          </a:p>
        </p:txBody>
      </p:sp>
      <p:sp>
        <p:nvSpPr>
          <p:cNvPr id="48" name="TextBox 47"/>
          <p:cNvSpPr txBox="1"/>
          <p:nvPr/>
        </p:nvSpPr>
        <p:spPr>
          <a:xfrm>
            <a:off x="6400800" y="1188720"/>
            <a:ext cx="5029200" cy="457200"/>
          </a:xfrm>
          <a:prstGeom prst="rect">
            <a:avLst/>
          </a:prstGeom>
          <a:noFill/>
        </p:spPr>
        <p:txBody>
          <a:bodyPr wrap="square">
            <a:spAutoFit/>
          </a:bodyPr>
          <a:lstStyle/>
          <a:p>
            <a:pPr algn="l">
              <a:defRPr sz="1800" b="1">
                <a:solidFill>
                  <a:srgbClr val="333333"/>
                </a:solidFill>
              </a:defRPr>
            </a:pPr>
            <a:r>
              <a:t>ROI Analysis — Moderate Scenario (CAD)</a:t>
            </a:r>
          </a:p>
        </p:txBody>
      </p:sp>
      <p:sp>
        <p:nvSpPr>
          <p:cNvPr id="49" name="TextBox 48"/>
          <p:cNvSpPr txBox="1"/>
          <p:nvPr/>
        </p:nvSpPr>
        <p:spPr>
          <a:xfrm>
            <a:off x="6400800" y="1828800"/>
            <a:ext cx="3200400" cy="320040"/>
          </a:xfrm>
          <a:prstGeom prst="rect">
            <a:avLst/>
          </a:prstGeom>
          <a:noFill/>
        </p:spPr>
        <p:txBody>
          <a:bodyPr wrap="square">
            <a:spAutoFit/>
          </a:bodyPr>
          <a:lstStyle/>
          <a:p>
            <a:pPr algn="l">
              <a:defRPr sz="1400" b="0">
                <a:solidFill>
                  <a:srgbClr val="333333"/>
                </a:solidFill>
              </a:defRPr>
            </a:pPr>
            <a:r>
              <a:t>Year 1 Incremental Revenue</a:t>
            </a:r>
          </a:p>
        </p:txBody>
      </p:sp>
      <p:sp>
        <p:nvSpPr>
          <p:cNvPr id="50" name="TextBox 49"/>
          <p:cNvSpPr txBox="1"/>
          <p:nvPr/>
        </p:nvSpPr>
        <p:spPr>
          <a:xfrm>
            <a:off x="9601200" y="1828800"/>
            <a:ext cx="2103120" cy="365760"/>
          </a:xfrm>
          <a:prstGeom prst="rect">
            <a:avLst/>
          </a:prstGeom>
          <a:noFill/>
        </p:spPr>
        <p:txBody>
          <a:bodyPr wrap="square">
            <a:spAutoFit/>
          </a:bodyPr>
          <a:lstStyle/>
          <a:p>
            <a:pPr algn="r">
              <a:defRPr sz="1600" b="0">
                <a:solidFill>
                  <a:srgbClr val="333333"/>
                </a:solidFill>
              </a:defRPr>
            </a:pPr>
            <a:r>
              <a:t>$189.5M CAD</a:t>
            </a:r>
          </a:p>
        </p:txBody>
      </p:sp>
      <p:sp>
        <p:nvSpPr>
          <p:cNvPr id="51" name="TextBox 50"/>
          <p:cNvSpPr txBox="1"/>
          <p:nvPr/>
        </p:nvSpPr>
        <p:spPr>
          <a:xfrm>
            <a:off x="6400800" y="2468880"/>
            <a:ext cx="3200400" cy="320040"/>
          </a:xfrm>
          <a:prstGeom prst="rect">
            <a:avLst/>
          </a:prstGeom>
          <a:noFill/>
        </p:spPr>
        <p:txBody>
          <a:bodyPr wrap="square">
            <a:spAutoFit/>
          </a:bodyPr>
          <a:lstStyle/>
          <a:p>
            <a:pPr algn="l">
              <a:defRPr sz="1400" b="0">
                <a:solidFill>
                  <a:srgbClr val="333333"/>
                </a:solidFill>
              </a:defRPr>
            </a:pPr>
            <a:r>
              <a:t>Blended Gross Margin</a:t>
            </a:r>
          </a:p>
        </p:txBody>
      </p:sp>
      <p:sp>
        <p:nvSpPr>
          <p:cNvPr id="52" name="TextBox 51"/>
          <p:cNvSpPr txBox="1"/>
          <p:nvPr/>
        </p:nvSpPr>
        <p:spPr>
          <a:xfrm>
            <a:off x="9601200" y="2468880"/>
            <a:ext cx="2103120" cy="365760"/>
          </a:xfrm>
          <a:prstGeom prst="rect">
            <a:avLst/>
          </a:prstGeom>
          <a:noFill/>
        </p:spPr>
        <p:txBody>
          <a:bodyPr wrap="square">
            <a:spAutoFit/>
          </a:bodyPr>
          <a:lstStyle/>
          <a:p>
            <a:pPr algn="r">
              <a:defRPr sz="1600" b="0">
                <a:solidFill>
                  <a:srgbClr val="333333"/>
                </a:solidFill>
              </a:defRPr>
            </a:pPr>
            <a:r>
              <a:t>~35%</a:t>
            </a:r>
          </a:p>
        </p:txBody>
      </p:sp>
      <p:sp>
        <p:nvSpPr>
          <p:cNvPr id="53" name="TextBox 52"/>
          <p:cNvSpPr txBox="1"/>
          <p:nvPr/>
        </p:nvSpPr>
        <p:spPr>
          <a:xfrm>
            <a:off x="6400800" y="3108960"/>
            <a:ext cx="3200400" cy="320040"/>
          </a:xfrm>
          <a:prstGeom prst="rect">
            <a:avLst/>
          </a:prstGeom>
          <a:noFill/>
        </p:spPr>
        <p:txBody>
          <a:bodyPr wrap="square">
            <a:spAutoFit/>
          </a:bodyPr>
          <a:lstStyle/>
          <a:p>
            <a:pPr algn="l">
              <a:defRPr sz="1400" b="0">
                <a:solidFill>
                  <a:srgbClr val="333333"/>
                </a:solidFill>
              </a:defRPr>
            </a:pPr>
            <a:r>
              <a:t>Year 1 Gross Profit</a:t>
            </a:r>
          </a:p>
        </p:txBody>
      </p:sp>
      <p:sp>
        <p:nvSpPr>
          <p:cNvPr id="54" name="TextBox 53"/>
          <p:cNvSpPr txBox="1"/>
          <p:nvPr/>
        </p:nvSpPr>
        <p:spPr>
          <a:xfrm>
            <a:off x="9601200" y="3108960"/>
            <a:ext cx="2103120" cy="365760"/>
          </a:xfrm>
          <a:prstGeom prst="rect">
            <a:avLst/>
          </a:prstGeom>
          <a:noFill/>
        </p:spPr>
        <p:txBody>
          <a:bodyPr wrap="square">
            <a:spAutoFit/>
          </a:bodyPr>
          <a:lstStyle/>
          <a:p>
            <a:pPr algn="r">
              <a:defRPr sz="1600" b="0">
                <a:solidFill>
                  <a:srgbClr val="333333"/>
                </a:solidFill>
              </a:defRPr>
            </a:pPr>
            <a:r>
              <a:t>$66.3M CAD</a:t>
            </a:r>
          </a:p>
        </p:txBody>
      </p:sp>
      <p:sp>
        <p:nvSpPr>
          <p:cNvPr id="55" name="TextBox 54"/>
          <p:cNvSpPr txBox="1"/>
          <p:nvPr/>
        </p:nvSpPr>
        <p:spPr>
          <a:xfrm>
            <a:off x="6400800" y="3749039"/>
            <a:ext cx="3200400" cy="320040"/>
          </a:xfrm>
          <a:prstGeom prst="rect">
            <a:avLst/>
          </a:prstGeom>
          <a:noFill/>
        </p:spPr>
        <p:txBody>
          <a:bodyPr wrap="square">
            <a:spAutoFit/>
          </a:bodyPr>
          <a:lstStyle/>
          <a:p>
            <a:pPr algn="l">
              <a:defRPr sz="1400" b="0">
                <a:solidFill>
                  <a:srgbClr val="333333"/>
                </a:solidFill>
              </a:defRPr>
            </a:pPr>
            <a:r>
              <a:t>EliteA Build Investment</a:t>
            </a:r>
          </a:p>
        </p:txBody>
      </p:sp>
      <p:sp>
        <p:nvSpPr>
          <p:cNvPr id="56" name="TextBox 55"/>
          <p:cNvSpPr txBox="1"/>
          <p:nvPr/>
        </p:nvSpPr>
        <p:spPr>
          <a:xfrm>
            <a:off x="9601200" y="3749039"/>
            <a:ext cx="2103120" cy="365760"/>
          </a:xfrm>
          <a:prstGeom prst="rect">
            <a:avLst/>
          </a:prstGeom>
          <a:noFill/>
        </p:spPr>
        <p:txBody>
          <a:bodyPr wrap="square">
            <a:spAutoFit/>
          </a:bodyPr>
          <a:lstStyle/>
          <a:p>
            <a:pPr algn="r">
              <a:defRPr sz="1600" b="0">
                <a:solidFill>
                  <a:srgbClr val="333333"/>
                </a:solidFill>
              </a:defRPr>
            </a:pPr>
            <a:r>
              <a:t>$344K CAD</a:t>
            </a:r>
          </a:p>
        </p:txBody>
      </p:sp>
      <p:sp>
        <p:nvSpPr>
          <p:cNvPr id="57" name="TextBox 56"/>
          <p:cNvSpPr txBox="1"/>
          <p:nvPr/>
        </p:nvSpPr>
        <p:spPr>
          <a:xfrm>
            <a:off x="6400800" y="4389120"/>
            <a:ext cx="3200400" cy="320040"/>
          </a:xfrm>
          <a:prstGeom prst="rect">
            <a:avLst/>
          </a:prstGeom>
          <a:noFill/>
        </p:spPr>
        <p:txBody>
          <a:bodyPr wrap="square">
            <a:spAutoFit/>
          </a:bodyPr>
          <a:lstStyle/>
          <a:p>
            <a:pPr algn="l">
              <a:defRPr sz="1400" b="0">
                <a:solidFill>
                  <a:srgbClr val="333333"/>
                </a:solidFill>
              </a:defRPr>
            </a:pPr>
            <a:r>
              <a:t>Payback Period</a:t>
            </a:r>
          </a:p>
        </p:txBody>
      </p:sp>
      <p:sp>
        <p:nvSpPr>
          <p:cNvPr id="58" name="TextBox 57"/>
          <p:cNvSpPr txBox="1"/>
          <p:nvPr/>
        </p:nvSpPr>
        <p:spPr>
          <a:xfrm>
            <a:off x="9601200" y="4389120"/>
            <a:ext cx="2103120" cy="365760"/>
          </a:xfrm>
          <a:prstGeom prst="rect">
            <a:avLst/>
          </a:prstGeom>
          <a:noFill/>
        </p:spPr>
        <p:txBody>
          <a:bodyPr wrap="square">
            <a:spAutoFit/>
          </a:bodyPr>
          <a:lstStyle/>
          <a:p>
            <a:pPr algn="r">
              <a:defRPr sz="2000" b="1">
                <a:solidFill>
                  <a:srgbClr val="D52B1E"/>
                </a:solidFill>
              </a:defRPr>
            </a:pPr>
            <a:r>
              <a:t>&lt; 1 day</a:t>
            </a:r>
          </a:p>
        </p:txBody>
      </p:sp>
      <p:sp>
        <p:nvSpPr>
          <p:cNvPr id="59" name="TextBox 58"/>
          <p:cNvSpPr txBox="1"/>
          <p:nvPr/>
        </p:nvSpPr>
        <p:spPr>
          <a:xfrm>
            <a:off x="6400800" y="5029200"/>
            <a:ext cx="3200400" cy="320040"/>
          </a:xfrm>
          <a:prstGeom prst="rect">
            <a:avLst/>
          </a:prstGeom>
          <a:noFill/>
        </p:spPr>
        <p:txBody>
          <a:bodyPr wrap="square">
            <a:spAutoFit/>
          </a:bodyPr>
          <a:lstStyle/>
          <a:p>
            <a:pPr algn="l">
              <a:defRPr sz="1400" b="0">
                <a:solidFill>
                  <a:srgbClr val="333333"/>
                </a:solidFill>
              </a:defRPr>
            </a:pPr>
            <a:r>
              <a:t>Year 1 ROI</a:t>
            </a:r>
          </a:p>
        </p:txBody>
      </p:sp>
      <p:sp>
        <p:nvSpPr>
          <p:cNvPr id="60" name="TextBox 59"/>
          <p:cNvSpPr txBox="1"/>
          <p:nvPr/>
        </p:nvSpPr>
        <p:spPr>
          <a:xfrm>
            <a:off x="9601200" y="5029200"/>
            <a:ext cx="2103120" cy="365760"/>
          </a:xfrm>
          <a:prstGeom prst="rect">
            <a:avLst/>
          </a:prstGeom>
          <a:noFill/>
        </p:spPr>
        <p:txBody>
          <a:bodyPr wrap="square">
            <a:spAutoFit/>
          </a:bodyPr>
          <a:lstStyle/>
          <a:p>
            <a:pPr algn="r">
              <a:defRPr sz="2000" b="1">
                <a:solidFill>
                  <a:srgbClr val="D52B1E"/>
                </a:solidFill>
              </a:defRPr>
            </a:pPr>
            <a:r>
              <a:t>19,270%</a:t>
            </a:r>
          </a:p>
        </p:txBody>
      </p:sp>
      <p:sp>
        <p:nvSpPr>
          <p:cNvPr id="61" name="Rectangle 60"/>
          <p:cNvSpPr/>
          <p:nvPr/>
        </p:nvSpPr>
        <p:spPr>
          <a:xfrm>
            <a:off x="6400800" y="5669280"/>
            <a:ext cx="5029200" cy="6400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583680" y="5715000"/>
            <a:ext cx="4663440" cy="548640"/>
          </a:xfrm>
          <a:prstGeom prst="rect">
            <a:avLst/>
          </a:prstGeom>
          <a:noFill/>
        </p:spPr>
        <p:txBody>
          <a:bodyPr wrap="square">
            <a:spAutoFit/>
          </a:bodyPr>
          <a:lstStyle/>
          <a:p>
            <a:pPr algn="ctr">
              <a:defRPr sz="1400" b="1">
                <a:solidFill>
                  <a:srgbClr val="D52B1E"/>
                </a:solidFill>
              </a:defRPr>
            </a:pPr>
            <a:r>
              <a:t>EliteA saves $320K-550K CAD and 4+ months vs. traditional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640080"/>
          </a:xfrm>
          <a:prstGeom prst="rect">
            <a:avLst/>
          </a:prstGeom>
          <a:noFill/>
        </p:spPr>
        <p:txBody>
          <a:bodyPr wrap="square">
            <a:spAutoFit/>
          </a:bodyPr>
          <a:lstStyle/>
          <a:p>
            <a:pPr algn="l">
              <a:defRPr sz="3200" b="1">
                <a:solidFill>
                  <a:srgbClr val="FFFFFF"/>
                </a:solidFill>
              </a:defRPr>
            </a:pPr>
            <a:r>
              <a:t>Key Assumptions</a:t>
            </a:r>
          </a:p>
        </p:txBody>
      </p:sp>
      <p:sp>
        <p:nvSpPr>
          <p:cNvPr id="4" name="TextBox 3"/>
          <p:cNvSpPr txBox="1"/>
          <p:nvPr/>
        </p:nvSpPr>
        <p:spPr>
          <a:xfrm>
            <a:off x="548640" y="594360"/>
            <a:ext cx="9144000" cy="365760"/>
          </a:xfrm>
          <a:prstGeom prst="rect">
            <a:avLst/>
          </a:prstGeom>
          <a:noFill/>
        </p:spPr>
        <p:txBody>
          <a:bodyPr wrap="square">
            <a:spAutoFit/>
          </a:bodyPr>
          <a:lstStyle/>
          <a:p>
            <a:pPr algn="l">
              <a:defRPr sz="1600" b="0">
                <a:solidFill>
                  <a:srgbClr val="FFCCCC"/>
                </a:solidFill>
              </a:defRPr>
            </a:pPr>
            <a:r>
              <a:t>All amounts in CAD  |  EliteA agentic AI SDLC cost and timeline estimates</a:t>
            </a:r>
          </a:p>
        </p:txBody>
      </p:sp>
      <p:sp>
        <p:nvSpPr>
          <p:cNvPr id="5" name="TextBox 4"/>
          <p:cNvSpPr txBox="1"/>
          <p:nvPr/>
        </p:nvSpPr>
        <p:spPr>
          <a:xfrm>
            <a:off x="548640" y="6400800"/>
            <a:ext cx="4572000" cy="365760"/>
          </a:xfrm>
          <a:prstGeom prst="rect">
            <a:avLst/>
          </a:prstGeom>
          <a:noFill/>
        </p:spPr>
        <p:txBody>
          <a:bodyPr wrap="square">
            <a:spAutoFit/>
          </a:bodyPr>
          <a:lstStyle/>
          <a:p>
            <a:pPr algn="l">
              <a:defRPr sz="1000" b="0">
                <a:solidFill>
                  <a:srgbClr val="666666"/>
                </a:solidFill>
              </a:defRPr>
            </a:pPr>
            <a:r>
              <a:t>EPAM Systems | Confidential</a:t>
            </a:r>
          </a:p>
        </p:txBody>
      </p:sp>
      <p:sp>
        <p:nvSpPr>
          <p:cNvPr id="6" name="TextBox 5"/>
          <p:cNvSpPr txBox="1"/>
          <p:nvPr/>
        </p:nvSpPr>
        <p:spPr>
          <a:xfrm>
            <a:off x="8229600" y="6400800"/>
            <a:ext cx="3657600" cy="365760"/>
          </a:xfrm>
          <a:prstGeom prst="rect">
            <a:avLst/>
          </a:prstGeom>
          <a:noFill/>
        </p:spPr>
        <p:txBody>
          <a:bodyPr wrap="square">
            <a:spAutoFit/>
          </a:bodyPr>
          <a:lstStyle/>
          <a:p>
            <a:pPr algn="r">
              <a:defRPr sz="1000" b="0">
                <a:solidFill>
                  <a:srgbClr val="666666"/>
                </a:solidFill>
              </a:defRPr>
            </a:pPr>
            <a:r>
              <a:t>CTC Mobile Wishlist — Business Case</a:t>
            </a:r>
          </a:p>
        </p:txBody>
      </p:sp>
      <p:sp>
        <p:nvSpPr>
          <p:cNvPr id="7" name="TextBox 6"/>
          <p:cNvSpPr txBox="1"/>
          <p:nvPr/>
        </p:nvSpPr>
        <p:spPr>
          <a:xfrm>
            <a:off x="731520" y="1188720"/>
            <a:ext cx="5029200" cy="457200"/>
          </a:xfrm>
          <a:prstGeom prst="rect">
            <a:avLst/>
          </a:prstGeom>
          <a:noFill/>
        </p:spPr>
        <p:txBody>
          <a:bodyPr wrap="square">
            <a:spAutoFit/>
          </a:bodyPr>
          <a:lstStyle/>
          <a:p>
            <a:pPr algn="l">
              <a:defRPr sz="1800" b="1">
                <a:solidFill>
                  <a:srgbClr val="D52B1E"/>
                </a:solidFill>
              </a:defRPr>
            </a:pPr>
            <a:r>
              <a:t>EliteA Delivery Assumptions</a:t>
            </a:r>
          </a:p>
        </p:txBody>
      </p:sp>
      <p:sp>
        <p:nvSpPr>
          <p:cNvPr id="8" name="TextBox 7"/>
          <p:cNvSpPr txBox="1"/>
          <p:nvPr/>
        </p:nvSpPr>
        <p:spPr>
          <a:xfrm>
            <a:off x="731520" y="1737360"/>
            <a:ext cx="5029200" cy="4572000"/>
          </a:xfrm>
          <a:prstGeom prst="rect">
            <a:avLst/>
          </a:prstGeom>
          <a:noFill/>
        </p:spPr>
        <p:txBody>
          <a:bodyPr wrap="square">
            <a:spAutoFit/>
          </a:bodyPr>
          <a:lstStyle/>
          <a:p>
            <a:pPr algn="l">
              <a:defRPr sz="1200" b="0">
                <a:solidFill>
                  <a:srgbClr val="333333"/>
                </a:solidFill>
              </a:defRPr>
            </a:pPr>
          </a:p>
          <a:p>
            <a:pPr algn="l">
              <a:spcBef>
                <a:spcPts val="800"/>
              </a:spcBef>
              <a:defRPr sz="1200" b="0">
                <a:solidFill>
                  <a:srgbClr val="333333"/>
                </a:solidFill>
              </a:defRPr>
            </a:pPr>
            <a:r>
              <a:t>  3-5x developer velocity via AI pair programming and code generation</a:t>
            </a:r>
          </a:p>
          <a:p>
            <a:pPr algn="l">
              <a:spcBef>
                <a:spcPts val="800"/>
              </a:spcBef>
              <a:defRPr sz="1200" b="0">
                <a:solidFill>
                  <a:srgbClr val="333333"/>
                </a:solidFill>
              </a:defRPr>
            </a:pPr>
            <a:r>
              <a:t>  Senior EPAM engineers supervise all AI-generated output (human-in-the-loop)</a:t>
            </a:r>
          </a:p>
          <a:p>
            <a:pPr algn="l">
              <a:spcBef>
                <a:spcPts val="800"/>
              </a:spcBef>
              <a:defRPr sz="1200" b="0">
                <a:solidFill>
                  <a:srgbClr val="333333"/>
                </a:solidFill>
              </a:defRPr>
            </a:pPr>
            <a:r>
              <a:t>  AI agents handle ~70% of boilerplate code, tests, and documentation</a:t>
            </a:r>
          </a:p>
          <a:p>
            <a:pPr algn="l">
              <a:spcBef>
                <a:spcPts val="800"/>
              </a:spcBef>
              <a:defRPr sz="1200" b="0">
                <a:solidFill>
                  <a:srgbClr val="333333"/>
                </a:solidFill>
              </a:defRPr>
            </a:pPr>
            <a:r>
              <a:t>  Human engineers focus on architecture, integration, edge cases, and review</a:t>
            </a:r>
          </a:p>
          <a:p>
            <a:pPr algn="l">
              <a:spcBef>
                <a:spcPts val="800"/>
              </a:spcBef>
              <a:defRPr sz="1200" b="0">
                <a:solidFill>
                  <a:srgbClr val="333333"/>
                </a:solidFill>
              </a:defRPr>
            </a:pPr>
            <a:r>
              <a:t>  Onshore rates (CAD/h): DM $200, BA $160, SA $190</a:t>
            </a:r>
          </a:p>
          <a:p>
            <a:pPr algn="l">
              <a:spcBef>
                <a:spcPts val="800"/>
              </a:spcBef>
              <a:defRPr sz="1200" b="0">
                <a:solidFill>
                  <a:srgbClr val="333333"/>
                </a:solidFill>
              </a:defRPr>
            </a:pPr>
            <a:r>
              <a:t>  Offshore rates (CAD/h): All resources $72</a:t>
            </a:r>
          </a:p>
          <a:p>
            <a:pPr algn="l">
              <a:spcBef>
                <a:spcPts val="800"/>
              </a:spcBef>
              <a:defRPr sz="1200" b="0">
                <a:solidFill>
                  <a:srgbClr val="333333"/>
                </a:solidFill>
              </a:defRPr>
            </a:pPr>
            <a:r>
              <a:t>  Team: 3 onshore (DM, BA, SA) + 2 offshore engineers + AI agent cluster</a:t>
            </a:r>
          </a:p>
          <a:p>
            <a:pPr algn="l">
              <a:spcBef>
                <a:spcPts val="800"/>
              </a:spcBef>
              <a:defRPr sz="1200" b="0">
                <a:solidFill>
                  <a:srgbClr val="333333"/>
                </a:solidFill>
              </a:defRPr>
            </a:pPr>
            <a:r>
              <a:t>  Parallel workstreams: backend + mobile + QA run concurrently</a:t>
            </a:r>
          </a:p>
          <a:p>
            <a:pPr algn="l">
              <a:spcBef>
                <a:spcPts val="800"/>
              </a:spcBef>
              <a:defRPr sz="1200" b="0">
                <a:solidFill>
                  <a:srgbClr val="333333"/>
                </a:solidFill>
              </a:defRPr>
            </a:pPr>
            <a:r>
              <a:t>  CTC provides API access, design assets, and Triangle sandbox within 2 weeks</a:t>
            </a:r>
          </a:p>
        </p:txBody>
      </p:sp>
      <p:sp>
        <p:nvSpPr>
          <p:cNvPr id="9" name="TextBox 8"/>
          <p:cNvSpPr txBox="1"/>
          <p:nvPr/>
        </p:nvSpPr>
        <p:spPr>
          <a:xfrm>
            <a:off x="6400800" y="1188720"/>
            <a:ext cx="5029200" cy="457200"/>
          </a:xfrm>
          <a:prstGeom prst="rect">
            <a:avLst/>
          </a:prstGeom>
          <a:noFill/>
        </p:spPr>
        <p:txBody>
          <a:bodyPr wrap="square">
            <a:spAutoFit/>
          </a:bodyPr>
          <a:lstStyle/>
          <a:p>
            <a:pPr algn="l">
              <a:defRPr sz="1800" b="1">
                <a:solidFill>
                  <a:srgbClr val="D52B1E"/>
                </a:solidFill>
              </a:defRPr>
            </a:pPr>
            <a:r>
              <a:t>Revenue Model Assumptions</a:t>
            </a:r>
          </a:p>
        </p:txBody>
      </p:sp>
      <p:sp>
        <p:nvSpPr>
          <p:cNvPr id="10" name="TextBox 9"/>
          <p:cNvSpPr txBox="1"/>
          <p:nvPr/>
        </p:nvSpPr>
        <p:spPr>
          <a:xfrm>
            <a:off x="6400800" y="1737360"/>
            <a:ext cx="5029200" cy="4572000"/>
          </a:xfrm>
          <a:prstGeom prst="rect">
            <a:avLst/>
          </a:prstGeom>
          <a:noFill/>
        </p:spPr>
        <p:txBody>
          <a:bodyPr wrap="square">
            <a:spAutoFit/>
          </a:bodyPr>
          <a:lstStyle/>
          <a:p>
            <a:pPr algn="l">
              <a:defRPr sz="1200" b="0">
                <a:solidFill>
                  <a:srgbClr val="333333"/>
                </a:solidFill>
              </a:defRPr>
            </a:pPr>
          </a:p>
          <a:p>
            <a:pPr algn="l">
              <a:spcBef>
                <a:spcPts val="800"/>
              </a:spcBef>
              <a:defRPr sz="1200" b="0">
                <a:solidFill>
                  <a:srgbClr val="333333"/>
                </a:solidFill>
              </a:defRPr>
            </a:pPr>
            <a:r>
              <a:t>  Mobile MAU baseline: 4M across all CTC banners</a:t>
            </a:r>
          </a:p>
          <a:p>
            <a:pPr algn="l">
              <a:spcBef>
                <a:spcPts val="800"/>
              </a:spcBef>
              <a:defRPr sz="1200" b="0">
                <a:solidFill>
                  <a:srgbClr val="333333"/>
                </a:solidFill>
              </a:defRPr>
            </a:pPr>
            <a:r>
              <a:t>  Wishlist adoption: 25% of MAU (1M users) within Year 1</a:t>
            </a:r>
          </a:p>
          <a:p>
            <a:pPr algn="l">
              <a:spcBef>
                <a:spcPts val="800"/>
              </a:spcBef>
              <a:defRPr sz="1200" b="0">
                <a:solidFill>
                  <a:srgbClr val="333333"/>
                </a:solidFill>
              </a:defRPr>
            </a:pPr>
            <a:r>
              <a:t>  Incremental AOV lift: +$12 CAD per transaction for wishlist users</a:t>
            </a:r>
          </a:p>
          <a:p>
            <a:pPr algn="l">
              <a:spcBef>
                <a:spcPts val="800"/>
              </a:spcBef>
              <a:defRPr sz="1200" b="0">
                <a:solidFill>
                  <a:srgbClr val="333333"/>
                </a:solidFill>
              </a:defRPr>
            </a:pPr>
            <a:r>
              <a:t>  Average 8 transactions/year for engaged wishlist users</a:t>
            </a:r>
          </a:p>
          <a:p>
            <a:pPr algn="l">
              <a:spcBef>
                <a:spcPts val="800"/>
              </a:spcBef>
              <a:defRPr sz="1200" b="0">
                <a:solidFill>
                  <a:srgbClr val="333333"/>
                </a:solidFill>
              </a:defRPr>
            </a:pPr>
            <a:r>
              <a:t>  Gift sharing: 30% of wishlist users share at least one list</a:t>
            </a:r>
          </a:p>
          <a:p>
            <a:pPr algn="l">
              <a:spcBef>
                <a:spcPts val="800"/>
              </a:spcBef>
              <a:defRPr sz="1200" b="0">
                <a:solidFill>
                  <a:srgbClr val="333333"/>
                </a:solidFill>
              </a:defRPr>
            </a:pPr>
            <a:r>
              <a:t>  Average fulfilled gift value: $150 CAD per shared wishlist</a:t>
            </a:r>
          </a:p>
          <a:p>
            <a:pPr algn="l">
              <a:spcBef>
                <a:spcPts val="800"/>
              </a:spcBef>
              <a:defRPr sz="1200" b="0">
                <a:solidFill>
                  <a:srgbClr val="333333"/>
                </a:solidFill>
              </a:defRPr>
            </a:pPr>
            <a:r>
              <a:t>  Abandonment recovery: 350K transactions saved at $60 avg</a:t>
            </a:r>
          </a:p>
          <a:p>
            <a:pPr algn="l">
              <a:spcBef>
                <a:spcPts val="800"/>
              </a:spcBef>
              <a:defRPr sz="1200" b="0">
                <a:solidFill>
                  <a:srgbClr val="333333"/>
                </a:solidFill>
              </a:defRPr>
            </a:pPr>
            <a:r>
              <a:t>  Re-engagement CTR: 5-8x higher than generic promotional pushes</a:t>
            </a:r>
          </a:p>
          <a:p>
            <a:pPr algn="l">
              <a:spcBef>
                <a:spcPts val="800"/>
              </a:spcBef>
              <a:defRPr sz="1200" b="0">
                <a:solidFill>
                  <a:srgbClr val="333333"/>
                </a:solidFill>
              </a:defRPr>
            </a:pPr>
            <a:r>
              <a:t>  Blended gross margin: 35% (mix of owned brands + national brands)</a:t>
            </a:r>
          </a:p>
          <a:p>
            <a:pPr algn="l">
              <a:spcBef>
                <a:spcPts val="800"/>
              </a:spcBef>
              <a:defRPr sz="1200" b="0">
                <a:solidFill>
                  <a:srgbClr val="333333"/>
                </a:solidFill>
              </a:defRPr>
            </a:pPr>
            <a:r>
              <a:t>  No cannibalization assumed — wishlist drives net-new purchases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640080"/>
          </a:xfrm>
          <a:prstGeom prst="rect">
            <a:avLst/>
          </a:prstGeom>
          <a:noFill/>
        </p:spPr>
        <p:txBody>
          <a:bodyPr wrap="square">
            <a:spAutoFit/>
          </a:bodyPr>
          <a:lstStyle/>
          <a:p>
            <a:pPr algn="l">
              <a:defRPr sz="3200" b="1">
                <a:solidFill>
                  <a:srgbClr val="FFFFFF"/>
                </a:solidFill>
              </a:defRPr>
            </a:pPr>
            <a:r>
              <a:t>POC Demonstration</a:t>
            </a:r>
          </a:p>
        </p:txBody>
      </p:sp>
      <p:sp>
        <p:nvSpPr>
          <p:cNvPr id="4" name="TextBox 3"/>
          <p:cNvSpPr txBox="1"/>
          <p:nvPr/>
        </p:nvSpPr>
        <p:spPr>
          <a:xfrm>
            <a:off x="548640" y="594360"/>
            <a:ext cx="9144000" cy="365760"/>
          </a:xfrm>
          <a:prstGeom prst="rect">
            <a:avLst/>
          </a:prstGeom>
          <a:noFill/>
        </p:spPr>
        <p:txBody>
          <a:bodyPr wrap="square">
            <a:spAutoFit/>
          </a:bodyPr>
          <a:lstStyle/>
          <a:p>
            <a:pPr algn="l">
              <a:defRPr sz="1600" b="0">
                <a:solidFill>
                  <a:srgbClr val="FFCCCC"/>
                </a:solidFill>
              </a:defRPr>
            </a:pPr>
            <a:r>
              <a:t>Built in &lt;48 hours at the EPAM-CTC Hackathon using agentic AI</a:t>
            </a:r>
          </a:p>
        </p:txBody>
      </p:sp>
      <p:sp>
        <p:nvSpPr>
          <p:cNvPr id="5" name="TextBox 4"/>
          <p:cNvSpPr txBox="1"/>
          <p:nvPr/>
        </p:nvSpPr>
        <p:spPr>
          <a:xfrm>
            <a:off x="548640" y="6400800"/>
            <a:ext cx="4572000" cy="365760"/>
          </a:xfrm>
          <a:prstGeom prst="rect">
            <a:avLst/>
          </a:prstGeom>
          <a:noFill/>
        </p:spPr>
        <p:txBody>
          <a:bodyPr wrap="square">
            <a:spAutoFit/>
          </a:bodyPr>
          <a:lstStyle/>
          <a:p>
            <a:pPr algn="l">
              <a:defRPr sz="1000" b="0">
                <a:solidFill>
                  <a:srgbClr val="666666"/>
                </a:solidFill>
              </a:defRPr>
            </a:pPr>
            <a:r>
              <a:t>EPAM Systems | Confidential</a:t>
            </a:r>
          </a:p>
        </p:txBody>
      </p:sp>
      <p:sp>
        <p:nvSpPr>
          <p:cNvPr id="6" name="TextBox 5"/>
          <p:cNvSpPr txBox="1"/>
          <p:nvPr/>
        </p:nvSpPr>
        <p:spPr>
          <a:xfrm>
            <a:off x="8229600" y="6400800"/>
            <a:ext cx="3657600" cy="365760"/>
          </a:xfrm>
          <a:prstGeom prst="rect">
            <a:avLst/>
          </a:prstGeom>
          <a:noFill/>
        </p:spPr>
        <p:txBody>
          <a:bodyPr wrap="square">
            <a:spAutoFit/>
          </a:bodyPr>
          <a:lstStyle/>
          <a:p>
            <a:pPr algn="r">
              <a:defRPr sz="1000" b="0">
                <a:solidFill>
                  <a:srgbClr val="666666"/>
                </a:solidFill>
              </a:defRPr>
            </a:pPr>
            <a:r>
              <a:t>CTC Mobile Wishlist — Business Case</a:t>
            </a:r>
          </a:p>
        </p:txBody>
      </p:sp>
      <p:sp>
        <p:nvSpPr>
          <p:cNvPr id="7" name="TextBox 6"/>
          <p:cNvSpPr txBox="1"/>
          <p:nvPr/>
        </p:nvSpPr>
        <p:spPr>
          <a:xfrm>
            <a:off x="731520" y="1188720"/>
            <a:ext cx="10058400" cy="457200"/>
          </a:xfrm>
          <a:prstGeom prst="rect">
            <a:avLst/>
          </a:prstGeom>
          <a:noFill/>
        </p:spPr>
        <p:txBody>
          <a:bodyPr wrap="square">
            <a:spAutoFit/>
          </a:bodyPr>
          <a:lstStyle/>
          <a:p>
            <a:pPr algn="l">
              <a:defRPr sz="2000" b="1">
                <a:solidFill>
                  <a:srgbClr val="333333"/>
                </a:solidFill>
              </a:defRPr>
            </a:pPr>
            <a:r>
              <a:t>What We Built</a:t>
            </a:r>
          </a:p>
        </p:txBody>
      </p:sp>
      <p:sp>
        <p:nvSpPr>
          <p:cNvPr id="8" name="TextBox 7"/>
          <p:cNvSpPr txBox="1"/>
          <p:nvPr/>
        </p:nvSpPr>
        <p:spPr>
          <a:xfrm>
            <a:off x="731520" y="1645920"/>
            <a:ext cx="10058400" cy="457200"/>
          </a:xfrm>
          <a:prstGeom prst="rect">
            <a:avLst/>
          </a:prstGeom>
          <a:noFill/>
        </p:spPr>
        <p:txBody>
          <a:bodyPr wrap="square">
            <a:spAutoFit/>
          </a:bodyPr>
          <a:lstStyle/>
          <a:p>
            <a:pPr algn="l">
              <a:defRPr sz="1400" b="0">
                <a:solidFill>
                  <a:srgbClr val="666666"/>
                </a:solidFill>
              </a:defRPr>
            </a:pPr>
            <a:r>
              <a:t>A fully functional React Native + Expo mobile app demonstrating the complete wishlist journey — built entirely with EPAM EliteA's agentic AI workflow.</a:t>
            </a:r>
          </a:p>
        </p:txBody>
      </p:sp>
      <p:sp>
        <p:nvSpPr>
          <p:cNvPr id="9" name="Rectangle 8"/>
          <p:cNvSpPr/>
          <p:nvPr/>
        </p:nvSpPr>
        <p:spPr>
          <a:xfrm>
            <a:off x="457200" y="2377440"/>
            <a:ext cx="2011680" cy="34747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468880"/>
            <a:ext cx="1828800" cy="36576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487168"/>
            <a:ext cx="1828800" cy="365760"/>
          </a:xfrm>
          <a:prstGeom prst="rect">
            <a:avLst/>
          </a:prstGeom>
          <a:noFill/>
        </p:spPr>
        <p:txBody>
          <a:bodyPr wrap="square">
            <a:spAutoFit/>
          </a:bodyPr>
          <a:lstStyle/>
          <a:p>
            <a:pPr algn="ctr">
              <a:defRPr sz="1300" b="1">
                <a:solidFill>
                  <a:srgbClr val="FFFFFF"/>
                </a:solidFill>
              </a:defRPr>
            </a:pPr>
            <a:r>
              <a:t>Home</a:t>
            </a:r>
          </a:p>
        </p:txBody>
      </p:sp>
      <p:sp>
        <p:nvSpPr>
          <p:cNvPr id="12" name="TextBox 11"/>
          <p:cNvSpPr txBox="1"/>
          <p:nvPr/>
        </p:nvSpPr>
        <p:spPr>
          <a:xfrm>
            <a:off x="594360" y="3017520"/>
            <a:ext cx="1737360" cy="2286000"/>
          </a:xfrm>
          <a:prstGeom prst="rect">
            <a:avLst/>
          </a:prstGeom>
          <a:noFill/>
        </p:spPr>
        <p:txBody>
          <a:bodyPr wrap="square">
            <a:spAutoFit/>
          </a:bodyPr>
          <a:lstStyle/>
          <a:p>
            <a:pPr algn="ctr">
              <a:defRPr sz="1100" b="0">
                <a:solidFill>
                  <a:srgbClr val="666666"/>
                </a:solidFill>
              </a:defRPr>
            </a:pPr>
            <a:r>
              <a:t>Personalized landing</a:t>
            </a:r>
            <a:br/>
            <a:r>
              <a:t>with quick access to</a:t>
            </a:r>
            <a:br/>
            <a:r>
              <a:t>wishlists and recent</a:t>
            </a:r>
            <a:br/>
            <a:r>
              <a:t>scanned items</a:t>
            </a:r>
          </a:p>
        </p:txBody>
      </p:sp>
      <p:sp>
        <p:nvSpPr>
          <p:cNvPr id="13" name="Rectangle 12"/>
          <p:cNvSpPr/>
          <p:nvPr/>
        </p:nvSpPr>
        <p:spPr>
          <a:xfrm>
            <a:off x="2743200" y="2377440"/>
            <a:ext cx="2011680" cy="34747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34640" y="2468880"/>
            <a:ext cx="1828800" cy="36576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34640" y="2487168"/>
            <a:ext cx="1828800" cy="365760"/>
          </a:xfrm>
          <a:prstGeom prst="rect">
            <a:avLst/>
          </a:prstGeom>
          <a:noFill/>
        </p:spPr>
        <p:txBody>
          <a:bodyPr wrap="square">
            <a:spAutoFit/>
          </a:bodyPr>
          <a:lstStyle/>
          <a:p>
            <a:pPr algn="ctr">
              <a:defRPr sz="1300" b="1">
                <a:solidFill>
                  <a:srgbClr val="FFFFFF"/>
                </a:solidFill>
              </a:defRPr>
            </a:pPr>
            <a:r>
              <a:t>Catalog</a:t>
            </a:r>
          </a:p>
        </p:txBody>
      </p:sp>
      <p:sp>
        <p:nvSpPr>
          <p:cNvPr id="16" name="TextBox 15"/>
          <p:cNvSpPr txBox="1"/>
          <p:nvPr/>
        </p:nvSpPr>
        <p:spPr>
          <a:xfrm>
            <a:off x="2880360" y="3017520"/>
            <a:ext cx="1737360" cy="2286000"/>
          </a:xfrm>
          <a:prstGeom prst="rect">
            <a:avLst/>
          </a:prstGeom>
          <a:noFill/>
        </p:spPr>
        <p:txBody>
          <a:bodyPr wrap="square">
            <a:spAutoFit/>
          </a:bodyPr>
          <a:lstStyle/>
          <a:p>
            <a:pPr algn="ctr">
              <a:defRPr sz="1100" b="0">
                <a:solidFill>
                  <a:srgbClr val="666666"/>
                </a:solidFill>
              </a:defRPr>
            </a:pPr>
            <a:r>
              <a:t>Browsable product grid</a:t>
            </a:r>
            <a:br/>
            <a:r>
              <a:t>with category filters</a:t>
            </a:r>
            <a:br/>
            <a:r>
              <a:t>and real-time search</a:t>
            </a:r>
          </a:p>
        </p:txBody>
      </p:sp>
      <p:sp>
        <p:nvSpPr>
          <p:cNvPr id="17" name="Rectangle 16"/>
          <p:cNvSpPr/>
          <p:nvPr/>
        </p:nvSpPr>
        <p:spPr>
          <a:xfrm>
            <a:off x="5029200" y="2377440"/>
            <a:ext cx="2011680" cy="34747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20640" y="2468880"/>
            <a:ext cx="1828800" cy="36576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20640" y="2487168"/>
            <a:ext cx="1828800" cy="365760"/>
          </a:xfrm>
          <a:prstGeom prst="rect">
            <a:avLst/>
          </a:prstGeom>
          <a:noFill/>
        </p:spPr>
        <p:txBody>
          <a:bodyPr wrap="square">
            <a:spAutoFit/>
          </a:bodyPr>
          <a:lstStyle/>
          <a:p>
            <a:pPr algn="ctr">
              <a:defRPr sz="1300" b="1">
                <a:solidFill>
                  <a:srgbClr val="FFFFFF"/>
                </a:solidFill>
              </a:defRPr>
            </a:pPr>
            <a:r>
              <a:t>Barcode</a:t>
            </a:r>
            <a:br/>
            <a:r>
              <a:t>Scanner</a:t>
            </a:r>
          </a:p>
        </p:txBody>
      </p:sp>
      <p:sp>
        <p:nvSpPr>
          <p:cNvPr id="20" name="TextBox 19"/>
          <p:cNvSpPr txBox="1"/>
          <p:nvPr/>
        </p:nvSpPr>
        <p:spPr>
          <a:xfrm>
            <a:off x="5166360" y="3017520"/>
            <a:ext cx="1737360" cy="2286000"/>
          </a:xfrm>
          <a:prstGeom prst="rect">
            <a:avLst/>
          </a:prstGeom>
          <a:noFill/>
        </p:spPr>
        <p:txBody>
          <a:bodyPr wrap="square">
            <a:spAutoFit/>
          </a:bodyPr>
          <a:lstStyle/>
          <a:p>
            <a:pPr algn="ctr">
              <a:defRPr sz="1100" b="0">
                <a:solidFill>
                  <a:srgbClr val="666666"/>
                </a:solidFill>
              </a:defRPr>
            </a:pPr>
            <a:r>
              <a:t>Camera-based barcode</a:t>
            </a:r>
            <a:br/>
            <a:r>
              <a:t>scanning with instant</a:t>
            </a:r>
            <a:br/>
            <a:r>
              <a:t>product identification</a:t>
            </a:r>
          </a:p>
        </p:txBody>
      </p:sp>
      <p:sp>
        <p:nvSpPr>
          <p:cNvPr id="21" name="Rectangle 20"/>
          <p:cNvSpPr/>
          <p:nvPr/>
        </p:nvSpPr>
        <p:spPr>
          <a:xfrm>
            <a:off x="7315200" y="2377440"/>
            <a:ext cx="2011680" cy="34747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406640" y="2468880"/>
            <a:ext cx="1828800" cy="36576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06640" y="2487168"/>
            <a:ext cx="1828800" cy="365760"/>
          </a:xfrm>
          <a:prstGeom prst="rect">
            <a:avLst/>
          </a:prstGeom>
          <a:noFill/>
        </p:spPr>
        <p:txBody>
          <a:bodyPr wrap="square">
            <a:spAutoFit/>
          </a:bodyPr>
          <a:lstStyle/>
          <a:p>
            <a:pPr algn="ctr">
              <a:defRPr sz="1300" b="1">
                <a:solidFill>
                  <a:srgbClr val="FFFFFF"/>
                </a:solidFill>
              </a:defRPr>
            </a:pPr>
            <a:r>
              <a:t>Wishlist</a:t>
            </a:r>
            <a:br/>
            <a:r>
              <a:t>Manager</a:t>
            </a:r>
          </a:p>
        </p:txBody>
      </p:sp>
      <p:sp>
        <p:nvSpPr>
          <p:cNvPr id="24" name="TextBox 23"/>
          <p:cNvSpPr txBox="1"/>
          <p:nvPr/>
        </p:nvSpPr>
        <p:spPr>
          <a:xfrm>
            <a:off x="7452360" y="3017520"/>
            <a:ext cx="1737360" cy="2286000"/>
          </a:xfrm>
          <a:prstGeom prst="rect">
            <a:avLst/>
          </a:prstGeom>
          <a:noFill/>
        </p:spPr>
        <p:txBody>
          <a:bodyPr wrap="square">
            <a:spAutoFit/>
          </a:bodyPr>
          <a:lstStyle/>
          <a:p>
            <a:pPr algn="ctr">
              <a:defRPr sz="1100" b="0">
                <a:solidFill>
                  <a:srgbClr val="666666"/>
                </a:solidFill>
              </a:defRPr>
            </a:pPr>
            <a:r>
              <a:t>Create, name, and</a:t>
            </a:r>
            <a:br/>
            <a:r>
              <a:t>manage multiple</a:t>
            </a:r>
            <a:br/>
            <a:r>
              <a:t>wishlists with items</a:t>
            </a:r>
          </a:p>
        </p:txBody>
      </p:sp>
      <p:sp>
        <p:nvSpPr>
          <p:cNvPr id="25" name="Rectangle 24"/>
          <p:cNvSpPr/>
          <p:nvPr/>
        </p:nvSpPr>
        <p:spPr>
          <a:xfrm>
            <a:off x="9601200" y="2377440"/>
            <a:ext cx="2011680" cy="34747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692640" y="2468880"/>
            <a:ext cx="1828800" cy="36576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0" y="2487168"/>
            <a:ext cx="1828800" cy="365760"/>
          </a:xfrm>
          <a:prstGeom prst="rect">
            <a:avLst/>
          </a:prstGeom>
          <a:noFill/>
        </p:spPr>
        <p:txBody>
          <a:bodyPr wrap="square">
            <a:spAutoFit/>
          </a:bodyPr>
          <a:lstStyle/>
          <a:p>
            <a:pPr algn="ctr">
              <a:defRPr sz="1300" b="1">
                <a:solidFill>
                  <a:srgbClr val="FFFFFF"/>
                </a:solidFill>
              </a:defRPr>
            </a:pPr>
            <a:r>
              <a:t>Share &amp;</a:t>
            </a:r>
            <a:br/>
            <a:r>
              <a:t>Fulfill</a:t>
            </a:r>
          </a:p>
        </p:txBody>
      </p:sp>
      <p:sp>
        <p:nvSpPr>
          <p:cNvPr id="28" name="TextBox 27"/>
          <p:cNvSpPr txBox="1"/>
          <p:nvPr/>
        </p:nvSpPr>
        <p:spPr>
          <a:xfrm>
            <a:off x="9738360" y="3017520"/>
            <a:ext cx="1737360" cy="2286000"/>
          </a:xfrm>
          <a:prstGeom prst="rect">
            <a:avLst/>
          </a:prstGeom>
          <a:noFill/>
        </p:spPr>
        <p:txBody>
          <a:bodyPr wrap="square">
            <a:spAutoFit/>
          </a:bodyPr>
          <a:lstStyle/>
          <a:p>
            <a:pPr algn="ctr">
              <a:defRPr sz="1100" b="0">
                <a:solidFill>
                  <a:srgbClr val="666666"/>
                </a:solidFill>
              </a:defRPr>
            </a:pPr>
            <a:r>
              <a:t>Share with contacts,</a:t>
            </a:r>
            <a:br/>
            <a:r>
              <a:t>recipients claim items</a:t>
            </a:r>
            <a:br/>
            <a:r>
              <a:t>they'll purchase</a:t>
            </a:r>
          </a:p>
        </p:txBody>
      </p:sp>
      <p:sp>
        <p:nvSpPr>
          <p:cNvPr id="29" name="Rectangle 28"/>
          <p:cNvSpPr/>
          <p:nvPr/>
        </p:nvSpPr>
        <p:spPr>
          <a:xfrm>
            <a:off x="731520" y="5943600"/>
            <a:ext cx="10515600" cy="365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5943600"/>
            <a:ext cx="10058400" cy="365760"/>
          </a:xfrm>
          <a:prstGeom prst="rect">
            <a:avLst/>
          </a:prstGeom>
          <a:noFill/>
        </p:spPr>
        <p:txBody>
          <a:bodyPr wrap="square">
            <a:spAutoFit/>
          </a:bodyPr>
          <a:lstStyle/>
          <a:p>
            <a:pPr algn="ctr">
              <a:defRPr sz="1200" b="0">
                <a:solidFill>
                  <a:srgbClr val="666666"/>
                </a:solidFill>
              </a:defRPr>
            </a:pPr>
            <a:r>
              <a:t>Tech: React Native + Expo  |  TypeScript  |  Local mock data  |  iOS + Android  |  Built with EPAM EliteA agentic AI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640080"/>
          </a:xfrm>
          <a:prstGeom prst="rect">
            <a:avLst/>
          </a:prstGeom>
          <a:noFill/>
        </p:spPr>
        <p:txBody>
          <a:bodyPr wrap="square">
            <a:spAutoFit/>
          </a:bodyPr>
          <a:lstStyle/>
          <a:p>
            <a:pPr algn="l">
              <a:defRPr sz="3200" b="1">
                <a:solidFill>
                  <a:srgbClr val="FFFFFF"/>
                </a:solidFill>
              </a:defRPr>
            </a:pPr>
            <a:r>
              <a:t>Success Metrics</a:t>
            </a:r>
          </a:p>
        </p:txBody>
      </p:sp>
      <p:sp>
        <p:nvSpPr>
          <p:cNvPr id="4" name="TextBox 3"/>
          <p:cNvSpPr txBox="1"/>
          <p:nvPr/>
        </p:nvSpPr>
        <p:spPr>
          <a:xfrm>
            <a:off x="548640" y="594360"/>
            <a:ext cx="9144000" cy="365760"/>
          </a:xfrm>
          <a:prstGeom prst="rect">
            <a:avLst/>
          </a:prstGeom>
          <a:noFill/>
        </p:spPr>
        <p:txBody>
          <a:bodyPr wrap="square">
            <a:spAutoFit/>
          </a:bodyPr>
          <a:lstStyle/>
          <a:p>
            <a:pPr algn="l">
              <a:defRPr sz="1600" b="0">
                <a:solidFill>
                  <a:srgbClr val="FFCCCC"/>
                </a:solidFill>
              </a:defRPr>
            </a:pPr>
            <a:r>
              <a:t>Year 1 KPIs for the fully realized feature</a:t>
            </a:r>
          </a:p>
        </p:txBody>
      </p:sp>
      <p:sp>
        <p:nvSpPr>
          <p:cNvPr id="5" name="TextBox 4"/>
          <p:cNvSpPr txBox="1"/>
          <p:nvPr/>
        </p:nvSpPr>
        <p:spPr>
          <a:xfrm>
            <a:off x="548640" y="6400800"/>
            <a:ext cx="4572000" cy="365760"/>
          </a:xfrm>
          <a:prstGeom prst="rect">
            <a:avLst/>
          </a:prstGeom>
          <a:noFill/>
        </p:spPr>
        <p:txBody>
          <a:bodyPr wrap="square">
            <a:spAutoFit/>
          </a:bodyPr>
          <a:lstStyle/>
          <a:p>
            <a:pPr algn="l">
              <a:defRPr sz="1000" b="0">
                <a:solidFill>
                  <a:srgbClr val="666666"/>
                </a:solidFill>
              </a:defRPr>
            </a:pPr>
            <a:r>
              <a:t>EPAM Systems | Confidential</a:t>
            </a:r>
          </a:p>
        </p:txBody>
      </p:sp>
      <p:sp>
        <p:nvSpPr>
          <p:cNvPr id="6" name="TextBox 5"/>
          <p:cNvSpPr txBox="1"/>
          <p:nvPr/>
        </p:nvSpPr>
        <p:spPr>
          <a:xfrm>
            <a:off x="8229600" y="6400800"/>
            <a:ext cx="3657600" cy="365760"/>
          </a:xfrm>
          <a:prstGeom prst="rect">
            <a:avLst/>
          </a:prstGeom>
          <a:noFill/>
        </p:spPr>
        <p:txBody>
          <a:bodyPr wrap="square">
            <a:spAutoFit/>
          </a:bodyPr>
          <a:lstStyle/>
          <a:p>
            <a:pPr algn="r">
              <a:defRPr sz="1000" b="0">
                <a:solidFill>
                  <a:srgbClr val="666666"/>
                </a:solidFill>
              </a:defRPr>
            </a:pPr>
            <a:r>
              <a:t>CTC Mobile Wishlist — Business Case</a:t>
            </a:r>
          </a:p>
        </p:txBody>
      </p:sp>
      <p:sp>
        <p:nvSpPr>
          <p:cNvPr id="7" name="Rectangle 6"/>
          <p:cNvSpPr/>
          <p:nvPr/>
        </p:nvSpPr>
        <p:spPr>
          <a:xfrm>
            <a:off x="731520" y="1371600"/>
            <a:ext cx="5303520" cy="10972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63040"/>
            <a:ext cx="2743200" cy="365760"/>
          </a:xfrm>
          <a:prstGeom prst="rect">
            <a:avLst/>
          </a:prstGeom>
          <a:noFill/>
        </p:spPr>
        <p:txBody>
          <a:bodyPr wrap="square">
            <a:spAutoFit/>
          </a:bodyPr>
          <a:lstStyle/>
          <a:p>
            <a:pPr algn="l">
              <a:defRPr sz="1500" b="1">
                <a:solidFill>
                  <a:srgbClr val="333333"/>
                </a:solidFill>
              </a:defRPr>
            </a:pPr>
            <a:r>
              <a:t>Wishlist Adoption</a:t>
            </a:r>
          </a:p>
        </p:txBody>
      </p:sp>
      <p:sp>
        <p:nvSpPr>
          <p:cNvPr id="9" name="TextBox 8"/>
          <p:cNvSpPr txBox="1"/>
          <p:nvPr/>
        </p:nvSpPr>
        <p:spPr>
          <a:xfrm>
            <a:off x="3931920" y="1417320"/>
            <a:ext cx="1828800" cy="457200"/>
          </a:xfrm>
          <a:prstGeom prst="rect">
            <a:avLst/>
          </a:prstGeom>
          <a:noFill/>
        </p:spPr>
        <p:txBody>
          <a:bodyPr wrap="square">
            <a:spAutoFit/>
          </a:bodyPr>
          <a:lstStyle/>
          <a:p>
            <a:pPr algn="r">
              <a:defRPr sz="2400" b="1">
                <a:solidFill>
                  <a:srgbClr val="D52B1E"/>
                </a:solidFill>
              </a:defRPr>
            </a:pPr>
            <a:r>
              <a:t>&gt;=20%</a:t>
            </a:r>
          </a:p>
        </p:txBody>
      </p:sp>
      <p:sp>
        <p:nvSpPr>
          <p:cNvPr id="10" name="TextBox 9"/>
          <p:cNvSpPr txBox="1"/>
          <p:nvPr/>
        </p:nvSpPr>
        <p:spPr>
          <a:xfrm>
            <a:off x="3931920" y="1874520"/>
            <a:ext cx="1828800" cy="274320"/>
          </a:xfrm>
          <a:prstGeom prst="rect">
            <a:avLst/>
          </a:prstGeom>
          <a:noFill/>
        </p:spPr>
        <p:txBody>
          <a:bodyPr wrap="square">
            <a:spAutoFit/>
          </a:bodyPr>
          <a:lstStyle/>
          <a:p>
            <a:pPr algn="r">
              <a:defRPr sz="1100" b="0">
                <a:solidFill>
                  <a:srgbClr val="666666"/>
                </a:solidFill>
              </a:defRPr>
            </a:pPr>
            <a:r>
              <a:t>of mobile MAU</a:t>
            </a:r>
          </a:p>
        </p:txBody>
      </p:sp>
      <p:sp>
        <p:nvSpPr>
          <p:cNvPr id="11" name="TextBox 10"/>
          <p:cNvSpPr txBox="1"/>
          <p:nvPr/>
        </p:nvSpPr>
        <p:spPr>
          <a:xfrm>
            <a:off x="914400" y="1874520"/>
            <a:ext cx="2743200" cy="548640"/>
          </a:xfrm>
          <a:prstGeom prst="rect">
            <a:avLst/>
          </a:prstGeom>
          <a:noFill/>
        </p:spPr>
        <p:txBody>
          <a:bodyPr wrap="square">
            <a:spAutoFit/>
          </a:bodyPr>
          <a:lstStyle/>
          <a:p>
            <a:pPr algn="l">
              <a:defRPr sz="1100" b="0">
                <a:solidFill>
                  <a:srgbClr val="666666"/>
                </a:solidFill>
              </a:defRPr>
            </a:pPr>
            <a:r>
              <a:t>Core adoption target</a:t>
            </a:r>
          </a:p>
        </p:txBody>
      </p:sp>
      <p:sp>
        <p:nvSpPr>
          <p:cNvPr id="12" name="Rectangle 11"/>
          <p:cNvSpPr/>
          <p:nvPr/>
        </p:nvSpPr>
        <p:spPr>
          <a:xfrm>
            <a:off x="731520" y="2606040"/>
            <a:ext cx="5303520" cy="10972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697480"/>
            <a:ext cx="2743200" cy="365760"/>
          </a:xfrm>
          <a:prstGeom prst="rect">
            <a:avLst/>
          </a:prstGeom>
          <a:noFill/>
        </p:spPr>
        <p:txBody>
          <a:bodyPr wrap="square">
            <a:spAutoFit/>
          </a:bodyPr>
          <a:lstStyle/>
          <a:p>
            <a:pPr algn="l">
              <a:defRPr sz="1500" b="1">
                <a:solidFill>
                  <a:srgbClr val="333333"/>
                </a:solidFill>
              </a:defRPr>
            </a:pPr>
            <a:r>
              <a:t>Avg Items/Wishlist</a:t>
            </a:r>
          </a:p>
        </p:txBody>
      </p:sp>
      <p:sp>
        <p:nvSpPr>
          <p:cNvPr id="14" name="TextBox 13"/>
          <p:cNvSpPr txBox="1"/>
          <p:nvPr/>
        </p:nvSpPr>
        <p:spPr>
          <a:xfrm>
            <a:off x="3931920" y="2651760"/>
            <a:ext cx="1828800" cy="457200"/>
          </a:xfrm>
          <a:prstGeom prst="rect">
            <a:avLst/>
          </a:prstGeom>
          <a:noFill/>
        </p:spPr>
        <p:txBody>
          <a:bodyPr wrap="square">
            <a:spAutoFit/>
          </a:bodyPr>
          <a:lstStyle/>
          <a:p>
            <a:pPr algn="r">
              <a:defRPr sz="2400" b="1">
                <a:solidFill>
                  <a:srgbClr val="D52B1E"/>
                </a:solidFill>
              </a:defRPr>
            </a:pPr>
            <a:r>
              <a:t>&gt;=5</a:t>
            </a:r>
          </a:p>
        </p:txBody>
      </p:sp>
      <p:sp>
        <p:nvSpPr>
          <p:cNvPr id="15" name="TextBox 14"/>
          <p:cNvSpPr txBox="1"/>
          <p:nvPr/>
        </p:nvSpPr>
        <p:spPr>
          <a:xfrm>
            <a:off x="3931920" y="3108960"/>
            <a:ext cx="1828800" cy="274320"/>
          </a:xfrm>
          <a:prstGeom prst="rect">
            <a:avLst/>
          </a:prstGeom>
          <a:noFill/>
        </p:spPr>
        <p:txBody>
          <a:bodyPr wrap="square">
            <a:spAutoFit/>
          </a:bodyPr>
          <a:lstStyle/>
          <a:p>
            <a:pPr algn="r">
              <a:defRPr sz="1100" b="0">
                <a:solidFill>
                  <a:srgbClr val="666666"/>
                </a:solidFill>
              </a:defRPr>
            </a:pPr>
            <a:r>
              <a:t>items</a:t>
            </a:r>
          </a:p>
        </p:txBody>
      </p:sp>
      <p:sp>
        <p:nvSpPr>
          <p:cNvPr id="16" name="TextBox 15"/>
          <p:cNvSpPr txBox="1"/>
          <p:nvPr/>
        </p:nvSpPr>
        <p:spPr>
          <a:xfrm>
            <a:off x="914400" y="3108960"/>
            <a:ext cx="2743200" cy="548640"/>
          </a:xfrm>
          <a:prstGeom prst="rect">
            <a:avLst/>
          </a:prstGeom>
          <a:noFill/>
        </p:spPr>
        <p:txBody>
          <a:bodyPr wrap="square">
            <a:spAutoFit/>
          </a:bodyPr>
          <a:lstStyle/>
          <a:p>
            <a:pPr algn="l">
              <a:defRPr sz="1100" b="0">
                <a:solidFill>
                  <a:srgbClr val="666666"/>
                </a:solidFill>
              </a:defRPr>
            </a:pPr>
            <a:r>
              <a:t>Engagement depth</a:t>
            </a:r>
          </a:p>
        </p:txBody>
      </p:sp>
      <p:sp>
        <p:nvSpPr>
          <p:cNvPr id="17" name="Rectangle 16"/>
          <p:cNvSpPr/>
          <p:nvPr/>
        </p:nvSpPr>
        <p:spPr>
          <a:xfrm>
            <a:off x="731520" y="3840480"/>
            <a:ext cx="5303520" cy="10972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931920"/>
            <a:ext cx="2743200" cy="365760"/>
          </a:xfrm>
          <a:prstGeom prst="rect">
            <a:avLst/>
          </a:prstGeom>
          <a:noFill/>
        </p:spPr>
        <p:txBody>
          <a:bodyPr wrap="square">
            <a:spAutoFit/>
          </a:bodyPr>
          <a:lstStyle/>
          <a:p>
            <a:pPr algn="l">
              <a:defRPr sz="1500" b="1">
                <a:solidFill>
                  <a:srgbClr val="333333"/>
                </a:solidFill>
              </a:defRPr>
            </a:pPr>
            <a:r>
              <a:t>Wishlist-to-Purchase</a:t>
            </a:r>
          </a:p>
        </p:txBody>
      </p:sp>
      <p:sp>
        <p:nvSpPr>
          <p:cNvPr id="19" name="TextBox 18"/>
          <p:cNvSpPr txBox="1"/>
          <p:nvPr/>
        </p:nvSpPr>
        <p:spPr>
          <a:xfrm>
            <a:off x="3931920" y="3886200"/>
            <a:ext cx="1828800" cy="457200"/>
          </a:xfrm>
          <a:prstGeom prst="rect">
            <a:avLst/>
          </a:prstGeom>
          <a:noFill/>
        </p:spPr>
        <p:txBody>
          <a:bodyPr wrap="square">
            <a:spAutoFit/>
          </a:bodyPr>
          <a:lstStyle/>
          <a:p>
            <a:pPr algn="r">
              <a:defRPr sz="2400" b="1">
                <a:solidFill>
                  <a:srgbClr val="D52B1E"/>
                </a:solidFill>
              </a:defRPr>
            </a:pPr>
            <a:r>
              <a:t>&gt;=15%</a:t>
            </a:r>
          </a:p>
        </p:txBody>
      </p:sp>
      <p:sp>
        <p:nvSpPr>
          <p:cNvPr id="20" name="TextBox 19"/>
          <p:cNvSpPr txBox="1"/>
          <p:nvPr/>
        </p:nvSpPr>
        <p:spPr>
          <a:xfrm>
            <a:off x="3931920" y="4343400"/>
            <a:ext cx="1828800" cy="274320"/>
          </a:xfrm>
          <a:prstGeom prst="rect">
            <a:avLst/>
          </a:prstGeom>
          <a:noFill/>
        </p:spPr>
        <p:txBody>
          <a:bodyPr wrap="square">
            <a:spAutoFit/>
          </a:bodyPr>
          <a:lstStyle/>
          <a:p>
            <a:pPr algn="r">
              <a:defRPr sz="1100" b="0">
                <a:solidFill>
                  <a:srgbClr val="666666"/>
                </a:solidFill>
              </a:defRPr>
            </a:pPr>
            <a:r>
              <a:t>conversion rate</a:t>
            </a:r>
          </a:p>
        </p:txBody>
      </p:sp>
      <p:sp>
        <p:nvSpPr>
          <p:cNvPr id="21" name="TextBox 20"/>
          <p:cNvSpPr txBox="1"/>
          <p:nvPr/>
        </p:nvSpPr>
        <p:spPr>
          <a:xfrm>
            <a:off x="914400" y="4343400"/>
            <a:ext cx="2743200" cy="548640"/>
          </a:xfrm>
          <a:prstGeom prst="rect">
            <a:avLst/>
          </a:prstGeom>
          <a:noFill/>
        </p:spPr>
        <p:txBody>
          <a:bodyPr wrap="square">
            <a:spAutoFit/>
          </a:bodyPr>
          <a:lstStyle/>
          <a:p>
            <a:pPr algn="l">
              <a:defRPr sz="1100" b="0">
                <a:solidFill>
                  <a:srgbClr val="666666"/>
                </a:solidFill>
              </a:defRPr>
            </a:pPr>
            <a:r>
              <a:t>Revenue validation</a:t>
            </a:r>
          </a:p>
        </p:txBody>
      </p:sp>
      <p:sp>
        <p:nvSpPr>
          <p:cNvPr id="22" name="Rectangle 21"/>
          <p:cNvSpPr/>
          <p:nvPr/>
        </p:nvSpPr>
        <p:spPr>
          <a:xfrm>
            <a:off x="731520" y="5074920"/>
            <a:ext cx="5303520" cy="10972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166360"/>
            <a:ext cx="2743200" cy="365760"/>
          </a:xfrm>
          <a:prstGeom prst="rect">
            <a:avLst/>
          </a:prstGeom>
          <a:noFill/>
        </p:spPr>
        <p:txBody>
          <a:bodyPr wrap="square">
            <a:spAutoFit/>
          </a:bodyPr>
          <a:lstStyle/>
          <a:p>
            <a:pPr algn="l">
              <a:defRPr sz="1500" b="1">
                <a:solidFill>
                  <a:srgbClr val="333333"/>
                </a:solidFill>
              </a:defRPr>
            </a:pPr>
            <a:r>
              <a:t>Gift Sharing Rate</a:t>
            </a:r>
          </a:p>
        </p:txBody>
      </p:sp>
      <p:sp>
        <p:nvSpPr>
          <p:cNvPr id="24" name="TextBox 23"/>
          <p:cNvSpPr txBox="1"/>
          <p:nvPr/>
        </p:nvSpPr>
        <p:spPr>
          <a:xfrm>
            <a:off x="3931920" y="5120640"/>
            <a:ext cx="1828800" cy="457200"/>
          </a:xfrm>
          <a:prstGeom prst="rect">
            <a:avLst/>
          </a:prstGeom>
          <a:noFill/>
        </p:spPr>
        <p:txBody>
          <a:bodyPr wrap="square">
            <a:spAutoFit/>
          </a:bodyPr>
          <a:lstStyle/>
          <a:p>
            <a:pPr algn="r">
              <a:defRPr sz="2400" b="1">
                <a:solidFill>
                  <a:srgbClr val="D52B1E"/>
                </a:solidFill>
              </a:defRPr>
            </a:pPr>
            <a:r>
              <a:t>&gt;=25%</a:t>
            </a:r>
          </a:p>
        </p:txBody>
      </p:sp>
      <p:sp>
        <p:nvSpPr>
          <p:cNvPr id="25" name="TextBox 24"/>
          <p:cNvSpPr txBox="1"/>
          <p:nvPr/>
        </p:nvSpPr>
        <p:spPr>
          <a:xfrm>
            <a:off x="3931920" y="5577840"/>
            <a:ext cx="1828800" cy="274320"/>
          </a:xfrm>
          <a:prstGeom prst="rect">
            <a:avLst/>
          </a:prstGeom>
          <a:noFill/>
        </p:spPr>
        <p:txBody>
          <a:bodyPr wrap="square">
            <a:spAutoFit/>
          </a:bodyPr>
          <a:lstStyle/>
          <a:p>
            <a:pPr algn="r">
              <a:defRPr sz="1100" b="0">
                <a:solidFill>
                  <a:srgbClr val="666666"/>
                </a:solidFill>
              </a:defRPr>
            </a:pPr>
            <a:r>
              <a:t>of wishlist users</a:t>
            </a:r>
          </a:p>
        </p:txBody>
      </p:sp>
      <p:sp>
        <p:nvSpPr>
          <p:cNvPr id="26" name="TextBox 25"/>
          <p:cNvSpPr txBox="1"/>
          <p:nvPr/>
        </p:nvSpPr>
        <p:spPr>
          <a:xfrm>
            <a:off x="914400" y="5577840"/>
            <a:ext cx="2743200" cy="548640"/>
          </a:xfrm>
          <a:prstGeom prst="rect">
            <a:avLst/>
          </a:prstGeom>
          <a:noFill/>
        </p:spPr>
        <p:txBody>
          <a:bodyPr wrap="square">
            <a:spAutoFit/>
          </a:bodyPr>
          <a:lstStyle/>
          <a:p>
            <a:pPr algn="l">
              <a:defRPr sz="1100" b="0">
                <a:solidFill>
                  <a:srgbClr val="666666"/>
                </a:solidFill>
              </a:defRPr>
            </a:pPr>
            <a:r>
              <a:t>Social commerce uptake</a:t>
            </a:r>
          </a:p>
        </p:txBody>
      </p:sp>
      <p:sp>
        <p:nvSpPr>
          <p:cNvPr id="27" name="Rectangle 26"/>
          <p:cNvSpPr/>
          <p:nvPr/>
        </p:nvSpPr>
        <p:spPr>
          <a:xfrm>
            <a:off x="6400800" y="1371600"/>
            <a:ext cx="5303520" cy="10972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0" y="1463040"/>
            <a:ext cx="2743200" cy="365760"/>
          </a:xfrm>
          <a:prstGeom prst="rect">
            <a:avLst/>
          </a:prstGeom>
          <a:noFill/>
        </p:spPr>
        <p:txBody>
          <a:bodyPr wrap="square">
            <a:spAutoFit/>
          </a:bodyPr>
          <a:lstStyle/>
          <a:p>
            <a:pPr algn="l">
              <a:defRPr sz="1500" b="1">
                <a:solidFill>
                  <a:srgbClr val="333333"/>
                </a:solidFill>
              </a:defRPr>
            </a:pPr>
            <a:r>
              <a:t>Gift Fulfilment</a:t>
            </a:r>
          </a:p>
        </p:txBody>
      </p:sp>
      <p:sp>
        <p:nvSpPr>
          <p:cNvPr id="29" name="TextBox 28"/>
          <p:cNvSpPr txBox="1"/>
          <p:nvPr/>
        </p:nvSpPr>
        <p:spPr>
          <a:xfrm>
            <a:off x="9601200" y="1417320"/>
            <a:ext cx="1828800" cy="457200"/>
          </a:xfrm>
          <a:prstGeom prst="rect">
            <a:avLst/>
          </a:prstGeom>
          <a:noFill/>
        </p:spPr>
        <p:txBody>
          <a:bodyPr wrap="square">
            <a:spAutoFit/>
          </a:bodyPr>
          <a:lstStyle/>
          <a:p>
            <a:pPr algn="r">
              <a:defRPr sz="2400" b="1">
                <a:solidFill>
                  <a:srgbClr val="D52B1E"/>
                </a:solidFill>
              </a:defRPr>
            </a:pPr>
            <a:r>
              <a:t>&gt;=50%</a:t>
            </a:r>
          </a:p>
        </p:txBody>
      </p:sp>
      <p:sp>
        <p:nvSpPr>
          <p:cNvPr id="30" name="TextBox 29"/>
          <p:cNvSpPr txBox="1"/>
          <p:nvPr/>
        </p:nvSpPr>
        <p:spPr>
          <a:xfrm>
            <a:off x="9601200" y="1874520"/>
            <a:ext cx="1828800" cy="274320"/>
          </a:xfrm>
          <a:prstGeom prst="rect">
            <a:avLst/>
          </a:prstGeom>
          <a:noFill/>
        </p:spPr>
        <p:txBody>
          <a:bodyPr wrap="square">
            <a:spAutoFit/>
          </a:bodyPr>
          <a:lstStyle/>
          <a:p>
            <a:pPr algn="r">
              <a:defRPr sz="1100" b="0">
                <a:solidFill>
                  <a:srgbClr val="666666"/>
                </a:solidFill>
              </a:defRPr>
            </a:pPr>
            <a:r>
              <a:t>of shared items</a:t>
            </a:r>
          </a:p>
        </p:txBody>
      </p:sp>
      <p:sp>
        <p:nvSpPr>
          <p:cNvPr id="31" name="TextBox 30"/>
          <p:cNvSpPr txBox="1"/>
          <p:nvPr/>
        </p:nvSpPr>
        <p:spPr>
          <a:xfrm>
            <a:off x="6583680" y="1874520"/>
            <a:ext cx="2743200" cy="548640"/>
          </a:xfrm>
          <a:prstGeom prst="rect">
            <a:avLst/>
          </a:prstGeom>
          <a:noFill/>
        </p:spPr>
        <p:txBody>
          <a:bodyPr wrap="square">
            <a:spAutoFit/>
          </a:bodyPr>
          <a:lstStyle/>
          <a:p>
            <a:pPr algn="l">
              <a:defRPr sz="1100" b="0">
                <a:solidFill>
                  <a:srgbClr val="666666"/>
                </a:solidFill>
              </a:defRPr>
            </a:pPr>
            <a:r>
              <a:t>Collaborative shopping proof</a:t>
            </a:r>
          </a:p>
        </p:txBody>
      </p:sp>
      <p:sp>
        <p:nvSpPr>
          <p:cNvPr id="32" name="Rectangle 31"/>
          <p:cNvSpPr/>
          <p:nvPr/>
        </p:nvSpPr>
        <p:spPr>
          <a:xfrm>
            <a:off x="6400800" y="2606040"/>
            <a:ext cx="5303520" cy="10972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83680" y="2697480"/>
            <a:ext cx="2743200" cy="365760"/>
          </a:xfrm>
          <a:prstGeom prst="rect">
            <a:avLst/>
          </a:prstGeom>
          <a:noFill/>
        </p:spPr>
        <p:txBody>
          <a:bodyPr wrap="square">
            <a:spAutoFit/>
          </a:bodyPr>
          <a:lstStyle/>
          <a:p>
            <a:pPr algn="l">
              <a:defRPr sz="1500" b="1">
                <a:solidFill>
                  <a:srgbClr val="333333"/>
                </a:solidFill>
              </a:defRPr>
            </a:pPr>
            <a:r>
              <a:t>Re-engagement CTR</a:t>
            </a:r>
          </a:p>
        </p:txBody>
      </p:sp>
      <p:sp>
        <p:nvSpPr>
          <p:cNvPr id="34" name="TextBox 33"/>
          <p:cNvSpPr txBox="1"/>
          <p:nvPr/>
        </p:nvSpPr>
        <p:spPr>
          <a:xfrm>
            <a:off x="9601200" y="2651760"/>
            <a:ext cx="1828800" cy="457200"/>
          </a:xfrm>
          <a:prstGeom prst="rect">
            <a:avLst/>
          </a:prstGeom>
          <a:noFill/>
        </p:spPr>
        <p:txBody>
          <a:bodyPr wrap="square">
            <a:spAutoFit/>
          </a:bodyPr>
          <a:lstStyle/>
          <a:p>
            <a:pPr algn="r">
              <a:defRPr sz="2400" b="1">
                <a:solidFill>
                  <a:srgbClr val="D52B1E"/>
                </a:solidFill>
              </a:defRPr>
            </a:pPr>
            <a:r>
              <a:t>&gt;=12%</a:t>
            </a:r>
          </a:p>
        </p:txBody>
      </p:sp>
      <p:sp>
        <p:nvSpPr>
          <p:cNvPr id="35" name="TextBox 34"/>
          <p:cNvSpPr txBox="1"/>
          <p:nvPr/>
        </p:nvSpPr>
        <p:spPr>
          <a:xfrm>
            <a:off x="9601200" y="3108960"/>
            <a:ext cx="1828800" cy="274320"/>
          </a:xfrm>
          <a:prstGeom prst="rect">
            <a:avLst/>
          </a:prstGeom>
          <a:noFill/>
        </p:spPr>
        <p:txBody>
          <a:bodyPr wrap="square">
            <a:spAutoFit/>
          </a:bodyPr>
          <a:lstStyle/>
          <a:p>
            <a:pPr algn="r">
              <a:defRPr sz="1100" b="0">
                <a:solidFill>
                  <a:srgbClr val="666666"/>
                </a:solidFill>
              </a:defRPr>
            </a:pPr>
            <a:r>
              <a:t>open rate on alerts</a:t>
            </a:r>
          </a:p>
        </p:txBody>
      </p:sp>
      <p:sp>
        <p:nvSpPr>
          <p:cNvPr id="36" name="TextBox 35"/>
          <p:cNvSpPr txBox="1"/>
          <p:nvPr/>
        </p:nvSpPr>
        <p:spPr>
          <a:xfrm>
            <a:off x="6583680" y="3108960"/>
            <a:ext cx="2743200" cy="548640"/>
          </a:xfrm>
          <a:prstGeom prst="rect">
            <a:avLst/>
          </a:prstGeom>
          <a:noFill/>
        </p:spPr>
        <p:txBody>
          <a:bodyPr wrap="square">
            <a:spAutoFit/>
          </a:bodyPr>
          <a:lstStyle/>
          <a:p>
            <a:pPr algn="l">
              <a:defRPr sz="1100" b="0">
                <a:solidFill>
                  <a:srgbClr val="666666"/>
                </a:solidFill>
              </a:defRPr>
            </a:pPr>
            <a:r>
              <a:t>Price-drop notification effectiveness</a:t>
            </a:r>
          </a:p>
        </p:txBody>
      </p:sp>
      <p:sp>
        <p:nvSpPr>
          <p:cNvPr id="37" name="Rectangle 36"/>
          <p:cNvSpPr/>
          <p:nvPr/>
        </p:nvSpPr>
        <p:spPr>
          <a:xfrm>
            <a:off x="6400800" y="3840480"/>
            <a:ext cx="5303520" cy="10972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83680" y="3931920"/>
            <a:ext cx="2743200" cy="365760"/>
          </a:xfrm>
          <a:prstGeom prst="rect">
            <a:avLst/>
          </a:prstGeom>
          <a:noFill/>
        </p:spPr>
        <p:txBody>
          <a:bodyPr wrap="square">
            <a:spAutoFit/>
          </a:bodyPr>
          <a:lstStyle/>
          <a:p>
            <a:pPr algn="l">
              <a:defRPr sz="1500" b="1">
                <a:solidFill>
                  <a:srgbClr val="333333"/>
                </a:solidFill>
              </a:defRPr>
            </a:pPr>
            <a:r>
              <a:t>AOV Lift</a:t>
            </a:r>
          </a:p>
        </p:txBody>
      </p:sp>
      <p:sp>
        <p:nvSpPr>
          <p:cNvPr id="39" name="TextBox 38"/>
          <p:cNvSpPr txBox="1"/>
          <p:nvPr/>
        </p:nvSpPr>
        <p:spPr>
          <a:xfrm>
            <a:off x="9601200" y="3886200"/>
            <a:ext cx="1828800" cy="457200"/>
          </a:xfrm>
          <a:prstGeom prst="rect">
            <a:avLst/>
          </a:prstGeom>
          <a:noFill/>
        </p:spPr>
        <p:txBody>
          <a:bodyPr wrap="square">
            <a:spAutoFit/>
          </a:bodyPr>
          <a:lstStyle/>
          <a:p>
            <a:pPr algn="r">
              <a:defRPr sz="2400" b="1">
                <a:solidFill>
                  <a:srgbClr val="D52B1E"/>
                </a:solidFill>
              </a:defRPr>
            </a:pPr>
            <a:r>
              <a:t>+$10</a:t>
            </a:r>
          </a:p>
        </p:txBody>
      </p:sp>
      <p:sp>
        <p:nvSpPr>
          <p:cNvPr id="40" name="TextBox 39"/>
          <p:cNvSpPr txBox="1"/>
          <p:nvPr/>
        </p:nvSpPr>
        <p:spPr>
          <a:xfrm>
            <a:off x="9601200" y="4343400"/>
            <a:ext cx="1828800" cy="274320"/>
          </a:xfrm>
          <a:prstGeom prst="rect">
            <a:avLst/>
          </a:prstGeom>
          <a:noFill/>
        </p:spPr>
        <p:txBody>
          <a:bodyPr wrap="square">
            <a:spAutoFit/>
          </a:bodyPr>
          <a:lstStyle/>
          <a:p>
            <a:pPr algn="r">
              <a:defRPr sz="1100" b="0">
                <a:solidFill>
                  <a:srgbClr val="666666"/>
                </a:solidFill>
              </a:defRPr>
            </a:pPr>
            <a:r>
              <a:t>vs. non-wishlist users</a:t>
            </a:r>
          </a:p>
        </p:txBody>
      </p:sp>
      <p:sp>
        <p:nvSpPr>
          <p:cNvPr id="41" name="TextBox 40"/>
          <p:cNvSpPr txBox="1"/>
          <p:nvPr/>
        </p:nvSpPr>
        <p:spPr>
          <a:xfrm>
            <a:off x="6583680" y="4343400"/>
            <a:ext cx="2743200" cy="548640"/>
          </a:xfrm>
          <a:prstGeom prst="rect">
            <a:avLst/>
          </a:prstGeom>
          <a:noFill/>
        </p:spPr>
        <p:txBody>
          <a:bodyPr wrap="square">
            <a:spAutoFit/>
          </a:bodyPr>
          <a:lstStyle/>
          <a:p>
            <a:pPr algn="l">
              <a:defRPr sz="1100" b="0">
                <a:solidFill>
                  <a:srgbClr val="666666"/>
                </a:solidFill>
              </a:defRPr>
            </a:pPr>
            <a:r>
              <a:t>Incremental spend proof</a:t>
            </a:r>
          </a:p>
        </p:txBody>
      </p:sp>
      <p:sp>
        <p:nvSpPr>
          <p:cNvPr id="42" name="Rectangle 41"/>
          <p:cNvSpPr/>
          <p:nvPr/>
        </p:nvSpPr>
        <p:spPr>
          <a:xfrm>
            <a:off x="6400800" y="5074920"/>
            <a:ext cx="5303520" cy="10972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83680" y="5166360"/>
            <a:ext cx="2743200" cy="365760"/>
          </a:xfrm>
          <a:prstGeom prst="rect">
            <a:avLst/>
          </a:prstGeom>
          <a:noFill/>
        </p:spPr>
        <p:txBody>
          <a:bodyPr wrap="square">
            <a:spAutoFit/>
          </a:bodyPr>
          <a:lstStyle/>
          <a:p>
            <a:pPr algn="l">
              <a:defRPr sz="1500" b="1">
                <a:solidFill>
                  <a:srgbClr val="333333"/>
                </a:solidFill>
              </a:defRPr>
            </a:pPr>
            <a:r>
              <a:t>NPS Impact</a:t>
            </a:r>
          </a:p>
        </p:txBody>
      </p:sp>
      <p:sp>
        <p:nvSpPr>
          <p:cNvPr id="44" name="TextBox 43"/>
          <p:cNvSpPr txBox="1"/>
          <p:nvPr/>
        </p:nvSpPr>
        <p:spPr>
          <a:xfrm>
            <a:off x="9601200" y="5120640"/>
            <a:ext cx="1828800" cy="457200"/>
          </a:xfrm>
          <a:prstGeom prst="rect">
            <a:avLst/>
          </a:prstGeom>
          <a:noFill/>
        </p:spPr>
        <p:txBody>
          <a:bodyPr wrap="square">
            <a:spAutoFit/>
          </a:bodyPr>
          <a:lstStyle/>
          <a:p>
            <a:pPr algn="r">
              <a:defRPr sz="2400" b="1">
                <a:solidFill>
                  <a:srgbClr val="D52B1E"/>
                </a:solidFill>
              </a:defRPr>
            </a:pPr>
            <a:r>
              <a:t>+5 pts</a:t>
            </a:r>
          </a:p>
        </p:txBody>
      </p:sp>
      <p:sp>
        <p:nvSpPr>
          <p:cNvPr id="45" name="TextBox 44"/>
          <p:cNvSpPr txBox="1"/>
          <p:nvPr/>
        </p:nvSpPr>
        <p:spPr>
          <a:xfrm>
            <a:off x="9601200" y="5577840"/>
            <a:ext cx="1828800" cy="274320"/>
          </a:xfrm>
          <a:prstGeom prst="rect">
            <a:avLst/>
          </a:prstGeom>
          <a:noFill/>
        </p:spPr>
        <p:txBody>
          <a:bodyPr wrap="square">
            <a:spAutoFit/>
          </a:bodyPr>
          <a:lstStyle/>
          <a:p>
            <a:pPr algn="r">
              <a:defRPr sz="1100" b="0">
                <a:solidFill>
                  <a:srgbClr val="666666"/>
                </a:solidFill>
              </a:defRPr>
            </a:pPr>
            <a:r>
              <a:t>vs. non-wishlist users</a:t>
            </a:r>
          </a:p>
        </p:txBody>
      </p:sp>
      <p:sp>
        <p:nvSpPr>
          <p:cNvPr id="46" name="TextBox 45"/>
          <p:cNvSpPr txBox="1"/>
          <p:nvPr/>
        </p:nvSpPr>
        <p:spPr>
          <a:xfrm>
            <a:off x="6583680" y="5577840"/>
            <a:ext cx="2743200" cy="548640"/>
          </a:xfrm>
          <a:prstGeom prst="rect">
            <a:avLst/>
          </a:prstGeom>
          <a:noFill/>
        </p:spPr>
        <p:txBody>
          <a:bodyPr wrap="square">
            <a:spAutoFit/>
          </a:bodyPr>
          <a:lstStyle/>
          <a:p>
            <a:pPr algn="l">
              <a:defRPr sz="1100" b="0">
                <a:solidFill>
                  <a:srgbClr val="666666"/>
                </a:solidFill>
              </a:defRPr>
            </a:pPr>
            <a:r>
              <a:t>Customer satisfaction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640080"/>
          </a:xfrm>
          <a:prstGeom prst="rect">
            <a:avLst/>
          </a:prstGeom>
          <a:noFill/>
        </p:spPr>
        <p:txBody>
          <a:bodyPr wrap="square">
            <a:spAutoFit/>
          </a:bodyPr>
          <a:lstStyle/>
          <a:p>
            <a:pPr algn="l">
              <a:defRPr sz="3200" b="1">
                <a:solidFill>
                  <a:srgbClr val="FFFFFF"/>
                </a:solidFill>
              </a:defRPr>
            </a:pPr>
            <a:r>
              <a:t>Recommendation &amp; Next Steps</a:t>
            </a:r>
          </a:p>
        </p:txBody>
      </p:sp>
      <p:sp>
        <p:nvSpPr>
          <p:cNvPr id="4" name="TextBox 3"/>
          <p:cNvSpPr txBox="1"/>
          <p:nvPr/>
        </p:nvSpPr>
        <p:spPr>
          <a:xfrm>
            <a:off x="548640" y="6400800"/>
            <a:ext cx="4572000" cy="365760"/>
          </a:xfrm>
          <a:prstGeom prst="rect">
            <a:avLst/>
          </a:prstGeom>
          <a:noFill/>
        </p:spPr>
        <p:txBody>
          <a:bodyPr wrap="square">
            <a:spAutoFit/>
          </a:bodyPr>
          <a:lstStyle/>
          <a:p>
            <a:pPr algn="l">
              <a:defRPr sz="1000" b="0">
                <a:solidFill>
                  <a:srgbClr val="666666"/>
                </a:solidFill>
              </a:defRPr>
            </a:pPr>
            <a:r>
              <a:t>EPAM Systems | Confidential</a:t>
            </a:r>
          </a:p>
        </p:txBody>
      </p:sp>
      <p:sp>
        <p:nvSpPr>
          <p:cNvPr id="5" name="TextBox 4"/>
          <p:cNvSpPr txBox="1"/>
          <p:nvPr/>
        </p:nvSpPr>
        <p:spPr>
          <a:xfrm>
            <a:off x="8229600" y="6400800"/>
            <a:ext cx="3657600" cy="365760"/>
          </a:xfrm>
          <a:prstGeom prst="rect">
            <a:avLst/>
          </a:prstGeom>
          <a:noFill/>
        </p:spPr>
        <p:txBody>
          <a:bodyPr wrap="square">
            <a:spAutoFit/>
          </a:bodyPr>
          <a:lstStyle/>
          <a:p>
            <a:pPr algn="r">
              <a:defRPr sz="1000" b="0">
                <a:solidFill>
                  <a:srgbClr val="666666"/>
                </a:solidFill>
              </a:defRPr>
            </a:pPr>
            <a:r>
              <a:t>CTC Mobile Wishlist — Business Case</a:t>
            </a:r>
          </a:p>
        </p:txBody>
      </p:sp>
      <p:sp>
        <p:nvSpPr>
          <p:cNvPr id="6" name="Rectangle 5"/>
          <p:cNvSpPr/>
          <p:nvPr/>
        </p:nvSpPr>
        <p:spPr>
          <a:xfrm>
            <a:off x="731520" y="1280160"/>
            <a:ext cx="10515600" cy="10972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371600"/>
            <a:ext cx="10058400" cy="914400"/>
          </a:xfrm>
          <a:prstGeom prst="rect">
            <a:avLst/>
          </a:prstGeom>
          <a:noFill/>
        </p:spPr>
        <p:txBody>
          <a:bodyPr wrap="square">
            <a:spAutoFit/>
          </a:bodyPr>
          <a:lstStyle/>
          <a:p>
            <a:pPr algn="ctr">
              <a:defRPr sz="1600" b="1">
                <a:solidFill>
                  <a:srgbClr val="333333"/>
                </a:solidFill>
              </a:defRPr>
            </a:pPr>
            <a:r>
              <a:t>We recommend proceeding from POC to production build using EPAM EliteA, targeting pilot launch at 50 Canadian Tire locations within 13 weeks, with full rollout across all banners within 6 months.</a:t>
            </a:r>
          </a:p>
        </p:txBody>
      </p:sp>
      <p:sp>
        <p:nvSpPr>
          <p:cNvPr id="8" name="TextBox 7"/>
          <p:cNvSpPr txBox="1"/>
          <p:nvPr/>
        </p:nvSpPr>
        <p:spPr>
          <a:xfrm>
            <a:off x="731520" y="2651760"/>
            <a:ext cx="10058400" cy="457200"/>
          </a:xfrm>
          <a:prstGeom prst="rect">
            <a:avLst/>
          </a:prstGeom>
          <a:noFill/>
        </p:spPr>
        <p:txBody>
          <a:bodyPr wrap="square">
            <a:spAutoFit/>
          </a:bodyPr>
          <a:lstStyle/>
          <a:p>
            <a:pPr algn="l">
              <a:defRPr sz="2200" b="1">
                <a:solidFill>
                  <a:srgbClr val="D52B1E"/>
                </a:solidFill>
              </a:defRPr>
            </a:pPr>
            <a:r>
              <a:t>Next Steps</a:t>
            </a:r>
          </a:p>
        </p:txBody>
      </p:sp>
      <p:sp>
        <p:nvSpPr>
          <p:cNvPr id="9" name="Rectangle 8"/>
          <p:cNvSpPr/>
          <p:nvPr/>
        </p:nvSpPr>
        <p:spPr>
          <a:xfrm>
            <a:off x="731520" y="3017520"/>
            <a:ext cx="457200" cy="41148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035808"/>
            <a:ext cx="457200" cy="411480"/>
          </a:xfrm>
          <a:prstGeom prst="rect">
            <a:avLst/>
          </a:prstGeom>
          <a:noFill/>
        </p:spPr>
        <p:txBody>
          <a:bodyPr wrap="square">
            <a:spAutoFit/>
          </a:bodyPr>
          <a:lstStyle/>
          <a:p>
            <a:pPr algn="ctr">
              <a:defRPr sz="1400" b="1">
                <a:solidFill>
                  <a:srgbClr val="FFFFFF"/>
                </a:solidFill>
              </a:defRPr>
            </a:pPr>
            <a:r>
              <a:t>1</a:t>
            </a:r>
          </a:p>
        </p:txBody>
      </p:sp>
      <p:sp>
        <p:nvSpPr>
          <p:cNvPr id="11" name="TextBox 10"/>
          <p:cNvSpPr txBox="1"/>
          <p:nvPr/>
        </p:nvSpPr>
        <p:spPr>
          <a:xfrm>
            <a:off x="1371600" y="3035808"/>
            <a:ext cx="3200400" cy="384048"/>
          </a:xfrm>
          <a:prstGeom prst="rect">
            <a:avLst/>
          </a:prstGeom>
          <a:noFill/>
        </p:spPr>
        <p:txBody>
          <a:bodyPr wrap="square">
            <a:spAutoFit/>
          </a:bodyPr>
          <a:lstStyle/>
          <a:p>
            <a:pPr algn="l">
              <a:defRPr sz="1400" b="1">
                <a:solidFill>
                  <a:srgbClr val="333333"/>
                </a:solidFill>
              </a:defRPr>
            </a:pPr>
            <a:r>
              <a:t>Approve POC findings</a:t>
            </a:r>
          </a:p>
        </p:txBody>
      </p:sp>
      <p:sp>
        <p:nvSpPr>
          <p:cNvPr id="12" name="TextBox 11"/>
          <p:cNvSpPr txBox="1"/>
          <p:nvPr/>
        </p:nvSpPr>
        <p:spPr>
          <a:xfrm>
            <a:off x="4572000" y="3035808"/>
            <a:ext cx="4572000" cy="384048"/>
          </a:xfrm>
          <a:prstGeom prst="rect">
            <a:avLst/>
          </a:prstGeom>
          <a:noFill/>
        </p:spPr>
        <p:txBody>
          <a:bodyPr wrap="square">
            <a:spAutoFit/>
          </a:bodyPr>
          <a:lstStyle/>
          <a:p>
            <a:pPr algn="l">
              <a:defRPr sz="1100" b="0">
                <a:solidFill>
                  <a:srgbClr val="666666"/>
                </a:solidFill>
              </a:defRPr>
            </a:pPr>
            <a:r>
              <a:t>Stakeholder alignment on business case and revenue model</a:t>
            </a:r>
          </a:p>
        </p:txBody>
      </p:sp>
      <p:sp>
        <p:nvSpPr>
          <p:cNvPr id="13" name="TextBox 12"/>
          <p:cNvSpPr txBox="1"/>
          <p:nvPr/>
        </p:nvSpPr>
        <p:spPr>
          <a:xfrm>
            <a:off x="9601200" y="3035808"/>
            <a:ext cx="1828800" cy="384048"/>
          </a:xfrm>
          <a:prstGeom prst="rect">
            <a:avLst/>
          </a:prstGeom>
          <a:noFill/>
        </p:spPr>
        <p:txBody>
          <a:bodyPr wrap="square">
            <a:spAutoFit/>
          </a:bodyPr>
          <a:lstStyle/>
          <a:p>
            <a:pPr algn="r">
              <a:defRPr sz="1100" b="1">
                <a:solidFill>
                  <a:srgbClr val="D52B1E"/>
                </a:solidFill>
              </a:defRPr>
            </a:pPr>
            <a:r>
              <a:t>Week 1</a:t>
            </a:r>
          </a:p>
        </p:txBody>
      </p:sp>
      <p:sp>
        <p:nvSpPr>
          <p:cNvPr id="14" name="Rectangle 13"/>
          <p:cNvSpPr/>
          <p:nvPr/>
        </p:nvSpPr>
        <p:spPr>
          <a:xfrm>
            <a:off x="731520" y="3502152"/>
            <a:ext cx="457200" cy="41148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520440"/>
            <a:ext cx="457200" cy="411480"/>
          </a:xfrm>
          <a:prstGeom prst="rect">
            <a:avLst/>
          </a:prstGeom>
          <a:noFill/>
        </p:spPr>
        <p:txBody>
          <a:bodyPr wrap="square">
            <a:spAutoFit/>
          </a:bodyPr>
          <a:lstStyle/>
          <a:p>
            <a:pPr algn="ctr">
              <a:defRPr sz="1400" b="1">
                <a:solidFill>
                  <a:srgbClr val="FFFFFF"/>
                </a:solidFill>
              </a:defRPr>
            </a:pPr>
            <a:r>
              <a:t>2</a:t>
            </a:r>
          </a:p>
        </p:txBody>
      </p:sp>
      <p:sp>
        <p:nvSpPr>
          <p:cNvPr id="16" name="TextBox 15"/>
          <p:cNvSpPr txBox="1"/>
          <p:nvPr/>
        </p:nvSpPr>
        <p:spPr>
          <a:xfrm>
            <a:off x="1371600" y="3520440"/>
            <a:ext cx="3200400" cy="384048"/>
          </a:xfrm>
          <a:prstGeom prst="rect">
            <a:avLst/>
          </a:prstGeom>
          <a:noFill/>
        </p:spPr>
        <p:txBody>
          <a:bodyPr wrap="square">
            <a:spAutoFit/>
          </a:bodyPr>
          <a:lstStyle/>
          <a:p>
            <a:pPr algn="l">
              <a:defRPr sz="1400" b="1">
                <a:solidFill>
                  <a:srgbClr val="333333"/>
                </a:solidFill>
              </a:defRPr>
            </a:pPr>
            <a:r>
              <a:t>Stand up EliteA team</a:t>
            </a:r>
          </a:p>
        </p:txBody>
      </p:sp>
      <p:sp>
        <p:nvSpPr>
          <p:cNvPr id="17" name="TextBox 16"/>
          <p:cNvSpPr txBox="1"/>
          <p:nvPr/>
        </p:nvSpPr>
        <p:spPr>
          <a:xfrm>
            <a:off x="4572000" y="3520440"/>
            <a:ext cx="4572000" cy="384048"/>
          </a:xfrm>
          <a:prstGeom prst="rect">
            <a:avLst/>
          </a:prstGeom>
          <a:noFill/>
        </p:spPr>
        <p:txBody>
          <a:bodyPr wrap="square">
            <a:spAutoFit/>
          </a:bodyPr>
          <a:lstStyle/>
          <a:p>
            <a:pPr algn="l">
              <a:defRPr sz="1100" b="0">
                <a:solidFill>
                  <a:srgbClr val="666666"/>
                </a:solidFill>
              </a:defRPr>
            </a:pPr>
            <a:r>
              <a:t>2 senior engineers + AI agent cluster, CTC API sandbox access</a:t>
            </a:r>
          </a:p>
        </p:txBody>
      </p:sp>
      <p:sp>
        <p:nvSpPr>
          <p:cNvPr id="18" name="TextBox 17"/>
          <p:cNvSpPr txBox="1"/>
          <p:nvPr/>
        </p:nvSpPr>
        <p:spPr>
          <a:xfrm>
            <a:off x="9601200" y="3520440"/>
            <a:ext cx="1828800" cy="384048"/>
          </a:xfrm>
          <a:prstGeom prst="rect">
            <a:avLst/>
          </a:prstGeom>
          <a:noFill/>
        </p:spPr>
        <p:txBody>
          <a:bodyPr wrap="square">
            <a:spAutoFit/>
          </a:bodyPr>
          <a:lstStyle/>
          <a:p>
            <a:pPr algn="r">
              <a:defRPr sz="1100" b="1">
                <a:solidFill>
                  <a:srgbClr val="D52B1E"/>
                </a:solidFill>
              </a:defRPr>
            </a:pPr>
            <a:r>
              <a:t>Week 2</a:t>
            </a:r>
          </a:p>
        </p:txBody>
      </p:sp>
      <p:sp>
        <p:nvSpPr>
          <p:cNvPr id="19" name="Rectangle 18"/>
          <p:cNvSpPr/>
          <p:nvPr/>
        </p:nvSpPr>
        <p:spPr>
          <a:xfrm>
            <a:off x="731520" y="3986783"/>
            <a:ext cx="457200" cy="41148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005071"/>
            <a:ext cx="457200" cy="411480"/>
          </a:xfrm>
          <a:prstGeom prst="rect">
            <a:avLst/>
          </a:prstGeom>
          <a:noFill/>
        </p:spPr>
        <p:txBody>
          <a:bodyPr wrap="square">
            <a:spAutoFit/>
          </a:bodyPr>
          <a:lstStyle/>
          <a:p>
            <a:pPr algn="ctr">
              <a:defRPr sz="1400" b="1">
                <a:solidFill>
                  <a:srgbClr val="FFFFFF"/>
                </a:solidFill>
              </a:defRPr>
            </a:pPr>
            <a:r>
              <a:t>3</a:t>
            </a:r>
          </a:p>
        </p:txBody>
      </p:sp>
      <p:sp>
        <p:nvSpPr>
          <p:cNvPr id="21" name="TextBox 20"/>
          <p:cNvSpPr txBox="1"/>
          <p:nvPr/>
        </p:nvSpPr>
        <p:spPr>
          <a:xfrm>
            <a:off x="1371600" y="4005071"/>
            <a:ext cx="3200400" cy="384048"/>
          </a:xfrm>
          <a:prstGeom prst="rect">
            <a:avLst/>
          </a:prstGeom>
          <a:noFill/>
        </p:spPr>
        <p:txBody>
          <a:bodyPr wrap="square">
            <a:spAutoFit/>
          </a:bodyPr>
          <a:lstStyle/>
          <a:p>
            <a:pPr algn="l">
              <a:defRPr sz="1400" b="1">
                <a:solidFill>
                  <a:srgbClr val="333333"/>
                </a:solidFill>
              </a:defRPr>
            </a:pPr>
            <a:r>
              <a:t>Architecture &amp; integration design</a:t>
            </a:r>
          </a:p>
        </p:txBody>
      </p:sp>
      <p:sp>
        <p:nvSpPr>
          <p:cNvPr id="22" name="TextBox 21"/>
          <p:cNvSpPr txBox="1"/>
          <p:nvPr/>
        </p:nvSpPr>
        <p:spPr>
          <a:xfrm>
            <a:off x="4572000" y="4005071"/>
            <a:ext cx="4572000" cy="384048"/>
          </a:xfrm>
          <a:prstGeom prst="rect">
            <a:avLst/>
          </a:prstGeom>
          <a:noFill/>
        </p:spPr>
        <p:txBody>
          <a:bodyPr wrap="square">
            <a:spAutoFit/>
          </a:bodyPr>
          <a:lstStyle/>
          <a:p>
            <a:pPr algn="l">
              <a:defRPr sz="1100" b="0">
                <a:solidFill>
                  <a:srgbClr val="666666"/>
                </a:solidFill>
              </a:defRPr>
            </a:pPr>
            <a:r>
              <a:t>API contracts with CTC backend, Triangle, product catalog</a:t>
            </a:r>
          </a:p>
        </p:txBody>
      </p:sp>
      <p:sp>
        <p:nvSpPr>
          <p:cNvPr id="23" name="TextBox 22"/>
          <p:cNvSpPr txBox="1"/>
          <p:nvPr/>
        </p:nvSpPr>
        <p:spPr>
          <a:xfrm>
            <a:off x="9601200" y="4005071"/>
            <a:ext cx="1828800" cy="384048"/>
          </a:xfrm>
          <a:prstGeom prst="rect">
            <a:avLst/>
          </a:prstGeom>
          <a:noFill/>
        </p:spPr>
        <p:txBody>
          <a:bodyPr wrap="square">
            <a:spAutoFit/>
          </a:bodyPr>
          <a:lstStyle/>
          <a:p>
            <a:pPr algn="r">
              <a:defRPr sz="1100" b="1">
                <a:solidFill>
                  <a:srgbClr val="D52B1E"/>
                </a:solidFill>
              </a:defRPr>
            </a:pPr>
            <a:r>
              <a:t>Weeks 2-4</a:t>
            </a:r>
          </a:p>
        </p:txBody>
      </p:sp>
      <p:sp>
        <p:nvSpPr>
          <p:cNvPr id="24" name="Rectangle 23"/>
          <p:cNvSpPr/>
          <p:nvPr/>
        </p:nvSpPr>
        <p:spPr>
          <a:xfrm>
            <a:off x="731520" y="4471416"/>
            <a:ext cx="457200" cy="411480"/>
          </a:xfrm>
          <a:prstGeom prst="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4489704"/>
            <a:ext cx="457200" cy="411480"/>
          </a:xfrm>
          <a:prstGeom prst="rect">
            <a:avLst/>
          </a:prstGeom>
          <a:noFill/>
        </p:spPr>
        <p:txBody>
          <a:bodyPr wrap="square">
            <a:spAutoFit/>
          </a:bodyPr>
          <a:lstStyle/>
          <a:p>
            <a:pPr algn="ctr">
              <a:defRPr sz="1400" b="1">
                <a:solidFill>
                  <a:srgbClr val="FFFFFF"/>
                </a:solidFill>
              </a:defRPr>
            </a:pPr>
            <a:r>
              <a:t>G</a:t>
            </a:r>
          </a:p>
        </p:txBody>
      </p:sp>
      <p:sp>
        <p:nvSpPr>
          <p:cNvPr id="26" name="TextBox 25"/>
          <p:cNvSpPr txBox="1"/>
          <p:nvPr/>
        </p:nvSpPr>
        <p:spPr>
          <a:xfrm>
            <a:off x="1371600" y="4489704"/>
            <a:ext cx="3200400" cy="384048"/>
          </a:xfrm>
          <a:prstGeom prst="rect">
            <a:avLst/>
          </a:prstGeom>
          <a:noFill/>
        </p:spPr>
        <p:txBody>
          <a:bodyPr wrap="square">
            <a:spAutoFit/>
          </a:bodyPr>
          <a:lstStyle/>
          <a:p>
            <a:pPr algn="l">
              <a:defRPr sz="1300" b="1">
                <a:solidFill>
                  <a:srgbClr val="F57C00"/>
                </a:solidFill>
              </a:defRPr>
            </a:pPr>
            <a:r>
              <a:t>ARCHITECTURE REVIEW GATE</a:t>
            </a:r>
          </a:p>
        </p:txBody>
      </p:sp>
      <p:sp>
        <p:nvSpPr>
          <p:cNvPr id="27" name="TextBox 26"/>
          <p:cNvSpPr txBox="1"/>
          <p:nvPr/>
        </p:nvSpPr>
        <p:spPr>
          <a:xfrm>
            <a:off x="4572000" y="4489704"/>
            <a:ext cx="4572000" cy="384048"/>
          </a:xfrm>
          <a:prstGeom prst="rect">
            <a:avLst/>
          </a:prstGeom>
          <a:noFill/>
        </p:spPr>
        <p:txBody>
          <a:bodyPr wrap="square">
            <a:spAutoFit/>
          </a:bodyPr>
          <a:lstStyle/>
          <a:p>
            <a:pPr algn="l">
              <a:defRPr sz="1100" b="0">
                <a:solidFill>
                  <a:srgbClr val="666666"/>
                </a:solidFill>
              </a:defRPr>
            </a:pPr>
            <a:r>
              <a:t>CTC &amp; EPAM architecture board sign-off before development begins</a:t>
            </a:r>
          </a:p>
        </p:txBody>
      </p:sp>
      <p:sp>
        <p:nvSpPr>
          <p:cNvPr id="28" name="TextBox 27"/>
          <p:cNvSpPr txBox="1"/>
          <p:nvPr/>
        </p:nvSpPr>
        <p:spPr>
          <a:xfrm>
            <a:off x="9601200" y="4489704"/>
            <a:ext cx="1828800" cy="384048"/>
          </a:xfrm>
          <a:prstGeom prst="rect">
            <a:avLst/>
          </a:prstGeom>
          <a:noFill/>
        </p:spPr>
        <p:txBody>
          <a:bodyPr wrap="square">
            <a:spAutoFit/>
          </a:bodyPr>
          <a:lstStyle/>
          <a:p>
            <a:pPr algn="r">
              <a:defRPr sz="1100" b="1">
                <a:solidFill>
                  <a:srgbClr val="F57C00"/>
                </a:solidFill>
              </a:defRPr>
            </a:pPr>
            <a:r>
              <a:t>Week 4</a:t>
            </a:r>
          </a:p>
        </p:txBody>
      </p:sp>
      <p:sp>
        <p:nvSpPr>
          <p:cNvPr id="29" name="Rectangle 28"/>
          <p:cNvSpPr/>
          <p:nvPr/>
        </p:nvSpPr>
        <p:spPr>
          <a:xfrm>
            <a:off x="731520" y="4956048"/>
            <a:ext cx="457200" cy="41148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4974336"/>
            <a:ext cx="457200" cy="411480"/>
          </a:xfrm>
          <a:prstGeom prst="rect">
            <a:avLst/>
          </a:prstGeom>
          <a:noFill/>
        </p:spPr>
        <p:txBody>
          <a:bodyPr wrap="square">
            <a:spAutoFit/>
          </a:bodyPr>
          <a:lstStyle/>
          <a:p>
            <a:pPr algn="ctr">
              <a:defRPr sz="1400" b="1">
                <a:solidFill>
                  <a:srgbClr val="FFFFFF"/>
                </a:solidFill>
              </a:defRPr>
            </a:pPr>
            <a:r>
              <a:t>4</a:t>
            </a:r>
          </a:p>
        </p:txBody>
      </p:sp>
      <p:sp>
        <p:nvSpPr>
          <p:cNvPr id="31" name="TextBox 30"/>
          <p:cNvSpPr txBox="1"/>
          <p:nvPr/>
        </p:nvSpPr>
        <p:spPr>
          <a:xfrm>
            <a:off x="1371600" y="4974336"/>
            <a:ext cx="3200400" cy="384048"/>
          </a:xfrm>
          <a:prstGeom prst="rect">
            <a:avLst/>
          </a:prstGeom>
          <a:noFill/>
        </p:spPr>
        <p:txBody>
          <a:bodyPr wrap="square">
            <a:spAutoFit/>
          </a:bodyPr>
          <a:lstStyle/>
          <a:p>
            <a:pPr algn="l">
              <a:defRPr sz="1400" b="1">
                <a:solidFill>
                  <a:srgbClr val="333333"/>
                </a:solidFill>
              </a:defRPr>
            </a:pPr>
            <a:r>
              <a:t>Agentic development sprint</a:t>
            </a:r>
          </a:p>
        </p:txBody>
      </p:sp>
      <p:sp>
        <p:nvSpPr>
          <p:cNvPr id="32" name="TextBox 31"/>
          <p:cNvSpPr txBox="1"/>
          <p:nvPr/>
        </p:nvSpPr>
        <p:spPr>
          <a:xfrm>
            <a:off x="4572000" y="4974336"/>
            <a:ext cx="4572000" cy="384048"/>
          </a:xfrm>
          <a:prstGeom prst="rect">
            <a:avLst/>
          </a:prstGeom>
          <a:noFill/>
        </p:spPr>
        <p:txBody>
          <a:bodyPr wrap="square">
            <a:spAutoFit/>
          </a:bodyPr>
          <a:lstStyle/>
          <a:p>
            <a:pPr algn="l">
              <a:defRPr sz="1100" b="0">
                <a:solidFill>
                  <a:srgbClr val="666666"/>
                </a:solidFill>
              </a:defRPr>
            </a:pPr>
            <a:r>
              <a:t>Parallel build: backend APIs + mobile app + test suites</a:t>
            </a:r>
          </a:p>
        </p:txBody>
      </p:sp>
      <p:sp>
        <p:nvSpPr>
          <p:cNvPr id="33" name="TextBox 32"/>
          <p:cNvSpPr txBox="1"/>
          <p:nvPr/>
        </p:nvSpPr>
        <p:spPr>
          <a:xfrm>
            <a:off x="9601200" y="4974336"/>
            <a:ext cx="1828800" cy="384048"/>
          </a:xfrm>
          <a:prstGeom prst="rect">
            <a:avLst/>
          </a:prstGeom>
          <a:noFill/>
        </p:spPr>
        <p:txBody>
          <a:bodyPr wrap="square">
            <a:spAutoFit/>
          </a:bodyPr>
          <a:lstStyle/>
          <a:p>
            <a:pPr algn="r">
              <a:defRPr sz="1100" b="1">
                <a:solidFill>
                  <a:srgbClr val="D52B1E"/>
                </a:solidFill>
              </a:defRPr>
            </a:pPr>
            <a:r>
              <a:t>Weeks 5-10</a:t>
            </a:r>
          </a:p>
        </p:txBody>
      </p:sp>
      <p:sp>
        <p:nvSpPr>
          <p:cNvPr id="34" name="Rectangle 33"/>
          <p:cNvSpPr/>
          <p:nvPr/>
        </p:nvSpPr>
        <p:spPr>
          <a:xfrm>
            <a:off x="731520" y="5440680"/>
            <a:ext cx="457200" cy="41148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 y="5458968"/>
            <a:ext cx="457200" cy="411480"/>
          </a:xfrm>
          <a:prstGeom prst="rect">
            <a:avLst/>
          </a:prstGeom>
          <a:noFill/>
        </p:spPr>
        <p:txBody>
          <a:bodyPr wrap="square">
            <a:spAutoFit/>
          </a:bodyPr>
          <a:lstStyle/>
          <a:p>
            <a:pPr algn="ctr">
              <a:defRPr sz="1400" b="1">
                <a:solidFill>
                  <a:srgbClr val="FFFFFF"/>
                </a:solidFill>
              </a:defRPr>
            </a:pPr>
            <a:r>
              <a:t>5</a:t>
            </a:r>
          </a:p>
        </p:txBody>
      </p:sp>
      <p:sp>
        <p:nvSpPr>
          <p:cNvPr id="36" name="TextBox 35"/>
          <p:cNvSpPr txBox="1"/>
          <p:nvPr/>
        </p:nvSpPr>
        <p:spPr>
          <a:xfrm>
            <a:off x="1371600" y="5458968"/>
            <a:ext cx="3200400" cy="384048"/>
          </a:xfrm>
          <a:prstGeom prst="rect">
            <a:avLst/>
          </a:prstGeom>
          <a:noFill/>
        </p:spPr>
        <p:txBody>
          <a:bodyPr wrap="square">
            <a:spAutoFit/>
          </a:bodyPr>
          <a:lstStyle/>
          <a:p>
            <a:pPr algn="l">
              <a:defRPr sz="1400" b="1">
                <a:solidFill>
                  <a:srgbClr val="333333"/>
                </a:solidFill>
              </a:defRPr>
            </a:pPr>
            <a:r>
              <a:t>Integration &amp; hardening</a:t>
            </a:r>
          </a:p>
        </p:txBody>
      </p:sp>
      <p:sp>
        <p:nvSpPr>
          <p:cNvPr id="37" name="TextBox 36"/>
          <p:cNvSpPr txBox="1"/>
          <p:nvPr/>
        </p:nvSpPr>
        <p:spPr>
          <a:xfrm>
            <a:off x="4572000" y="5458968"/>
            <a:ext cx="4572000" cy="384048"/>
          </a:xfrm>
          <a:prstGeom prst="rect">
            <a:avLst/>
          </a:prstGeom>
          <a:noFill/>
        </p:spPr>
        <p:txBody>
          <a:bodyPr wrap="square">
            <a:spAutoFit/>
          </a:bodyPr>
          <a:lstStyle/>
          <a:p>
            <a:pPr algn="l">
              <a:defRPr sz="1100" b="0">
                <a:solidFill>
                  <a:srgbClr val="666666"/>
                </a:solidFill>
              </a:defRPr>
            </a:pPr>
            <a:r>
              <a:t>CTC backend integration, security audit, performance testing</a:t>
            </a:r>
          </a:p>
        </p:txBody>
      </p:sp>
      <p:sp>
        <p:nvSpPr>
          <p:cNvPr id="38" name="TextBox 37"/>
          <p:cNvSpPr txBox="1"/>
          <p:nvPr/>
        </p:nvSpPr>
        <p:spPr>
          <a:xfrm>
            <a:off x="9601200" y="5458968"/>
            <a:ext cx="1828800" cy="384048"/>
          </a:xfrm>
          <a:prstGeom prst="rect">
            <a:avLst/>
          </a:prstGeom>
          <a:noFill/>
        </p:spPr>
        <p:txBody>
          <a:bodyPr wrap="square">
            <a:spAutoFit/>
          </a:bodyPr>
          <a:lstStyle/>
          <a:p>
            <a:pPr algn="r">
              <a:defRPr sz="1100" b="1">
                <a:solidFill>
                  <a:srgbClr val="D52B1E"/>
                </a:solidFill>
              </a:defRPr>
            </a:pPr>
            <a:r>
              <a:t>Weeks 10-13</a:t>
            </a:r>
          </a:p>
        </p:txBody>
      </p:sp>
      <p:sp>
        <p:nvSpPr>
          <p:cNvPr id="39" name="Rectangle 38"/>
          <p:cNvSpPr/>
          <p:nvPr/>
        </p:nvSpPr>
        <p:spPr>
          <a:xfrm>
            <a:off x="731520" y="5925312"/>
            <a:ext cx="457200" cy="41148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5943600"/>
            <a:ext cx="457200" cy="411480"/>
          </a:xfrm>
          <a:prstGeom prst="rect">
            <a:avLst/>
          </a:prstGeom>
          <a:noFill/>
        </p:spPr>
        <p:txBody>
          <a:bodyPr wrap="square">
            <a:spAutoFit/>
          </a:bodyPr>
          <a:lstStyle/>
          <a:p>
            <a:pPr algn="ctr">
              <a:defRPr sz="1400" b="1">
                <a:solidFill>
                  <a:srgbClr val="FFFFFF"/>
                </a:solidFill>
              </a:defRPr>
            </a:pPr>
            <a:r>
              <a:t>6</a:t>
            </a:r>
          </a:p>
        </p:txBody>
      </p:sp>
      <p:sp>
        <p:nvSpPr>
          <p:cNvPr id="41" name="TextBox 40"/>
          <p:cNvSpPr txBox="1"/>
          <p:nvPr/>
        </p:nvSpPr>
        <p:spPr>
          <a:xfrm>
            <a:off x="1371600" y="5943600"/>
            <a:ext cx="3200400" cy="384048"/>
          </a:xfrm>
          <a:prstGeom prst="rect">
            <a:avLst/>
          </a:prstGeom>
          <a:noFill/>
        </p:spPr>
        <p:txBody>
          <a:bodyPr wrap="square">
            <a:spAutoFit/>
          </a:bodyPr>
          <a:lstStyle/>
          <a:p>
            <a:pPr algn="l">
              <a:defRPr sz="1400" b="1">
                <a:solidFill>
                  <a:srgbClr val="333333"/>
                </a:solidFill>
              </a:defRPr>
            </a:pPr>
            <a:r>
              <a:t>Pilot launch (50 stores)</a:t>
            </a:r>
          </a:p>
        </p:txBody>
      </p:sp>
      <p:sp>
        <p:nvSpPr>
          <p:cNvPr id="42" name="TextBox 41"/>
          <p:cNvSpPr txBox="1"/>
          <p:nvPr/>
        </p:nvSpPr>
        <p:spPr>
          <a:xfrm>
            <a:off x="4572000" y="5943600"/>
            <a:ext cx="4572000" cy="384048"/>
          </a:xfrm>
          <a:prstGeom prst="rect">
            <a:avLst/>
          </a:prstGeom>
          <a:noFill/>
        </p:spPr>
        <p:txBody>
          <a:bodyPr wrap="square">
            <a:spAutoFit/>
          </a:bodyPr>
          <a:lstStyle/>
          <a:p>
            <a:pPr algn="l">
              <a:defRPr sz="1100" b="0">
                <a:solidFill>
                  <a:srgbClr val="666666"/>
                </a:solidFill>
              </a:defRPr>
            </a:pPr>
            <a:r>
              <a:t>Staged rollout with A/B testing, real-time monitoring</a:t>
            </a:r>
          </a:p>
        </p:txBody>
      </p:sp>
      <p:sp>
        <p:nvSpPr>
          <p:cNvPr id="43" name="TextBox 42"/>
          <p:cNvSpPr txBox="1"/>
          <p:nvPr/>
        </p:nvSpPr>
        <p:spPr>
          <a:xfrm>
            <a:off x="9601200" y="5943600"/>
            <a:ext cx="1828800" cy="384048"/>
          </a:xfrm>
          <a:prstGeom prst="rect">
            <a:avLst/>
          </a:prstGeom>
          <a:noFill/>
        </p:spPr>
        <p:txBody>
          <a:bodyPr wrap="square">
            <a:spAutoFit/>
          </a:bodyPr>
          <a:lstStyle/>
          <a:p>
            <a:pPr algn="r">
              <a:defRPr sz="1100" b="1">
                <a:solidFill>
                  <a:srgbClr val="D52B1E"/>
                </a:solidFill>
              </a:defRPr>
            </a:pPr>
            <a:r>
              <a:t>Weeks 13-15</a:t>
            </a:r>
          </a:p>
        </p:txBody>
      </p:sp>
      <p:sp>
        <p:nvSpPr>
          <p:cNvPr id="44" name="Rectangle 43"/>
          <p:cNvSpPr/>
          <p:nvPr/>
        </p:nvSpPr>
        <p:spPr>
          <a:xfrm>
            <a:off x="731520" y="5943600"/>
            <a:ext cx="10515600" cy="73152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97280" y="5989320"/>
            <a:ext cx="2286000" cy="365760"/>
          </a:xfrm>
          <a:prstGeom prst="rect">
            <a:avLst/>
          </a:prstGeom>
          <a:noFill/>
        </p:spPr>
        <p:txBody>
          <a:bodyPr wrap="square">
            <a:spAutoFit/>
          </a:bodyPr>
          <a:lstStyle/>
          <a:p>
            <a:pPr algn="ctr">
              <a:defRPr sz="2000" b="1">
                <a:solidFill>
                  <a:srgbClr val="FFFFFF"/>
                </a:solidFill>
              </a:defRPr>
            </a:pPr>
            <a:r>
              <a:t>$189.5M</a:t>
            </a:r>
          </a:p>
        </p:txBody>
      </p:sp>
      <p:sp>
        <p:nvSpPr>
          <p:cNvPr id="46" name="TextBox 45"/>
          <p:cNvSpPr txBox="1"/>
          <p:nvPr/>
        </p:nvSpPr>
        <p:spPr>
          <a:xfrm>
            <a:off x="1097280" y="6309360"/>
            <a:ext cx="2286000" cy="274320"/>
          </a:xfrm>
          <a:prstGeom prst="rect">
            <a:avLst/>
          </a:prstGeom>
          <a:noFill/>
        </p:spPr>
        <p:txBody>
          <a:bodyPr wrap="square">
            <a:spAutoFit/>
          </a:bodyPr>
          <a:lstStyle/>
          <a:p>
            <a:pPr algn="ctr">
              <a:defRPr sz="1100" b="0">
                <a:solidFill>
                  <a:srgbClr val="CCCCCC"/>
                </a:solidFill>
              </a:defRPr>
            </a:pPr>
            <a:r>
              <a:t>CAD revenue uplift/yr</a:t>
            </a:r>
          </a:p>
        </p:txBody>
      </p:sp>
      <p:sp>
        <p:nvSpPr>
          <p:cNvPr id="47" name="TextBox 46"/>
          <p:cNvSpPr txBox="1"/>
          <p:nvPr/>
        </p:nvSpPr>
        <p:spPr>
          <a:xfrm>
            <a:off x="3749039" y="5989320"/>
            <a:ext cx="2286000" cy="365760"/>
          </a:xfrm>
          <a:prstGeom prst="rect">
            <a:avLst/>
          </a:prstGeom>
          <a:noFill/>
        </p:spPr>
        <p:txBody>
          <a:bodyPr wrap="square">
            <a:spAutoFit/>
          </a:bodyPr>
          <a:lstStyle/>
          <a:p>
            <a:pPr algn="ctr">
              <a:defRPr sz="2000" b="1">
                <a:solidFill>
                  <a:srgbClr val="FFFFFF"/>
                </a:solidFill>
              </a:defRPr>
            </a:pPr>
            <a:r>
              <a:t>$344K</a:t>
            </a:r>
          </a:p>
        </p:txBody>
      </p:sp>
      <p:sp>
        <p:nvSpPr>
          <p:cNvPr id="48" name="TextBox 47"/>
          <p:cNvSpPr txBox="1"/>
          <p:nvPr/>
        </p:nvSpPr>
        <p:spPr>
          <a:xfrm>
            <a:off x="3749039" y="6309360"/>
            <a:ext cx="2286000" cy="274320"/>
          </a:xfrm>
          <a:prstGeom prst="rect">
            <a:avLst/>
          </a:prstGeom>
          <a:noFill/>
        </p:spPr>
        <p:txBody>
          <a:bodyPr wrap="square">
            <a:spAutoFit/>
          </a:bodyPr>
          <a:lstStyle/>
          <a:p>
            <a:pPr algn="ctr">
              <a:defRPr sz="1100" b="0">
                <a:solidFill>
                  <a:srgbClr val="CCCCCC"/>
                </a:solidFill>
              </a:defRPr>
            </a:pPr>
            <a:r>
              <a:t>CAD EliteA investment</a:t>
            </a:r>
          </a:p>
        </p:txBody>
      </p:sp>
      <p:sp>
        <p:nvSpPr>
          <p:cNvPr id="49" name="TextBox 48"/>
          <p:cNvSpPr txBox="1"/>
          <p:nvPr/>
        </p:nvSpPr>
        <p:spPr>
          <a:xfrm>
            <a:off x="6400800" y="5989320"/>
            <a:ext cx="2286000" cy="365760"/>
          </a:xfrm>
          <a:prstGeom prst="rect">
            <a:avLst/>
          </a:prstGeom>
          <a:noFill/>
        </p:spPr>
        <p:txBody>
          <a:bodyPr wrap="square">
            <a:spAutoFit/>
          </a:bodyPr>
          <a:lstStyle/>
          <a:p>
            <a:pPr algn="ctr">
              <a:defRPr sz="2000" b="1">
                <a:solidFill>
                  <a:srgbClr val="FFFFFF"/>
                </a:solidFill>
              </a:defRPr>
            </a:pPr>
            <a:r>
              <a:t>15 weeks</a:t>
            </a:r>
          </a:p>
        </p:txBody>
      </p:sp>
      <p:sp>
        <p:nvSpPr>
          <p:cNvPr id="50" name="TextBox 49"/>
          <p:cNvSpPr txBox="1"/>
          <p:nvPr/>
        </p:nvSpPr>
        <p:spPr>
          <a:xfrm>
            <a:off x="6400800" y="6309360"/>
            <a:ext cx="2286000" cy="274320"/>
          </a:xfrm>
          <a:prstGeom prst="rect">
            <a:avLst/>
          </a:prstGeom>
          <a:noFill/>
        </p:spPr>
        <p:txBody>
          <a:bodyPr wrap="square">
            <a:spAutoFit/>
          </a:bodyPr>
          <a:lstStyle/>
          <a:p>
            <a:pPr algn="ctr">
              <a:defRPr sz="1100" b="0">
                <a:solidFill>
                  <a:srgbClr val="CCCCCC"/>
                </a:solidFill>
              </a:defRPr>
            </a:pPr>
            <a:r>
              <a:t>to pilot launch</a:t>
            </a:r>
          </a:p>
        </p:txBody>
      </p:sp>
      <p:sp>
        <p:nvSpPr>
          <p:cNvPr id="51" name="TextBox 50"/>
          <p:cNvSpPr txBox="1"/>
          <p:nvPr/>
        </p:nvSpPr>
        <p:spPr>
          <a:xfrm>
            <a:off x="9052559" y="5989320"/>
            <a:ext cx="2286000" cy="365760"/>
          </a:xfrm>
          <a:prstGeom prst="rect">
            <a:avLst/>
          </a:prstGeom>
          <a:noFill/>
        </p:spPr>
        <p:txBody>
          <a:bodyPr wrap="square">
            <a:spAutoFit/>
          </a:bodyPr>
          <a:lstStyle/>
          <a:p>
            <a:pPr algn="ctr">
              <a:defRPr sz="2000" b="1">
                <a:solidFill>
                  <a:srgbClr val="FFFFFF"/>
                </a:solidFill>
              </a:defRPr>
            </a:pPr>
            <a:r>
              <a:t>19,270%</a:t>
            </a:r>
          </a:p>
        </p:txBody>
      </p:sp>
      <p:sp>
        <p:nvSpPr>
          <p:cNvPr id="52" name="TextBox 51"/>
          <p:cNvSpPr txBox="1"/>
          <p:nvPr/>
        </p:nvSpPr>
        <p:spPr>
          <a:xfrm>
            <a:off x="9052559" y="6309360"/>
            <a:ext cx="2286000" cy="274320"/>
          </a:xfrm>
          <a:prstGeom prst="rect">
            <a:avLst/>
          </a:prstGeom>
          <a:noFill/>
        </p:spPr>
        <p:txBody>
          <a:bodyPr wrap="square">
            <a:spAutoFit/>
          </a:bodyPr>
          <a:lstStyle/>
          <a:p>
            <a:pPr algn="ctr">
              <a:defRPr sz="1100" b="0">
                <a:solidFill>
                  <a:srgbClr val="CCCCCC"/>
                </a:solidFill>
              </a:defRPr>
            </a:pPr>
            <a:r>
              <a:t>Year 1 ROI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640080"/>
          </a:xfrm>
          <a:prstGeom prst="rect">
            <a:avLst/>
          </a:prstGeom>
          <a:noFill/>
        </p:spPr>
        <p:txBody>
          <a:bodyPr wrap="square">
            <a:spAutoFit/>
          </a:bodyPr>
          <a:lstStyle/>
          <a:p>
            <a:pPr algn="l">
              <a:defRPr sz="3200" b="1">
                <a:solidFill>
                  <a:srgbClr val="FFFFFF"/>
                </a:solidFill>
              </a:defRPr>
            </a:pPr>
            <a:r>
              <a:t>Appendix A: Consumer Benefits — Deep Dive</a:t>
            </a:r>
          </a:p>
        </p:txBody>
      </p:sp>
      <p:sp>
        <p:nvSpPr>
          <p:cNvPr id="4" name="TextBox 3"/>
          <p:cNvSpPr txBox="1"/>
          <p:nvPr/>
        </p:nvSpPr>
        <p:spPr>
          <a:xfrm>
            <a:off x="548640" y="6400800"/>
            <a:ext cx="4572000" cy="365760"/>
          </a:xfrm>
          <a:prstGeom prst="rect">
            <a:avLst/>
          </a:prstGeom>
          <a:noFill/>
        </p:spPr>
        <p:txBody>
          <a:bodyPr wrap="square">
            <a:spAutoFit/>
          </a:bodyPr>
          <a:lstStyle/>
          <a:p>
            <a:pPr algn="l">
              <a:defRPr sz="1000" b="0">
                <a:solidFill>
                  <a:srgbClr val="666666"/>
                </a:solidFill>
              </a:defRPr>
            </a:pPr>
            <a:r>
              <a:t>EPAM Systems | Confidential</a:t>
            </a:r>
          </a:p>
        </p:txBody>
      </p:sp>
      <p:sp>
        <p:nvSpPr>
          <p:cNvPr id="5" name="TextBox 4"/>
          <p:cNvSpPr txBox="1"/>
          <p:nvPr/>
        </p:nvSpPr>
        <p:spPr>
          <a:xfrm>
            <a:off x="8229600" y="6400800"/>
            <a:ext cx="3657600" cy="365760"/>
          </a:xfrm>
          <a:prstGeom prst="rect">
            <a:avLst/>
          </a:prstGeom>
          <a:noFill/>
        </p:spPr>
        <p:txBody>
          <a:bodyPr wrap="square">
            <a:spAutoFit/>
          </a:bodyPr>
          <a:lstStyle/>
          <a:p>
            <a:pPr algn="r">
              <a:defRPr sz="1000" b="0">
                <a:solidFill>
                  <a:srgbClr val="666666"/>
                </a:solidFill>
              </a:defRPr>
            </a:pPr>
            <a:r>
              <a:t>CTC Mobile Wishlist — Business Case</a:t>
            </a:r>
          </a:p>
        </p:txBody>
      </p:sp>
      <p:sp>
        <p:nvSpPr>
          <p:cNvPr id="6" name="TextBox 5"/>
          <p:cNvSpPr txBox="1"/>
          <p:nvPr/>
        </p:nvSpPr>
        <p:spPr>
          <a:xfrm>
            <a:off x="731520" y="1188720"/>
            <a:ext cx="10972800" cy="320040"/>
          </a:xfrm>
          <a:prstGeom prst="rect">
            <a:avLst/>
          </a:prstGeom>
          <a:noFill/>
        </p:spPr>
        <p:txBody>
          <a:bodyPr wrap="square">
            <a:spAutoFit/>
          </a:bodyPr>
          <a:lstStyle/>
          <a:p>
            <a:pPr algn="l">
              <a:defRPr sz="1300" b="1">
                <a:solidFill>
                  <a:srgbClr val="D52B1E"/>
                </a:solidFill>
              </a:defRPr>
            </a:pPr>
            <a:r>
              <a:t>Save for Later — Reducing Decision Fatigue</a:t>
            </a:r>
          </a:p>
        </p:txBody>
      </p:sp>
      <p:sp>
        <p:nvSpPr>
          <p:cNvPr id="7" name="TextBox 6"/>
          <p:cNvSpPr txBox="1"/>
          <p:nvPr/>
        </p:nvSpPr>
        <p:spPr>
          <a:xfrm>
            <a:off x="731520" y="1481328"/>
            <a:ext cx="10972800" cy="777240"/>
          </a:xfrm>
          <a:prstGeom prst="rect">
            <a:avLst/>
          </a:prstGeom>
          <a:noFill/>
        </p:spPr>
        <p:txBody>
          <a:bodyPr wrap="square">
            <a:spAutoFit/>
          </a:bodyPr>
          <a:lstStyle/>
          <a:p>
            <a:pPr algn="l">
              <a:defRPr sz="900" b="0">
                <a:solidFill>
                  <a:srgbClr val="333333"/>
                </a:solidFill>
              </a:defRPr>
            </a:pPr>
            <a:r>
              <a:t>Shoppers frequently browse without immediate purchase intent. Today, if a CTC customer finds an interesting product in-store or online but isn't ready to buy, they have no way to save it within the CTC ecosystem. The item is lost. A wishlist creates a persistent, personal catalog of intent — items the customer wants but hasn't committed to yet. This reduces the cognitive load of remembering products, eliminates the friction of re-finding them later, and keeps the customer anchored to CTC rather than searching elsewhere. Industry data shows wishlists increase return visit rates by 30-50%, because the customer now has a reason to come back.</a:t>
            </a:r>
          </a:p>
        </p:txBody>
      </p:sp>
      <p:sp>
        <p:nvSpPr>
          <p:cNvPr id="8" name="TextBox 7"/>
          <p:cNvSpPr txBox="1"/>
          <p:nvPr/>
        </p:nvSpPr>
        <p:spPr>
          <a:xfrm>
            <a:off x="731520" y="2286000"/>
            <a:ext cx="10972800" cy="320040"/>
          </a:xfrm>
          <a:prstGeom prst="rect">
            <a:avLst/>
          </a:prstGeom>
          <a:noFill/>
        </p:spPr>
        <p:txBody>
          <a:bodyPr wrap="square">
            <a:spAutoFit/>
          </a:bodyPr>
          <a:lstStyle/>
          <a:p>
            <a:pPr algn="l">
              <a:defRPr sz="1300" b="1">
                <a:solidFill>
                  <a:srgbClr val="D52B1E"/>
                </a:solidFill>
              </a:defRPr>
            </a:pPr>
            <a:r>
              <a:t>In-Store to Digital Bridge — Barcode Scanning</a:t>
            </a:r>
          </a:p>
        </p:txBody>
      </p:sp>
      <p:sp>
        <p:nvSpPr>
          <p:cNvPr id="9" name="TextBox 8"/>
          <p:cNvSpPr txBox="1"/>
          <p:nvPr/>
        </p:nvSpPr>
        <p:spPr>
          <a:xfrm>
            <a:off x="731520" y="2578608"/>
            <a:ext cx="10972800" cy="777240"/>
          </a:xfrm>
          <a:prstGeom prst="rect">
            <a:avLst/>
          </a:prstGeom>
          <a:noFill/>
        </p:spPr>
        <p:txBody>
          <a:bodyPr wrap="square">
            <a:spAutoFit/>
          </a:bodyPr>
          <a:lstStyle/>
          <a:p>
            <a:pPr algn="l">
              <a:defRPr sz="900" b="0">
                <a:solidFill>
                  <a:srgbClr val="333333"/>
                </a:solidFill>
              </a:defRPr>
            </a:pPr>
            <a:r>
              <a:t>Canadian Tire's 500+ stores are a massive discovery engine — customers touch, compare, and evaluate products in person. But that in-store discovery currently dead-ends. A customer who sees a Mastercraft drill on the shelf but wants to think about it has no way to capture that moment digitally. Barcode scanning bridges this gap: point the phone, scan the shelf tag, and the product is saved to a wishlist in seconds. The customer can then purchase online, at a different store, or during a future visit. This is especially powerful for high-consideration items (power tools, sporting equipment, appliances) where the purchase cycle spans days or weeks.</a:t>
            </a:r>
          </a:p>
        </p:txBody>
      </p:sp>
      <p:sp>
        <p:nvSpPr>
          <p:cNvPr id="10" name="TextBox 9"/>
          <p:cNvSpPr txBox="1"/>
          <p:nvPr/>
        </p:nvSpPr>
        <p:spPr>
          <a:xfrm>
            <a:off x="731520" y="3383280"/>
            <a:ext cx="10972800" cy="320040"/>
          </a:xfrm>
          <a:prstGeom prst="rect">
            <a:avLst/>
          </a:prstGeom>
          <a:noFill/>
        </p:spPr>
        <p:txBody>
          <a:bodyPr wrap="square">
            <a:spAutoFit/>
          </a:bodyPr>
          <a:lstStyle/>
          <a:p>
            <a:pPr algn="l">
              <a:defRPr sz="1300" b="1">
                <a:solidFill>
                  <a:srgbClr val="D52B1E"/>
                </a:solidFill>
              </a:defRPr>
            </a:pPr>
            <a:r>
              <a:t>Gift Coordination — Eliminating Duplicate Gifts</a:t>
            </a:r>
          </a:p>
        </p:txBody>
      </p:sp>
      <p:sp>
        <p:nvSpPr>
          <p:cNvPr id="11" name="TextBox 10"/>
          <p:cNvSpPr txBox="1"/>
          <p:nvPr/>
        </p:nvSpPr>
        <p:spPr>
          <a:xfrm>
            <a:off x="731520" y="3675888"/>
            <a:ext cx="10972800" cy="777240"/>
          </a:xfrm>
          <a:prstGeom prst="rect">
            <a:avLst/>
          </a:prstGeom>
          <a:noFill/>
        </p:spPr>
        <p:txBody>
          <a:bodyPr wrap="square">
            <a:spAutoFit/>
          </a:bodyPr>
          <a:lstStyle/>
          <a:p>
            <a:pPr algn="l">
              <a:defRPr sz="900" b="0">
                <a:solidFill>
                  <a:srgbClr val="333333"/>
                </a:solidFill>
              </a:defRPr>
            </a:pPr>
            <a:r>
              <a:t>Gift-giving is a $30B+ annual category in Canadian retail, with major peaks at Christmas, birthdays, Father's/Mother's Day, and back-to-school. The #1 pain point for gift buyers is uncertainty — "What do they actually want?" and "Has someone else already bought this?" Shared wishlists solve both problems. The recipient curates exactly what they want from CTC's catalog. Multiple gift-givers can see the list and claim items, ensuring no duplicates. This drives full-price purchases (gift-givers rarely comparison-shop for specific wished items) and significantly higher fulfilment rates — industry data shows 60-70% of shared wishlist items get purchased vs. ~15% conversion on generic browsing.</a:t>
            </a:r>
          </a:p>
        </p:txBody>
      </p:sp>
      <p:sp>
        <p:nvSpPr>
          <p:cNvPr id="12" name="TextBox 11"/>
          <p:cNvSpPr txBox="1"/>
          <p:nvPr/>
        </p:nvSpPr>
        <p:spPr>
          <a:xfrm>
            <a:off x="731520" y="4480559"/>
            <a:ext cx="10972800" cy="320040"/>
          </a:xfrm>
          <a:prstGeom prst="rect">
            <a:avLst/>
          </a:prstGeom>
          <a:noFill/>
        </p:spPr>
        <p:txBody>
          <a:bodyPr wrap="square">
            <a:spAutoFit/>
          </a:bodyPr>
          <a:lstStyle/>
          <a:p>
            <a:pPr algn="l">
              <a:defRPr sz="1300" b="1">
                <a:solidFill>
                  <a:srgbClr val="D52B1E"/>
                </a:solidFill>
              </a:defRPr>
            </a:pPr>
            <a:r>
              <a:t>Price Monitoring — Sale Alert Re-engagement</a:t>
            </a:r>
          </a:p>
        </p:txBody>
      </p:sp>
      <p:sp>
        <p:nvSpPr>
          <p:cNvPr id="13" name="TextBox 12"/>
          <p:cNvSpPr txBox="1"/>
          <p:nvPr/>
        </p:nvSpPr>
        <p:spPr>
          <a:xfrm>
            <a:off x="731520" y="4773167"/>
            <a:ext cx="10972800" cy="777240"/>
          </a:xfrm>
          <a:prstGeom prst="rect">
            <a:avLst/>
          </a:prstGeom>
          <a:noFill/>
        </p:spPr>
        <p:txBody>
          <a:bodyPr wrap="square">
            <a:spAutoFit/>
          </a:bodyPr>
          <a:lstStyle/>
          <a:p>
            <a:pPr algn="l">
              <a:defRPr sz="900" b="0">
                <a:solidFill>
                  <a:srgbClr val="333333"/>
                </a:solidFill>
              </a:defRPr>
            </a:pPr>
            <a:r>
              <a:t>Canadian Tire runs frequent promotional cycles — weekly flyers, seasonal sales, clearance events. A wishlist transforms these promotions from spray-and-pray to precision-targeted. When a wishlisted item goes on sale, the customer gets a personalized notification: "Your Yardworks pressure washer is now 25% off." This is 5-8x more effective than generic promotional emails because the intent already exists — the customer already told you they want this item. For CTC, this means higher promotion ROI, reduced promotional waste, and incremental conversions that wouldn't happen without the trigger.</a:t>
            </a:r>
          </a:p>
        </p:txBody>
      </p:sp>
      <p:sp>
        <p:nvSpPr>
          <p:cNvPr id="14" name="TextBox 13"/>
          <p:cNvSpPr txBox="1"/>
          <p:nvPr/>
        </p:nvSpPr>
        <p:spPr>
          <a:xfrm>
            <a:off x="731520" y="5577840"/>
            <a:ext cx="10972800" cy="320040"/>
          </a:xfrm>
          <a:prstGeom prst="rect">
            <a:avLst/>
          </a:prstGeom>
          <a:noFill/>
        </p:spPr>
        <p:txBody>
          <a:bodyPr wrap="square">
            <a:spAutoFit/>
          </a:bodyPr>
          <a:lstStyle/>
          <a:p>
            <a:pPr algn="l">
              <a:defRPr sz="1300" b="1">
                <a:solidFill>
                  <a:srgbClr val="D52B1E"/>
                </a:solidFill>
              </a:defRPr>
            </a:pPr>
            <a:r>
              <a:t>Cross-Device Continuity — Seamless Shopping Journey</a:t>
            </a:r>
          </a:p>
        </p:txBody>
      </p:sp>
      <p:sp>
        <p:nvSpPr>
          <p:cNvPr id="15" name="TextBox 14"/>
          <p:cNvSpPr txBox="1"/>
          <p:nvPr/>
        </p:nvSpPr>
        <p:spPr>
          <a:xfrm>
            <a:off x="731520" y="5870448"/>
            <a:ext cx="10972800" cy="777240"/>
          </a:xfrm>
          <a:prstGeom prst="rect">
            <a:avLst/>
          </a:prstGeom>
          <a:noFill/>
        </p:spPr>
        <p:txBody>
          <a:bodyPr wrap="square">
            <a:spAutoFit/>
          </a:bodyPr>
          <a:lstStyle/>
          <a:p>
            <a:pPr algn="l">
              <a:defRPr sz="900" b="0">
                <a:solidFill>
                  <a:srgbClr val="333333"/>
                </a:solidFill>
              </a:defRPr>
            </a:pPr>
            <a:r>
              <a:t>Modern retail journeys span multiple devices and touchpoints. A customer might scan a barcode in-store on their phone, review the wishlist on a tablet at home, and complete the purchase on a desktop computer. Wishlist data synced across devices (via Triangle account) ensures no friction in this journey. The customer never has to re-find a product or remember which store they saw it in. This is particularly valuable for CTC's cross-banner ecosystem — a customer could add a Mark's jacket, a Canadian Tire drill, and SportChek running shoes to the same wishlist, then check out items from each banner seamlessly.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640080"/>
          </a:xfrm>
          <a:prstGeom prst="rect">
            <a:avLst/>
          </a:prstGeom>
          <a:noFill/>
        </p:spPr>
        <p:txBody>
          <a:bodyPr wrap="square">
            <a:spAutoFit/>
          </a:bodyPr>
          <a:lstStyle/>
          <a:p>
            <a:pPr algn="l">
              <a:defRPr sz="3200" b="1">
                <a:solidFill>
                  <a:srgbClr val="FFFFFF"/>
                </a:solidFill>
              </a:defRPr>
            </a:pPr>
            <a:r>
              <a:t>Appendix B: CTC Business Benefits — Deep Dive</a:t>
            </a:r>
          </a:p>
        </p:txBody>
      </p:sp>
      <p:sp>
        <p:nvSpPr>
          <p:cNvPr id="4" name="TextBox 3"/>
          <p:cNvSpPr txBox="1"/>
          <p:nvPr/>
        </p:nvSpPr>
        <p:spPr>
          <a:xfrm>
            <a:off x="548640" y="6400800"/>
            <a:ext cx="4572000" cy="365760"/>
          </a:xfrm>
          <a:prstGeom prst="rect">
            <a:avLst/>
          </a:prstGeom>
          <a:noFill/>
        </p:spPr>
        <p:txBody>
          <a:bodyPr wrap="square">
            <a:spAutoFit/>
          </a:bodyPr>
          <a:lstStyle/>
          <a:p>
            <a:pPr algn="l">
              <a:defRPr sz="1000" b="0">
                <a:solidFill>
                  <a:srgbClr val="666666"/>
                </a:solidFill>
              </a:defRPr>
            </a:pPr>
            <a:r>
              <a:t>EPAM Systems | Confidential</a:t>
            </a:r>
          </a:p>
        </p:txBody>
      </p:sp>
      <p:sp>
        <p:nvSpPr>
          <p:cNvPr id="5" name="TextBox 4"/>
          <p:cNvSpPr txBox="1"/>
          <p:nvPr/>
        </p:nvSpPr>
        <p:spPr>
          <a:xfrm>
            <a:off x="8229600" y="6400800"/>
            <a:ext cx="3657600" cy="365760"/>
          </a:xfrm>
          <a:prstGeom prst="rect">
            <a:avLst/>
          </a:prstGeom>
          <a:noFill/>
        </p:spPr>
        <p:txBody>
          <a:bodyPr wrap="square">
            <a:spAutoFit/>
          </a:bodyPr>
          <a:lstStyle/>
          <a:p>
            <a:pPr algn="r">
              <a:defRPr sz="1000" b="0">
                <a:solidFill>
                  <a:srgbClr val="666666"/>
                </a:solidFill>
              </a:defRPr>
            </a:pPr>
            <a:r>
              <a:t>CTC Mobile Wishlist — Business Case</a:t>
            </a:r>
          </a:p>
        </p:txBody>
      </p:sp>
      <p:sp>
        <p:nvSpPr>
          <p:cNvPr id="6" name="TextBox 5"/>
          <p:cNvSpPr txBox="1"/>
          <p:nvPr/>
        </p:nvSpPr>
        <p:spPr>
          <a:xfrm>
            <a:off x="731520" y="1188720"/>
            <a:ext cx="10972800" cy="320040"/>
          </a:xfrm>
          <a:prstGeom prst="rect">
            <a:avLst/>
          </a:prstGeom>
          <a:noFill/>
        </p:spPr>
        <p:txBody>
          <a:bodyPr wrap="square">
            <a:spAutoFit/>
          </a:bodyPr>
          <a:lstStyle/>
          <a:p>
            <a:pPr algn="l">
              <a:defRPr sz="1300" b="1">
                <a:solidFill>
                  <a:srgbClr val="2E7D32"/>
                </a:solidFill>
              </a:defRPr>
            </a:pPr>
            <a:r>
              <a:t>First-Party Intent Data — What Customers WANT</a:t>
            </a:r>
          </a:p>
        </p:txBody>
      </p:sp>
      <p:sp>
        <p:nvSpPr>
          <p:cNvPr id="7" name="TextBox 6"/>
          <p:cNvSpPr txBox="1"/>
          <p:nvPr/>
        </p:nvSpPr>
        <p:spPr>
          <a:xfrm>
            <a:off x="731520" y="1463040"/>
            <a:ext cx="10972800" cy="640080"/>
          </a:xfrm>
          <a:prstGeom prst="rect">
            <a:avLst/>
          </a:prstGeom>
          <a:noFill/>
        </p:spPr>
        <p:txBody>
          <a:bodyPr wrap="square">
            <a:spAutoFit/>
          </a:bodyPr>
          <a:lstStyle/>
          <a:p>
            <a:pPr algn="l">
              <a:defRPr sz="900" b="0">
                <a:solidFill>
                  <a:srgbClr val="333333"/>
                </a:solidFill>
              </a:defRPr>
            </a:pPr>
            <a:r>
              <a:t>Purchase data tells CTC what customers bought. Wishlist data tells CTC what customers want but haven't bought yet — a fundamentally different and more valuable signal. This intent data enables: (a) targeted promotions with known ROI (promote a product to people who already want it), (b) merchandising insights (which products are wishlisted most but purchased least — price barrier? availability?), (c) ad targeting for CTC's retail media network (brands pay premium to target high-intent audiences), and (d) demand forecasting with forward-looking signals rather than backward-looking sales data.</a:t>
            </a:r>
          </a:p>
        </p:txBody>
      </p:sp>
      <p:sp>
        <p:nvSpPr>
          <p:cNvPr id="8" name="TextBox 7"/>
          <p:cNvSpPr txBox="1"/>
          <p:nvPr/>
        </p:nvSpPr>
        <p:spPr>
          <a:xfrm>
            <a:off x="731520" y="2103120"/>
            <a:ext cx="10972800" cy="320040"/>
          </a:xfrm>
          <a:prstGeom prst="rect">
            <a:avLst/>
          </a:prstGeom>
          <a:noFill/>
        </p:spPr>
        <p:txBody>
          <a:bodyPr wrap="square">
            <a:spAutoFit/>
          </a:bodyPr>
          <a:lstStyle/>
          <a:p>
            <a:pPr algn="l">
              <a:defRPr sz="1300" b="1">
                <a:solidFill>
                  <a:srgbClr val="2E7D32"/>
                </a:solidFill>
              </a:defRPr>
            </a:pPr>
            <a:r>
              <a:t>Triangle Rewards Enrichment — Canada's Richest Intent Dataset</a:t>
            </a:r>
          </a:p>
        </p:txBody>
      </p:sp>
      <p:sp>
        <p:nvSpPr>
          <p:cNvPr id="9" name="TextBox 8"/>
          <p:cNvSpPr txBox="1"/>
          <p:nvPr/>
        </p:nvSpPr>
        <p:spPr>
          <a:xfrm>
            <a:off x="731520" y="2377440"/>
            <a:ext cx="10972800" cy="640080"/>
          </a:xfrm>
          <a:prstGeom prst="rect">
            <a:avLst/>
          </a:prstGeom>
          <a:noFill/>
        </p:spPr>
        <p:txBody>
          <a:bodyPr wrap="square">
            <a:spAutoFit/>
          </a:bodyPr>
          <a:lstStyle/>
          <a:p>
            <a:pPr algn="l">
              <a:defRPr sz="900" b="0">
                <a:solidFill>
                  <a:srgbClr val="333333"/>
                </a:solidFill>
              </a:defRPr>
            </a:pPr>
            <a:r>
              <a:t>CTC's 16M Triangle members already generate purchase, loyalty, and demographic data. Layering wishlist intent data on top creates an unmatched customer intelligence platform. CTC can build predictive models: "Customers who wishlisted X also purchased Y within 30 days." This powers personalized recommendations, dynamic pricing experiments, and a retail media offering that competes with Amazon's ad platform in the Canadian market. No other Canadian retailer has both the loyalty scale (16M) and the cross-category breadth (automotive, sporting goods, apparel, celebrations, outdoor) to build this.</a:t>
            </a:r>
          </a:p>
        </p:txBody>
      </p:sp>
      <p:sp>
        <p:nvSpPr>
          <p:cNvPr id="10" name="TextBox 9"/>
          <p:cNvSpPr txBox="1"/>
          <p:nvPr/>
        </p:nvSpPr>
        <p:spPr>
          <a:xfrm>
            <a:off x="731520" y="3017520"/>
            <a:ext cx="10972800" cy="320040"/>
          </a:xfrm>
          <a:prstGeom prst="rect">
            <a:avLst/>
          </a:prstGeom>
          <a:noFill/>
        </p:spPr>
        <p:txBody>
          <a:bodyPr wrap="square">
            <a:spAutoFit/>
          </a:bodyPr>
          <a:lstStyle/>
          <a:p>
            <a:pPr algn="l">
              <a:defRPr sz="1300" b="1">
                <a:solidFill>
                  <a:srgbClr val="2E7D32"/>
                </a:solidFill>
              </a:defRPr>
            </a:pPr>
            <a:r>
              <a:t>Seasonal Revenue Capture — Converting Browsing to Pipelines</a:t>
            </a:r>
          </a:p>
        </p:txBody>
      </p:sp>
      <p:sp>
        <p:nvSpPr>
          <p:cNvPr id="11" name="TextBox 10"/>
          <p:cNvSpPr txBox="1"/>
          <p:nvPr/>
        </p:nvSpPr>
        <p:spPr>
          <a:xfrm>
            <a:off x="731520" y="3291840"/>
            <a:ext cx="10972800" cy="640080"/>
          </a:xfrm>
          <a:prstGeom prst="rect">
            <a:avLst/>
          </a:prstGeom>
          <a:noFill/>
        </p:spPr>
        <p:txBody>
          <a:bodyPr wrap="square">
            <a:spAutoFit/>
          </a:bodyPr>
          <a:lstStyle/>
          <a:p>
            <a:pPr algn="l">
              <a:defRPr sz="900" b="0">
                <a:solidFill>
                  <a:srgbClr val="333333"/>
                </a:solidFill>
              </a:defRPr>
            </a:pPr>
            <a:r>
              <a:t>CTC's revenue has significant seasonal peaks: Christmas (Nov-Dec), Spring/Summer (outdoor, garden), Back-to-School (Aug-Sep), and Father's Day. Wishlists convert casual seasonal browsing into committed purchase pipelines weeks before the actual buying moment. A parent browsing toys in October creates a Christmas wishlist that gets shared to grandparents in November, who buy in December. This extends the effective selling window, smooths demand, and gives CTC visibility into upcoming seasonal demand — invaluable for inventory planning at the dealer level.</a:t>
            </a:r>
          </a:p>
        </p:txBody>
      </p:sp>
      <p:sp>
        <p:nvSpPr>
          <p:cNvPr id="12" name="TextBox 11"/>
          <p:cNvSpPr txBox="1"/>
          <p:nvPr/>
        </p:nvSpPr>
        <p:spPr>
          <a:xfrm>
            <a:off x="731520" y="3931920"/>
            <a:ext cx="10972800" cy="320040"/>
          </a:xfrm>
          <a:prstGeom prst="rect">
            <a:avLst/>
          </a:prstGeom>
          <a:noFill/>
        </p:spPr>
        <p:txBody>
          <a:bodyPr wrap="square">
            <a:spAutoFit/>
          </a:bodyPr>
          <a:lstStyle/>
          <a:p>
            <a:pPr algn="l">
              <a:defRPr sz="1300" b="1">
                <a:solidFill>
                  <a:srgbClr val="2E7D32"/>
                </a:solidFill>
              </a:defRPr>
            </a:pPr>
            <a:r>
              <a:t>Dealer-Owner Inventory Signals — Local Demand Intelligence</a:t>
            </a:r>
          </a:p>
        </p:txBody>
      </p:sp>
      <p:sp>
        <p:nvSpPr>
          <p:cNvPr id="13" name="TextBox 12"/>
          <p:cNvSpPr txBox="1"/>
          <p:nvPr/>
        </p:nvSpPr>
        <p:spPr>
          <a:xfrm>
            <a:off x="731520" y="4206240"/>
            <a:ext cx="10972800" cy="640080"/>
          </a:xfrm>
          <a:prstGeom prst="rect">
            <a:avLst/>
          </a:prstGeom>
          <a:noFill/>
        </p:spPr>
        <p:txBody>
          <a:bodyPr wrap="square">
            <a:spAutoFit/>
          </a:bodyPr>
          <a:lstStyle/>
          <a:p>
            <a:pPr algn="l">
              <a:defRPr sz="900" b="0">
                <a:solidFill>
                  <a:srgbClr val="333333"/>
                </a:solidFill>
              </a:defRPr>
            </a:pPr>
            <a:r>
              <a:t>CTC's unique dealer-owner model means each store makes its own stocking decisions. Aggregated wishlist data at the store/region level gives dealers a new signal: "These products are being wishlisted in your area but you don't stock them." This reduces both overstock (carrying products nobody wants) and stockouts (missing products people are actively saving). For PartSource especially, where parts are high-SKU and location-dependent, wishlist data could significantly improve inventory efficiency.</a:t>
            </a:r>
          </a:p>
        </p:txBody>
      </p:sp>
      <p:sp>
        <p:nvSpPr>
          <p:cNvPr id="14" name="TextBox 13"/>
          <p:cNvSpPr txBox="1"/>
          <p:nvPr/>
        </p:nvSpPr>
        <p:spPr>
          <a:xfrm>
            <a:off x="731520" y="4846320"/>
            <a:ext cx="10972800" cy="320040"/>
          </a:xfrm>
          <a:prstGeom prst="rect">
            <a:avLst/>
          </a:prstGeom>
          <a:noFill/>
        </p:spPr>
        <p:txBody>
          <a:bodyPr wrap="square">
            <a:spAutoFit/>
          </a:bodyPr>
          <a:lstStyle/>
          <a:p>
            <a:pPr algn="l">
              <a:defRPr sz="1300" b="1">
                <a:solidFill>
                  <a:srgbClr val="2E7D32"/>
                </a:solidFill>
              </a:defRPr>
            </a:pPr>
            <a:r>
              <a:t>Cross-Banner Discovery — Unified CTC Ecosystem</a:t>
            </a:r>
          </a:p>
        </p:txBody>
      </p:sp>
      <p:sp>
        <p:nvSpPr>
          <p:cNvPr id="15" name="TextBox 14"/>
          <p:cNvSpPr txBox="1"/>
          <p:nvPr/>
        </p:nvSpPr>
        <p:spPr>
          <a:xfrm>
            <a:off x="731520" y="5120640"/>
            <a:ext cx="10972800" cy="640080"/>
          </a:xfrm>
          <a:prstGeom prst="rect">
            <a:avLst/>
          </a:prstGeom>
          <a:noFill/>
        </p:spPr>
        <p:txBody>
          <a:bodyPr wrap="square">
            <a:spAutoFit/>
          </a:bodyPr>
          <a:lstStyle/>
          <a:p>
            <a:pPr algn="l">
              <a:defRPr sz="900" b="0">
                <a:solidFill>
                  <a:srgbClr val="333333"/>
                </a:solidFill>
              </a:defRPr>
            </a:pPr>
            <a:r>
              <a:t>A unified wishlist spanning Canadian Tire, SportChek, Mark's, Helly Hansen, Party City, and PartSource is something no competitor can replicate. A customer planning a camping trip could wishlist a Coleman tent (CT), hiking boots (SportChek), a Helly Hansen jacket, and Mark's base layers — all in one list. This drives cross-banner traffic that CTC currently has no mechanism to generate. Each banner benefits from discovery driven by the others, increasing total basket size across the CTC ecosystem.</a:t>
            </a:r>
          </a:p>
        </p:txBody>
      </p:sp>
      <p:sp>
        <p:nvSpPr>
          <p:cNvPr id="16" name="TextBox 15"/>
          <p:cNvSpPr txBox="1"/>
          <p:nvPr/>
        </p:nvSpPr>
        <p:spPr>
          <a:xfrm>
            <a:off x="731520" y="5760720"/>
            <a:ext cx="10972800" cy="320040"/>
          </a:xfrm>
          <a:prstGeom prst="rect">
            <a:avLst/>
          </a:prstGeom>
          <a:noFill/>
        </p:spPr>
        <p:txBody>
          <a:bodyPr wrap="square">
            <a:spAutoFit/>
          </a:bodyPr>
          <a:lstStyle/>
          <a:p>
            <a:pPr algn="l">
              <a:defRPr sz="1300" b="1">
                <a:solidFill>
                  <a:srgbClr val="2E7D32"/>
                </a:solidFill>
              </a:defRPr>
            </a:pPr>
            <a:r>
              <a:t>Competitive Moat — First-Mover in Canadian Retail</a:t>
            </a:r>
          </a:p>
        </p:txBody>
      </p:sp>
      <p:sp>
        <p:nvSpPr>
          <p:cNvPr id="17" name="TextBox 16"/>
          <p:cNvSpPr txBox="1"/>
          <p:nvPr/>
        </p:nvSpPr>
        <p:spPr>
          <a:xfrm>
            <a:off x="731520" y="6035040"/>
            <a:ext cx="10972800" cy="640080"/>
          </a:xfrm>
          <a:prstGeom prst="rect">
            <a:avLst/>
          </a:prstGeom>
          <a:noFill/>
        </p:spPr>
        <p:txBody>
          <a:bodyPr wrap="square">
            <a:spAutoFit/>
          </a:bodyPr>
          <a:lstStyle/>
          <a:p>
            <a:pPr algn="l">
              <a:defRPr sz="900" b="0">
                <a:solidFill>
                  <a:srgbClr val="333333"/>
                </a:solidFill>
              </a:defRPr>
            </a:pPr>
            <a:r>
              <a:t>No Canadian general-merchandise retailer currently offers barcode-scan-to-wishlist combined with gift sharing and cross-banner support. Amazon has wishlists but no barcode scanning (no physical stores in Canada). Walmart has basic save-for-later but no sharing or barcode scan. Costco has nothing. By launching first, CTC sets the standard for wishlist commerce in Canadian retail, builds a data moat that grows with each user, and creates a feature that's deeply integrated with its physical store advantage — something pure e-commerce competitors cannot replicate.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640080"/>
          </a:xfrm>
          <a:prstGeom prst="rect">
            <a:avLst/>
          </a:prstGeom>
          <a:noFill/>
        </p:spPr>
        <p:txBody>
          <a:bodyPr wrap="square">
            <a:spAutoFit/>
          </a:bodyPr>
          <a:lstStyle/>
          <a:p>
            <a:pPr algn="l">
              <a:defRPr sz="3200" b="1">
                <a:solidFill>
                  <a:srgbClr val="FFFFFF"/>
                </a:solidFill>
              </a:defRPr>
            </a:pPr>
            <a:r>
              <a:t>Appendix C: Success Metrics — Sources &amp; Methodology</a:t>
            </a:r>
          </a:p>
        </p:txBody>
      </p:sp>
      <p:sp>
        <p:nvSpPr>
          <p:cNvPr id="4" name="TextBox 3"/>
          <p:cNvSpPr txBox="1"/>
          <p:nvPr/>
        </p:nvSpPr>
        <p:spPr>
          <a:xfrm>
            <a:off x="548640" y="6400800"/>
            <a:ext cx="4572000" cy="365760"/>
          </a:xfrm>
          <a:prstGeom prst="rect">
            <a:avLst/>
          </a:prstGeom>
          <a:noFill/>
        </p:spPr>
        <p:txBody>
          <a:bodyPr wrap="square">
            <a:spAutoFit/>
          </a:bodyPr>
          <a:lstStyle/>
          <a:p>
            <a:pPr algn="l">
              <a:defRPr sz="1000" b="0">
                <a:solidFill>
                  <a:srgbClr val="666666"/>
                </a:solidFill>
              </a:defRPr>
            </a:pPr>
            <a:r>
              <a:t>EPAM Systems | Confidential</a:t>
            </a:r>
          </a:p>
        </p:txBody>
      </p:sp>
      <p:sp>
        <p:nvSpPr>
          <p:cNvPr id="5" name="TextBox 4"/>
          <p:cNvSpPr txBox="1"/>
          <p:nvPr/>
        </p:nvSpPr>
        <p:spPr>
          <a:xfrm>
            <a:off x="8229600" y="6400800"/>
            <a:ext cx="3657600" cy="365760"/>
          </a:xfrm>
          <a:prstGeom prst="rect">
            <a:avLst/>
          </a:prstGeom>
          <a:noFill/>
        </p:spPr>
        <p:txBody>
          <a:bodyPr wrap="square">
            <a:spAutoFit/>
          </a:bodyPr>
          <a:lstStyle/>
          <a:p>
            <a:pPr algn="r">
              <a:defRPr sz="1000" b="0">
                <a:solidFill>
                  <a:srgbClr val="666666"/>
                </a:solidFill>
              </a:defRPr>
            </a:pPr>
            <a:r>
              <a:t>CTC Mobile Wishlist — Business Case</a:t>
            </a:r>
          </a:p>
        </p:txBody>
      </p:sp>
      <p:sp>
        <p:nvSpPr>
          <p:cNvPr id="6" name="TextBox 5"/>
          <p:cNvSpPr txBox="1"/>
          <p:nvPr/>
        </p:nvSpPr>
        <p:spPr>
          <a:xfrm>
            <a:off x="457200" y="1188720"/>
            <a:ext cx="5486400" cy="274320"/>
          </a:xfrm>
          <a:prstGeom prst="rect">
            <a:avLst/>
          </a:prstGeom>
          <a:noFill/>
        </p:spPr>
        <p:txBody>
          <a:bodyPr wrap="square">
            <a:spAutoFit/>
          </a:bodyPr>
          <a:lstStyle/>
          <a:p>
            <a:pPr algn="l">
              <a:defRPr sz="1100" b="1">
                <a:solidFill>
                  <a:srgbClr val="D52B1E"/>
                </a:solidFill>
              </a:defRPr>
            </a:pPr>
            <a:r>
              <a:t>Wishlist Adoption &gt;= 20% of MAU</a:t>
            </a:r>
          </a:p>
        </p:txBody>
      </p:sp>
      <p:sp>
        <p:nvSpPr>
          <p:cNvPr id="7" name="TextBox 6"/>
          <p:cNvSpPr txBox="1"/>
          <p:nvPr/>
        </p:nvSpPr>
        <p:spPr>
          <a:xfrm>
            <a:off x="457200" y="1463040"/>
            <a:ext cx="5486400" cy="1005840"/>
          </a:xfrm>
          <a:prstGeom prst="rect">
            <a:avLst/>
          </a:prstGeom>
          <a:noFill/>
        </p:spPr>
        <p:txBody>
          <a:bodyPr wrap="square">
            <a:spAutoFit/>
          </a:bodyPr>
          <a:lstStyle/>
          <a:p>
            <a:pPr algn="l">
              <a:defRPr sz="800" b="0">
                <a:solidFill>
                  <a:srgbClr val="333333"/>
                </a:solidFill>
              </a:defRPr>
            </a:pPr>
            <a:r>
              <a:t>Based on Barilliance (2023) and Baymard Institute (2024) e-commerce feature adoption studies. Mature wishlist features in retail apps see 20-35% adoption among active users. We use the low end as a Year 1 target since the feature will be new. Amazon's wishlist adoption is estimated at ~30% of MAU; we discount for CTC's less digitally-native customer base.</a:t>
            </a:r>
          </a:p>
        </p:txBody>
      </p:sp>
      <p:sp>
        <p:nvSpPr>
          <p:cNvPr id="8" name="TextBox 7"/>
          <p:cNvSpPr txBox="1"/>
          <p:nvPr/>
        </p:nvSpPr>
        <p:spPr>
          <a:xfrm>
            <a:off x="457200" y="2514600"/>
            <a:ext cx="5486400" cy="274320"/>
          </a:xfrm>
          <a:prstGeom prst="rect">
            <a:avLst/>
          </a:prstGeom>
          <a:noFill/>
        </p:spPr>
        <p:txBody>
          <a:bodyPr wrap="square">
            <a:spAutoFit/>
          </a:bodyPr>
          <a:lstStyle/>
          <a:p>
            <a:pPr algn="l">
              <a:defRPr sz="1100" b="1">
                <a:solidFill>
                  <a:srgbClr val="D52B1E"/>
                </a:solidFill>
              </a:defRPr>
            </a:pPr>
            <a:r>
              <a:t>Avg Items per Wishlist &gt;= 5</a:t>
            </a:r>
          </a:p>
        </p:txBody>
      </p:sp>
      <p:sp>
        <p:nvSpPr>
          <p:cNvPr id="9" name="TextBox 8"/>
          <p:cNvSpPr txBox="1"/>
          <p:nvPr/>
        </p:nvSpPr>
        <p:spPr>
          <a:xfrm>
            <a:off x="457200" y="2788920"/>
            <a:ext cx="5486400" cy="1005840"/>
          </a:xfrm>
          <a:prstGeom prst="rect">
            <a:avLst/>
          </a:prstGeom>
          <a:noFill/>
        </p:spPr>
        <p:txBody>
          <a:bodyPr wrap="square">
            <a:spAutoFit/>
          </a:bodyPr>
          <a:lstStyle/>
          <a:p>
            <a:pPr algn="l">
              <a:defRPr sz="800" b="0">
                <a:solidFill>
                  <a:srgbClr val="333333"/>
                </a:solidFill>
              </a:defRPr>
            </a:pPr>
            <a:r>
              <a:t>Industry benchmark from Monetate (2023) and Shopify merchant data (2024). Retail wishlists with active usage average 4-8 items. Lower for general merchandise (3-5), higher for specialty/gift registries (8-15). Target of 5 reflects a healthy engagement level without requiring power-user behaviour.</a:t>
            </a:r>
          </a:p>
        </p:txBody>
      </p:sp>
      <p:sp>
        <p:nvSpPr>
          <p:cNvPr id="10" name="TextBox 9"/>
          <p:cNvSpPr txBox="1"/>
          <p:nvPr/>
        </p:nvSpPr>
        <p:spPr>
          <a:xfrm>
            <a:off x="457200" y="3840480"/>
            <a:ext cx="5486400" cy="274320"/>
          </a:xfrm>
          <a:prstGeom prst="rect">
            <a:avLst/>
          </a:prstGeom>
          <a:noFill/>
        </p:spPr>
        <p:txBody>
          <a:bodyPr wrap="square">
            <a:spAutoFit/>
          </a:bodyPr>
          <a:lstStyle/>
          <a:p>
            <a:pPr algn="l">
              <a:defRPr sz="1100" b="1">
                <a:solidFill>
                  <a:srgbClr val="D52B1E"/>
                </a:solidFill>
              </a:defRPr>
            </a:pPr>
            <a:r>
              <a:t>Wishlist-to-Purchase Conversion &gt;= 15%</a:t>
            </a:r>
          </a:p>
        </p:txBody>
      </p:sp>
      <p:sp>
        <p:nvSpPr>
          <p:cNvPr id="11" name="TextBox 10"/>
          <p:cNvSpPr txBox="1"/>
          <p:nvPr/>
        </p:nvSpPr>
        <p:spPr>
          <a:xfrm>
            <a:off x="457200" y="4114800"/>
            <a:ext cx="5486400" cy="1005840"/>
          </a:xfrm>
          <a:prstGeom prst="rect">
            <a:avLst/>
          </a:prstGeom>
          <a:noFill/>
        </p:spPr>
        <p:txBody>
          <a:bodyPr wrap="square">
            <a:spAutoFit/>
          </a:bodyPr>
          <a:lstStyle/>
          <a:p>
            <a:pPr algn="l">
              <a:defRPr sz="800" b="0">
                <a:solidFill>
                  <a:srgbClr val="333333"/>
                </a:solidFill>
              </a:defRPr>
            </a:pPr>
            <a:r>
              <a:t>Barilliance (2023): wishlist-to-cart conversion rates range from 12-25% across retail e-commerce. Monetate Digital Intelligence Report (2024): wishlisted items convert at 2-3x the rate of browsed-only items. 15% is the midpoint for general merchandise retail.</a:t>
            </a:r>
          </a:p>
        </p:txBody>
      </p:sp>
      <p:sp>
        <p:nvSpPr>
          <p:cNvPr id="12" name="TextBox 11"/>
          <p:cNvSpPr txBox="1"/>
          <p:nvPr/>
        </p:nvSpPr>
        <p:spPr>
          <a:xfrm>
            <a:off x="457200" y="5166359"/>
            <a:ext cx="5486400" cy="274320"/>
          </a:xfrm>
          <a:prstGeom prst="rect">
            <a:avLst/>
          </a:prstGeom>
          <a:noFill/>
        </p:spPr>
        <p:txBody>
          <a:bodyPr wrap="square">
            <a:spAutoFit/>
          </a:bodyPr>
          <a:lstStyle/>
          <a:p>
            <a:pPr algn="l">
              <a:defRPr sz="1100" b="1">
                <a:solidFill>
                  <a:srgbClr val="D52B1E"/>
                </a:solidFill>
              </a:defRPr>
            </a:pPr>
            <a:r>
              <a:t>Gift Sharing Rate &gt;= 25% of wishlist users</a:t>
            </a:r>
          </a:p>
        </p:txBody>
      </p:sp>
      <p:sp>
        <p:nvSpPr>
          <p:cNvPr id="13" name="TextBox 12"/>
          <p:cNvSpPr txBox="1"/>
          <p:nvPr/>
        </p:nvSpPr>
        <p:spPr>
          <a:xfrm>
            <a:off x="457200" y="5440679"/>
            <a:ext cx="5486400" cy="1005840"/>
          </a:xfrm>
          <a:prstGeom prst="rect">
            <a:avLst/>
          </a:prstGeom>
          <a:noFill/>
        </p:spPr>
        <p:txBody>
          <a:bodyPr wrap="square">
            <a:spAutoFit/>
          </a:bodyPr>
          <a:lstStyle/>
          <a:p>
            <a:pPr algn="l">
              <a:defRPr sz="800" b="0">
                <a:solidFill>
                  <a:srgbClr val="333333"/>
                </a:solidFill>
              </a:defRPr>
            </a:pPr>
            <a:r>
              <a:t>The Knot / WeddingWire registry data (2023): 40-60% of registry creators share with 5+ people. Amazon Wish List sharing: ~20-30% of list creators share at least once. We target 25% as a conservative estimate, reflecting that CTC's feature is new and sharing requires active intent.</a:t>
            </a:r>
          </a:p>
        </p:txBody>
      </p:sp>
      <p:sp>
        <p:nvSpPr>
          <p:cNvPr id="14" name="TextBox 13"/>
          <p:cNvSpPr txBox="1"/>
          <p:nvPr/>
        </p:nvSpPr>
        <p:spPr>
          <a:xfrm>
            <a:off x="6217920" y="1188720"/>
            <a:ext cx="5486400" cy="274320"/>
          </a:xfrm>
          <a:prstGeom prst="rect">
            <a:avLst/>
          </a:prstGeom>
          <a:noFill/>
        </p:spPr>
        <p:txBody>
          <a:bodyPr wrap="square">
            <a:spAutoFit/>
          </a:bodyPr>
          <a:lstStyle/>
          <a:p>
            <a:pPr algn="l">
              <a:defRPr sz="1100" b="1">
                <a:solidFill>
                  <a:srgbClr val="D52B1E"/>
                </a:solidFill>
              </a:defRPr>
            </a:pPr>
            <a:r>
              <a:t>Gift Fulfilment &gt;= 50% of shared items</a:t>
            </a:r>
          </a:p>
        </p:txBody>
      </p:sp>
      <p:sp>
        <p:nvSpPr>
          <p:cNvPr id="15" name="TextBox 14"/>
          <p:cNvSpPr txBox="1"/>
          <p:nvPr/>
        </p:nvSpPr>
        <p:spPr>
          <a:xfrm>
            <a:off x="6217920" y="1463040"/>
            <a:ext cx="5486400" cy="1005840"/>
          </a:xfrm>
          <a:prstGeom prst="rect">
            <a:avLst/>
          </a:prstGeom>
          <a:noFill/>
        </p:spPr>
        <p:txBody>
          <a:bodyPr wrap="square">
            <a:spAutoFit/>
          </a:bodyPr>
          <a:lstStyle/>
          <a:p>
            <a:pPr algn="l">
              <a:defRPr sz="800" b="0">
                <a:solidFill>
                  <a:srgbClr val="333333"/>
                </a:solidFill>
              </a:defRPr>
            </a:pPr>
            <a:r>
              <a:t>National Retail Federation (2023): gift registries see 55-75% fulfilment rates for shared lists. Wedding registries: 65-85%. Birthday/holiday wishlists: 40-60%. Target of 50% reflects the mixed occasion types CTC would see (not just weddings, which skew higher).</a:t>
            </a:r>
          </a:p>
        </p:txBody>
      </p:sp>
      <p:sp>
        <p:nvSpPr>
          <p:cNvPr id="16" name="TextBox 15"/>
          <p:cNvSpPr txBox="1"/>
          <p:nvPr/>
        </p:nvSpPr>
        <p:spPr>
          <a:xfrm>
            <a:off x="6217920" y="2514600"/>
            <a:ext cx="5486400" cy="274320"/>
          </a:xfrm>
          <a:prstGeom prst="rect">
            <a:avLst/>
          </a:prstGeom>
          <a:noFill/>
        </p:spPr>
        <p:txBody>
          <a:bodyPr wrap="square">
            <a:spAutoFit/>
          </a:bodyPr>
          <a:lstStyle/>
          <a:p>
            <a:pPr algn="l">
              <a:defRPr sz="1100" b="1">
                <a:solidFill>
                  <a:srgbClr val="D52B1E"/>
                </a:solidFill>
              </a:defRPr>
            </a:pPr>
            <a:r>
              <a:t>Re-engagement CTR &gt;= 12%</a:t>
            </a:r>
          </a:p>
        </p:txBody>
      </p:sp>
      <p:sp>
        <p:nvSpPr>
          <p:cNvPr id="17" name="TextBox 16"/>
          <p:cNvSpPr txBox="1"/>
          <p:nvPr/>
        </p:nvSpPr>
        <p:spPr>
          <a:xfrm>
            <a:off x="6217920" y="2788920"/>
            <a:ext cx="5486400" cy="1005840"/>
          </a:xfrm>
          <a:prstGeom prst="rect">
            <a:avLst/>
          </a:prstGeom>
          <a:noFill/>
        </p:spPr>
        <p:txBody>
          <a:bodyPr wrap="square">
            <a:spAutoFit/>
          </a:bodyPr>
          <a:lstStyle/>
          <a:p>
            <a:pPr algn="l">
              <a:defRPr sz="800" b="0">
                <a:solidFill>
                  <a:srgbClr val="333333"/>
                </a:solidFill>
              </a:defRPr>
            </a:pPr>
            <a:r>
              <a:t>Braze (2024) and Iterable (2023) push notification benchmarks: generic retail push CTR is 2-4%. Personalized price-drop alerts achieve 10-18% CTR (Omnisend 2024). Sailthru (2023): triggered emails for wishlisted items see 5-8x baseline CTR. Target of 12% is mid-range for personalized alerts.</a:t>
            </a:r>
          </a:p>
        </p:txBody>
      </p:sp>
      <p:sp>
        <p:nvSpPr>
          <p:cNvPr id="18" name="TextBox 17"/>
          <p:cNvSpPr txBox="1"/>
          <p:nvPr/>
        </p:nvSpPr>
        <p:spPr>
          <a:xfrm>
            <a:off x="6217920" y="3840480"/>
            <a:ext cx="5486400" cy="274320"/>
          </a:xfrm>
          <a:prstGeom prst="rect">
            <a:avLst/>
          </a:prstGeom>
          <a:noFill/>
        </p:spPr>
        <p:txBody>
          <a:bodyPr wrap="square">
            <a:spAutoFit/>
          </a:bodyPr>
          <a:lstStyle/>
          <a:p>
            <a:pPr algn="l">
              <a:defRPr sz="1100" b="1">
                <a:solidFill>
                  <a:srgbClr val="D52B1E"/>
                </a:solidFill>
              </a:defRPr>
            </a:pPr>
            <a:r>
              <a:t>AOV Lift &gt;= +$10 vs. non-wishlist users</a:t>
            </a:r>
          </a:p>
        </p:txBody>
      </p:sp>
      <p:sp>
        <p:nvSpPr>
          <p:cNvPr id="19" name="TextBox 18"/>
          <p:cNvSpPr txBox="1"/>
          <p:nvPr/>
        </p:nvSpPr>
        <p:spPr>
          <a:xfrm>
            <a:off x="6217920" y="4114800"/>
            <a:ext cx="5486400" cy="1005840"/>
          </a:xfrm>
          <a:prstGeom prst="rect">
            <a:avLst/>
          </a:prstGeom>
          <a:noFill/>
        </p:spPr>
        <p:txBody>
          <a:bodyPr wrap="square">
            <a:spAutoFit/>
          </a:bodyPr>
          <a:lstStyle/>
          <a:p>
            <a:pPr algn="l">
              <a:defRPr sz="800" b="0">
                <a:solidFill>
                  <a:srgbClr val="333333"/>
                </a:solidFill>
              </a:defRPr>
            </a:pPr>
            <a:r>
              <a:t>Barilliance (2023): wishlist users show 15-25% higher AOV vs. non-users. At CTC's estimated $55 average transaction value (blended across banners), a 15% lift = $8.25 and 25% = $13.75. Target of +$10 is the midpoint. Driven by higher purchase intent and larger basket building.</a:t>
            </a:r>
          </a:p>
        </p:txBody>
      </p:sp>
      <p:sp>
        <p:nvSpPr>
          <p:cNvPr id="20" name="TextBox 19"/>
          <p:cNvSpPr txBox="1"/>
          <p:nvPr/>
        </p:nvSpPr>
        <p:spPr>
          <a:xfrm>
            <a:off x="6217920" y="5166359"/>
            <a:ext cx="5486400" cy="274320"/>
          </a:xfrm>
          <a:prstGeom prst="rect">
            <a:avLst/>
          </a:prstGeom>
          <a:noFill/>
        </p:spPr>
        <p:txBody>
          <a:bodyPr wrap="square">
            <a:spAutoFit/>
          </a:bodyPr>
          <a:lstStyle/>
          <a:p>
            <a:pPr algn="l">
              <a:defRPr sz="1100" b="1">
                <a:solidFill>
                  <a:srgbClr val="D52B1E"/>
                </a:solidFill>
              </a:defRPr>
            </a:pPr>
            <a:r>
              <a:t>NPS Impact &gt;= +5 points</a:t>
            </a:r>
          </a:p>
        </p:txBody>
      </p:sp>
      <p:sp>
        <p:nvSpPr>
          <p:cNvPr id="21" name="TextBox 20"/>
          <p:cNvSpPr txBox="1"/>
          <p:nvPr/>
        </p:nvSpPr>
        <p:spPr>
          <a:xfrm>
            <a:off x="6217920" y="5440679"/>
            <a:ext cx="5486400" cy="1005840"/>
          </a:xfrm>
          <a:prstGeom prst="rect">
            <a:avLst/>
          </a:prstGeom>
          <a:noFill/>
        </p:spPr>
        <p:txBody>
          <a:bodyPr wrap="square">
            <a:spAutoFit/>
          </a:bodyPr>
          <a:lstStyle/>
          <a:p>
            <a:pPr algn="l">
              <a:defRPr sz="800" b="0">
                <a:solidFill>
                  <a:srgbClr val="333333"/>
                </a:solidFill>
              </a:defRPr>
            </a:pPr>
            <a:r>
              <a:t>Qualtrics (2024) and Bain &amp; Company: features that reduce friction and enable personalization typically improve NPS by 3-8 points. Target of +5 reflects the convenience value of wishlists (save for later, gift coordination) which directly addresses common shopper pain points.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200400"/>
          </a:xfrm>
          <a:prstGeom prst="rect">
            <a:avLst/>
          </a:prstGeom>
          <a:solidFill>
            <a:srgbClr val="D5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914400"/>
            <a:ext cx="10058400" cy="1097280"/>
          </a:xfrm>
          <a:prstGeom prst="rect">
            <a:avLst/>
          </a:prstGeom>
          <a:noFill/>
        </p:spPr>
        <p:txBody>
          <a:bodyPr wrap="square">
            <a:spAutoFit/>
          </a:bodyPr>
          <a:lstStyle/>
          <a:p>
            <a:pPr algn="ctr">
              <a:defRPr sz="5200" b="1">
                <a:solidFill>
                  <a:srgbClr val="FFFFFF"/>
                </a:solidFill>
              </a:defRPr>
            </a:pPr>
            <a:r>
              <a:t>Thank You</a:t>
            </a:r>
          </a:p>
        </p:txBody>
      </p:sp>
      <p:sp>
        <p:nvSpPr>
          <p:cNvPr id="4" name="TextBox 3"/>
          <p:cNvSpPr txBox="1"/>
          <p:nvPr/>
        </p:nvSpPr>
        <p:spPr>
          <a:xfrm>
            <a:off x="731520" y="2103120"/>
            <a:ext cx="10058400" cy="548640"/>
          </a:xfrm>
          <a:prstGeom prst="rect">
            <a:avLst/>
          </a:prstGeom>
          <a:noFill/>
        </p:spPr>
        <p:txBody>
          <a:bodyPr wrap="square">
            <a:spAutoFit/>
          </a:bodyPr>
          <a:lstStyle/>
          <a:p>
            <a:pPr algn="ctr">
              <a:defRPr sz="2000" b="0">
                <a:solidFill>
                  <a:srgbClr val="FFCCCC"/>
                </a:solidFill>
              </a:defRPr>
            </a:pPr>
            <a:r>
              <a:t>Scan. Save. Share. — Let's build the future of Canadian Tire shopping together.</a:t>
            </a:r>
          </a:p>
        </p:txBody>
      </p:sp>
      <p:sp>
        <p:nvSpPr>
          <p:cNvPr id="5" name="TextBox 4"/>
          <p:cNvSpPr txBox="1"/>
          <p:nvPr/>
        </p:nvSpPr>
        <p:spPr>
          <a:xfrm>
            <a:off x="731520" y="4114800"/>
            <a:ext cx="10058400" cy="457200"/>
          </a:xfrm>
          <a:prstGeom prst="rect">
            <a:avLst/>
          </a:prstGeom>
          <a:noFill/>
        </p:spPr>
        <p:txBody>
          <a:bodyPr wrap="square">
            <a:spAutoFit/>
          </a:bodyPr>
          <a:lstStyle/>
          <a:p>
            <a:pPr algn="ctr">
              <a:defRPr sz="1800" b="1">
                <a:solidFill>
                  <a:srgbClr val="333333"/>
                </a:solidFill>
              </a:defRPr>
            </a:pPr>
            <a:r>
              <a:t>EPAM Systems  |  Hackathon POC Team</a:t>
            </a:r>
          </a:p>
        </p:txBody>
      </p:sp>
      <p:sp>
        <p:nvSpPr>
          <p:cNvPr id="6" name="TextBox 5"/>
          <p:cNvSpPr txBox="1"/>
          <p:nvPr/>
        </p:nvSpPr>
        <p:spPr>
          <a:xfrm>
            <a:off x="731520" y="4754880"/>
            <a:ext cx="10058400" cy="457200"/>
          </a:xfrm>
          <a:prstGeom prst="rect">
            <a:avLst/>
          </a:prstGeom>
          <a:noFill/>
        </p:spPr>
        <p:txBody>
          <a:bodyPr wrap="square">
            <a:spAutoFit/>
          </a:bodyPr>
          <a:lstStyle/>
          <a:p>
            <a:pPr algn="ctr">
              <a:defRPr sz="1600" b="0">
                <a:solidFill>
                  <a:srgbClr val="D52B1E"/>
                </a:solidFill>
              </a:defRPr>
            </a:pPr>
            <a:r>
              <a:t>Powered by EPAM EliteA — Agentic AI Software Development</a:t>
            </a:r>
          </a:p>
        </p:txBody>
      </p:sp>
      <p:sp>
        <p:nvSpPr>
          <p:cNvPr id="7" name="TextBox 6"/>
          <p:cNvSpPr txBox="1"/>
          <p:nvPr/>
        </p:nvSpPr>
        <p:spPr>
          <a:xfrm>
            <a:off x="731520" y="5486400"/>
            <a:ext cx="10058400" cy="457200"/>
          </a:xfrm>
          <a:prstGeom prst="rect">
            <a:avLst/>
          </a:prstGeom>
          <a:noFill/>
        </p:spPr>
        <p:txBody>
          <a:bodyPr wrap="square">
            <a:spAutoFit/>
          </a:bodyPr>
          <a:lstStyle/>
          <a:p>
            <a:pPr algn="ctr">
              <a:defRPr sz="2400" b="1">
                <a:solidFill>
                  <a:srgbClr val="666666"/>
                </a:solidFill>
              </a:defRPr>
            </a:pPr>
            <a: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